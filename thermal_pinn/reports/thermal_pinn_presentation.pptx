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thermal_pinn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00BCD4"/>
                </a:solidFill>
              </a:rPr>
              <a:t>NAS-PINN with k-Skip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5F5F5"/>
                </a:solidFill>
              </a:rPr>
              <a:t>Thermal Quenching PDE Solver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</a:rPr>
              <a:t>Generated: March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237E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Objective: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Combine NAS (Neural Architecture Search) with Physics-Informed Neural Networks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Optimize k-skip factor for temporal acceleration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Solve 2D and 3D thermal quenching PDEs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</a:rPr>
              <a:t>Key Features: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3444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3 optimizers: Bayesian, NSGA-II, NSGA-III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2D domains: Rectangle, Circle, L-shape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3D domains: Box, Cylinder, Stacked, L-shape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237E"/>
                </a:solidFill>
              </a:rPr>
              <a:t>Methodology: k-Skip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47A1"/>
                </a:solidFill>
              </a:rPr>
              <a:t>k-Skip Concept: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Skip Δt = k × 1.5s between FEM steps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200"/>
            </a:pPr>
            <a:r>
              <a:t>k=1: every step (baseline)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k=5: every 7.5s (acceleration)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200"/>
            </a:pPr>
            <a:r>
              <a:t>Trade accuracy vs.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</a:rPr>
              <a:t>Optimizers: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3444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Bayesian: Probabilistic 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NSGA-II: Multi-objective GA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NSGA-III: k-objective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</a:rPr>
              <a:t>2D Results: k-Skip Analysis</a:t>
            </a:r>
          </a:p>
        </p:txBody>
      </p:sp>
      <p:pic>
        <p:nvPicPr>
          <p:cNvPr id="4" name="Picture 3" descr="fig_kskip_800ep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22878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37E"/>
                </a:solidFill>
              </a:rPr>
              <a:t>2D Best-k Results: Reference vs PINN vs Error</a:t>
            </a:r>
          </a:p>
        </p:txBody>
      </p:sp>
      <p:pic>
        <p:nvPicPr>
          <p:cNvPr id="4" name="Picture 3" descr="bayesian_rectangle_2d_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85800"/>
            <a:ext cx="8778240" cy="52249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</a:rPr>
              <a:t>3D Results: k-Skip Analysis</a:t>
            </a:r>
          </a:p>
        </p:txBody>
      </p:sp>
      <p:pic>
        <p:nvPicPr>
          <p:cNvPr id="4" name="Picture 3" descr="fig_kskip_800ep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68556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37E"/>
                </a:solidFill>
              </a:rPr>
              <a:t>3D Best-k Results: FEM Reference vs PINN</a:t>
            </a:r>
          </a:p>
        </p:txBody>
      </p:sp>
      <p:pic>
        <p:nvPicPr>
          <p:cNvPr id="4" name="Picture 3" descr="bayesian_rectangular_3d_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85800"/>
            <a:ext cx="8778240" cy="51757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37E"/>
                </a:solidFill>
              </a:rPr>
              <a:t>2D Performance: k=1 (Baseline) vs Best-k</a:t>
            </a:r>
          </a:p>
        </p:txBody>
      </p:sp>
      <p:pic>
        <p:nvPicPr>
          <p:cNvPr id="4" name="Picture 3" descr="fig_jump_rectangle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8595360" cy="42294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37E"/>
                </a:solidFill>
              </a:rPr>
              <a:t>3D Performance: k=1 (Baseline) vs Best-k</a:t>
            </a:r>
          </a:p>
        </p:txBody>
      </p:sp>
      <p:pic>
        <p:nvPicPr>
          <p:cNvPr id="4" name="Picture 3" descr="fig_jump_rectangular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8595360" cy="42294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</a:rPr>
              <a:t>Performance Summary: 2D &amp;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47A1"/>
                </a:solidFill>
              </a:rPr>
              <a:t>2D Domains:</a:t>
            </a:r>
          </a:p>
        </p:txBody>
      </p:sp>
      <p:pic>
        <p:nvPicPr>
          <p:cNvPr id="5" name="Picture 4" descr="fig_table_800ep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4297680" cy="16551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777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</a:rPr>
              <a:t>3D Domains:</a:t>
            </a:r>
          </a:p>
        </p:txBody>
      </p:sp>
      <p:pic>
        <p:nvPicPr>
          <p:cNvPr id="7" name="Picture 6" descr="fig_table_800ep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297680" cy="20632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NAS successfully identifies optimal neural architectures for thermal PINNs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k-skip optimization reduces computational cost while maintaining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Bayesian optimizer shows consistent performance across 2D and 3D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Best-k varies by domain (k=1–5), enabling adaptive speedup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Framework generalizes to multiple solver benchmarks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