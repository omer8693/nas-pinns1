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20640"/>
            <a:ext cx="12188952" cy="73152"/>
          </a:xfrm>
          <a:prstGeom prst="rect">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64240" cy="1005840"/>
          </a:xfrm>
          <a:prstGeom prst="rect">
            <a:avLst/>
          </a:prstGeom>
          <a:noFill/>
        </p:spPr>
        <p:txBody>
          <a:bodyPr wrap="square">
            <a:spAutoFit/>
          </a:bodyPr>
          <a:lstStyle/>
          <a:p>
            <a:pPr algn="ctr"/>
            <a:r>
              <a:rPr sz="4400" b="1">
                <a:solidFill>
                  <a:srgbClr val="FFFFFF"/>
                </a:solidFill>
              </a:rPr>
              <a:t>NAS-PINN k-Skip Framework</a:t>
            </a:r>
          </a:p>
        </p:txBody>
      </p:sp>
      <p:sp>
        <p:nvSpPr>
          <p:cNvPr id="5" name="TextBox 4"/>
          <p:cNvSpPr txBox="1"/>
          <p:nvPr/>
        </p:nvSpPr>
        <p:spPr>
          <a:xfrm>
            <a:off x="548640" y="2103120"/>
            <a:ext cx="11064240" cy="731520"/>
          </a:xfrm>
          <a:prstGeom prst="rect">
            <a:avLst/>
          </a:prstGeom>
          <a:noFill/>
        </p:spPr>
        <p:txBody>
          <a:bodyPr wrap="square">
            <a:spAutoFit/>
          </a:bodyPr>
          <a:lstStyle/>
          <a:p>
            <a:pPr algn="ctr"/>
            <a:r>
              <a:rPr sz="3200" b="0">
                <a:solidFill>
                  <a:srgbClr val="00BCD4"/>
                </a:solidFill>
              </a:rPr>
              <a:t>for Thermal Quenching Simulation</a:t>
            </a:r>
          </a:p>
        </p:txBody>
      </p:sp>
      <p:sp>
        <p:nvSpPr>
          <p:cNvPr id="6" name="TextBox 5"/>
          <p:cNvSpPr txBox="1"/>
          <p:nvPr/>
        </p:nvSpPr>
        <p:spPr>
          <a:xfrm>
            <a:off x="548640" y="3017520"/>
            <a:ext cx="11064240" cy="411480"/>
          </a:xfrm>
          <a:prstGeom prst="rect">
            <a:avLst/>
          </a:prstGeom>
          <a:noFill/>
        </p:spPr>
        <p:txBody>
          <a:bodyPr wrap="square">
            <a:spAutoFit/>
          </a:bodyPr>
          <a:lstStyle/>
          <a:p>
            <a:pPr algn="ctr"/>
            <a:r>
              <a:rPr sz="1600" b="0">
                <a:solidFill>
                  <a:srgbClr val="CCD1D9"/>
                </a:solidFill>
              </a:rPr>
              <a:t>Solving the transient heat equation for aluminium quenching using</a:t>
            </a:r>
          </a:p>
        </p:txBody>
      </p:sp>
      <p:sp>
        <p:nvSpPr>
          <p:cNvPr id="7" name="TextBox 6"/>
          <p:cNvSpPr txBox="1"/>
          <p:nvPr/>
        </p:nvSpPr>
        <p:spPr>
          <a:xfrm>
            <a:off x="548640" y="3429000"/>
            <a:ext cx="11064240" cy="411480"/>
          </a:xfrm>
          <a:prstGeom prst="rect">
            <a:avLst/>
          </a:prstGeom>
          <a:noFill/>
        </p:spPr>
        <p:txBody>
          <a:bodyPr wrap="square">
            <a:spAutoFit/>
          </a:bodyPr>
          <a:lstStyle/>
          <a:p>
            <a:pPr algn="ctr"/>
            <a:r>
              <a:rPr sz="1600" b="0">
                <a:solidFill>
                  <a:srgbClr val="CCD1D9"/>
                </a:solidFill>
              </a:rPr>
              <a:t>Physics-Informed Neural Networks with Neural Architecture Search</a:t>
            </a:r>
          </a:p>
        </p:txBody>
      </p:sp>
      <p:sp>
        <p:nvSpPr>
          <p:cNvPr id="8" name="TextBox 7"/>
          <p:cNvSpPr txBox="1"/>
          <p:nvPr/>
        </p:nvSpPr>
        <p:spPr>
          <a:xfrm>
            <a:off x="548640" y="4160520"/>
            <a:ext cx="11064240" cy="347472"/>
          </a:xfrm>
          <a:prstGeom prst="rect">
            <a:avLst/>
          </a:prstGeom>
          <a:noFill/>
        </p:spPr>
        <p:txBody>
          <a:bodyPr wrap="square">
            <a:spAutoFit/>
          </a:bodyPr>
          <a:lstStyle/>
          <a:p>
            <a:pPr algn="ctr"/>
            <a:r>
              <a:rPr sz="1200" b="0" i="1">
                <a:solidFill>
                  <a:srgbClr val="CCD1D9"/>
                </a:solidFill>
              </a:rPr>
              <a:t>Mortensen D. et al. (2026) Int. J. Adv. Manuf. Technol. doi:10.1007/s00170-026-17515-w  |  Wang &amp; Zhong (2023) arXiv:2305.10127</a:t>
            </a:r>
          </a:p>
        </p:txBody>
      </p:sp>
      <p:sp>
        <p:nvSpPr>
          <p:cNvPr id="9" name="TextBox 8"/>
          <p:cNvSpPr txBox="1"/>
          <p:nvPr/>
        </p:nvSpPr>
        <p:spPr>
          <a:xfrm>
            <a:off x="548640" y="5257800"/>
            <a:ext cx="11064240" cy="347472"/>
          </a:xfrm>
          <a:prstGeom prst="rect">
            <a:avLst/>
          </a:prstGeom>
          <a:noFill/>
        </p:spPr>
        <p:txBody>
          <a:bodyPr wrap="square">
            <a:spAutoFit/>
          </a:bodyPr>
          <a:lstStyle/>
          <a:p>
            <a:pPr algn="ctr"/>
            <a:r>
              <a:rPr sz="1200" b="0">
                <a:solidFill>
                  <a:srgbClr val="CCD1D9"/>
                </a:solidFill>
              </a:rP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Motivation &amp; Problem Statement</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Why reduce FEM calls for quenching?</a:t>
            </a:r>
          </a:p>
        </p:txBody>
      </p:sp>
      <p:sp>
        <p:nvSpPr>
          <p:cNvPr id="6" name="Rectangle 5"/>
          <p:cNvSpPr/>
          <p:nvPr/>
        </p:nvSpPr>
        <p:spPr>
          <a:xfrm>
            <a:off x="274320" y="1051560"/>
            <a:ext cx="5394960" cy="53035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97280"/>
            <a:ext cx="5120640" cy="365760"/>
          </a:xfrm>
          <a:prstGeom prst="rect">
            <a:avLst/>
          </a:prstGeom>
          <a:noFill/>
        </p:spPr>
        <p:txBody>
          <a:bodyPr wrap="square">
            <a:spAutoFit/>
          </a:bodyPr>
          <a:lstStyle/>
          <a:p>
            <a:pPr algn="l"/>
            <a:r>
              <a:rPr sz="1500" b="1">
                <a:solidFill>
                  <a:srgbClr val="C62828"/>
                </a:solidFill>
              </a:rPr>
              <a:t>FEM Limitations</a:t>
            </a:r>
          </a:p>
        </p:txBody>
      </p:sp>
      <p:sp>
        <p:nvSpPr>
          <p:cNvPr id="8" name="TextBox 7"/>
          <p:cNvSpPr txBox="1"/>
          <p:nvPr/>
        </p:nvSpPr>
        <p:spPr>
          <a:xfrm>
            <a:off x="411480" y="1508760"/>
            <a:ext cx="5120640" cy="4389120"/>
          </a:xfrm>
          <a:prstGeom prst="rect">
            <a:avLst/>
          </a:prstGeom>
          <a:noFill/>
        </p:spPr>
        <p:txBody>
          <a:bodyPr wrap="square">
            <a:spAutoFit/>
          </a:bodyPr>
          <a:lstStyle/>
          <a:p>
            <a:pPr>
              <a:spcBef>
                <a:spcPts val="400"/>
              </a:spcBef>
              <a:defRPr sz="1300">
                <a:solidFill>
                  <a:srgbClr val="444444"/>
                </a:solidFill>
              </a:defRPr>
            </a:pPr>
            <a:r>
              <a:t>  •  High computational cost for 3D transient simulations</a:t>
            </a:r>
          </a:p>
          <a:p>
            <a:pPr>
              <a:spcBef>
                <a:spcPts val="400"/>
              </a:spcBef>
              <a:defRPr sz="1300">
                <a:solidFill>
                  <a:srgbClr val="444444"/>
                </a:solidFill>
              </a:defRPr>
            </a:pPr>
            <a:r>
              <a:t>  •  Each FEM step requires mesh assembly and linear solve</a:t>
            </a:r>
          </a:p>
          <a:p>
            <a:pPr>
              <a:spcBef>
                <a:spcPts val="400"/>
              </a:spcBef>
              <a:defRPr sz="1300">
                <a:solidFill>
                  <a:srgbClr val="444444"/>
                </a:solidFill>
              </a:defRPr>
            </a:pPr>
            <a:r>
              <a:t>  •  20 time-steps at Δt=1.5 s → sequential bottleneck</a:t>
            </a:r>
          </a:p>
          <a:p>
            <a:pPr>
              <a:spcBef>
                <a:spcPts val="400"/>
              </a:spcBef>
              <a:defRPr sz="1300">
                <a:solidFill>
                  <a:srgbClr val="444444"/>
                </a:solidFill>
              </a:defRPr>
            </a:pPr>
            <a:r>
              <a:t>  •  Repeated evaluations needed for design optimisation</a:t>
            </a:r>
          </a:p>
          <a:p>
            <a:pPr>
              <a:spcBef>
                <a:spcPts val="400"/>
              </a:spcBef>
              <a:defRPr sz="1300">
                <a:solidFill>
                  <a:srgbClr val="444444"/>
                </a:solidFill>
              </a:defRPr>
            </a:pPr>
            <a:r>
              <a:t>  •  Scaling to large automotive subframes is prohibitive</a:t>
            </a:r>
          </a:p>
        </p:txBody>
      </p:sp>
      <p:sp>
        <p:nvSpPr>
          <p:cNvPr id="9" name="Rectangle 8"/>
          <p:cNvSpPr/>
          <p:nvPr/>
        </p:nvSpPr>
        <p:spPr>
          <a:xfrm>
            <a:off x="5943600" y="1051560"/>
            <a:ext cx="5943600" cy="53035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1097280"/>
            <a:ext cx="5669280" cy="365760"/>
          </a:xfrm>
          <a:prstGeom prst="rect">
            <a:avLst/>
          </a:prstGeom>
          <a:noFill/>
        </p:spPr>
        <p:txBody>
          <a:bodyPr wrap="square">
            <a:spAutoFit/>
          </a:bodyPr>
          <a:lstStyle/>
          <a:p>
            <a:pPr algn="l"/>
            <a:r>
              <a:rPr sz="1500" b="1">
                <a:solidFill>
                  <a:srgbClr val="2E7D32"/>
                </a:solidFill>
              </a:rPr>
              <a:t>PINN + NAS Advantages</a:t>
            </a:r>
          </a:p>
        </p:txBody>
      </p:sp>
      <p:sp>
        <p:nvSpPr>
          <p:cNvPr id="11" name="TextBox 10"/>
          <p:cNvSpPr txBox="1"/>
          <p:nvPr/>
        </p:nvSpPr>
        <p:spPr>
          <a:xfrm>
            <a:off x="6080760" y="1508760"/>
            <a:ext cx="5669280" cy="4389120"/>
          </a:xfrm>
          <a:prstGeom prst="rect">
            <a:avLst/>
          </a:prstGeom>
          <a:noFill/>
        </p:spPr>
        <p:txBody>
          <a:bodyPr wrap="square">
            <a:spAutoFit/>
          </a:bodyPr>
          <a:lstStyle/>
          <a:p>
            <a:pPr>
              <a:spcBef>
                <a:spcPts val="400"/>
              </a:spcBef>
              <a:defRPr sz="1300">
                <a:solidFill>
                  <a:srgbClr val="444444"/>
                </a:solidFill>
              </a:defRPr>
            </a:pPr>
            <a:r>
              <a:t>  •  Mesh-free: collocated PDE residual evaluation</a:t>
            </a:r>
          </a:p>
          <a:p>
            <a:pPr>
              <a:spcBef>
                <a:spcPts val="400"/>
              </a:spcBef>
              <a:defRPr sz="1300">
                <a:solidFill>
                  <a:srgbClr val="444444"/>
                </a:solidFill>
              </a:defRPr>
            </a:pPr>
            <a:r>
              <a:t>  •  Once trained, inference is near-instantaneous</a:t>
            </a:r>
          </a:p>
          <a:p>
            <a:pPr>
              <a:spcBef>
                <a:spcPts val="400"/>
              </a:spcBef>
              <a:defRPr sz="1300">
                <a:solidFill>
                  <a:srgbClr val="444444"/>
                </a:solidFill>
              </a:defRPr>
            </a:pPr>
            <a:r>
              <a:t>  •  k-Skip reduces FEM supervision calls by up to 5×</a:t>
            </a:r>
          </a:p>
          <a:p>
            <a:pPr>
              <a:spcBef>
                <a:spcPts val="400"/>
              </a:spcBef>
              <a:defRPr sz="1300">
                <a:solidFill>
                  <a:srgbClr val="444444"/>
                </a:solidFill>
              </a:defRPr>
            </a:pPr>
            <a:r>
              <a:t>  •  NAS automatically finds optimal architecture</a:t>
            </a:r>
          </a:p>
          <a:p>
            <a:pPr>
              <a:spcBef>
                <a:spcPts val="400"/>
              </a:spcBef>
              <a:defRPr sz="1300">
                <a:solidFill>
                  <a:srgbClr val="444444"/>
                </a:solidFill>
              </a:defRPr>
            </a:pPr>
            <a:r>
              <a:t>  •  Generalises across 2D and 3D geometries</a:t>
            </a:r>
          </a:p>
          <a:p>
            <a:pPr>
              <a:spcBef>
                <a:spcPts val="400"/>
              </a:spcBef>
              <a:defRPr sz="1300">
                <a:solidFill>
                  <a:srgbClr val="444444"/>
                </a:solidFill>
              </a:defRPr>
            </a:pPr>
            <a:r>
              <a:t>  •  IC-consistent output layer guarantees exact ICs</a:t>
            </a:r>
          </a:p>
        </p:txBody>
      </p:sp>
      <p:sp>
        <p:nvSpPr>
          <p:cNvPr id="12" name="Rectangle 11"/>
          <p:cNvSpPr/>
          <p:nvPr/>
        </p:nvSpPr>
        <p:spPr>
          <a:xfrm>
            <a:off x="5760720" y="1051560"/>
            <a:ext cx="45720" cy="5303520"/>
          </a:xfrm>
          <a:prstGeom prst="rect">
            <a:avLst/>
          </a:prstGeom>
          <a:solidFill>
            <a:srgbClr val="CCD1D9"/>
          </a:solidFill>
          <a:ln>
            <a:solidFill>
              <a:srgbClr val="CCD1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11247120" cy="274320"/>
          </a:xfrm>
          <a:prstGeom prst="rect">
            <a:avLst/>
          </a:prstGeom>
          <a:noFill/>
        </p:spPr>
        <p:txBody>
          <a:bodyPr wrap="square">
            <a:spAutoFit/>
          </a:bodyPr>
          <a:lstStyle/>
          <a:p>
            <a:pPr algn="ctr"/>
            <a:r>
              <a:rPr sz="1200" b="1">
                <a:solidFill>
                  <a:srgbClr val="FFFFFF"/>
                </a:solidFill>
              </a:rPr>
              <a:t>Goal: maintain L2 &lt; 3% while reducing FEM calls by up to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Physical Problem</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Transient heat equation — aluminium quenching</a:t>
            </a:r>
          </a:p>
        </p:txBody>
      </p:sp>
      <p:sp>
        <p:nvSpPr>
          <p:cNvPr id="6" name="Rectangle 5"/>
          <p:cNvSpPr/>
          <p:nvPr/>
        </p:nvSpPr>
        <p:spPr>
          <a:xfrm>
            <a:off x="274320" y="1051560"/>
            <a:ext cx="7315200" cy="21031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97280"/>
            <a:ext cx="7132320" cy="347472"/>
          </a:xfrm>
          <a:prstGeom prst="rect">
            <a:avLst/>
          </a:prstGeom>
          <a:noFill/>
        </p:spPr>
        <p:txBody>
          <a:bodyPr wrap="square">
            <a:spAutoFit/>
          </a:bodyPr>
          <a:lstStyle/>
          <a:p>
            <a:pPr algn="l"/>
            <a:r>
              <a:rPr sz="1400" b="1">
                <a:solidFill>
                  <a:srgbClr val="1C3557"/>
                </a:solidFill>
              </a:rPr>
              <a:t>Governing Equation</a:t>
            </a:r>
          </a:p>
        </p:txBody>
      </p:sp>
      <p:sp>
        <p:nvSpPr>
          <p:cNvPr id="8" name="TextBox 7"/>
          <p:cNvSpPr txBox="1"/>
          <p:nvPr/>
        </p:nvSpPr>
        <p:spPr>
          <a:xfrm>
            <a:off x="457200" y="1481328"/>
            <a:ext cx="7132320" cy="502920"/>
          </a:xfrm>
          <a:prstGeom prst="rect">
            <a:avLst/>
          </a:prstGeom>
          <a:noFill/>
        </p:spPr>
        <p:txBody>
          <a:bodyPr wrap="square">
            <a:spAutoFit/>
          </a:bodyPr>
          <a:lstStyle/>
          <a:p>
            <a:pPr algn="ctr"/>
            <a:r>
              <a:rPr sz="2200" b="1">
                <a:solidFill>
                  <a:srgbClr val="1A5C96"/>
                </a:solidFill>
              </a:rPr>
              <a:t>ρcₚ ∂T/∂t  =  ∇·(k∇T) + Q</a:t>
            </a:r>
          </a:p>
        </p:txBody>
      </p:sp>
      <p:sp>
        <p:nvSpPr>
          <p:cNvPr id="9" name="TextBox 8"/>
          <p:cNvSpPr txBox="1"/>
          <p:nvPr/>
        </p:nvSpPr>
        <p:spPr>
          <a:xfrm>
            <a:off x="457200" y="2057400"/>
            <a:ext cx="7132320" cy="411480"/>
          </a:xfrm>
          <a:prstGeom prst="rect">
            <a:avLst/>
          </a:prstGeom>
          <a:noFill/>
        </p:spPr>
        <p:txBody>
          <a:bodyPr wrap="square">
            <a:spAutoFit/>
          </a:bodyPr>
          <a:lstStyle/>
          <a:p>
            <a:pPr algn="ctr"/>
            <a:r>
              <a:rPr sz="1400" b="0">
                <a:solidFill>
                  <a:srgbClr val="444444"/>
                </a:solidFill>
              </a:rPr>
              <a:t>BC:  −k ∂T/∂n = h(T − Tᵢᵣ),    h = 5000 W/m²K</a:t>
            </a:r>
          </a:p>
        </p:txBody>
      </p:sp>
      <p:sp>
        <p:nvSpPr>
          <p:cNvPr id="10" name="TextBox 9"/>
          <p:cNvSpPr txBox="1"/>
          <p:nvPr/>
        </p:nvSpPr>
        <p:spPr>
          <a:xfrm>
            <a:off x="457200" y="2487168"/>
            <a:ext cx="7132320" cy="347472"/>
          </a:xfrm>
          <a:prstGeom prst="rect">
            <a:avLst/>
          </a:prstGeom>
          <a:noFill/>
        </p:spPr>
        <p:txBody>
          <a:bodyPr wrap="square">
            <a:spAutoFit/>
          </a:bodyPr>
          <a:lstStyle/>
          <a:p>
            <a:pPr algn="ctr"/>
            <a:r>
              <a:rPr sz="1400" b="0">
                <a:solidFill>
                  <a:srgbClr val="444444"/>
                </a:solidFill>
              </a:rPr>
              <a:t>IC:  T(x, 0) = 500 °C          Tᵢᵣ = 20 °C</a:t>
            </a:r>
          </a:p>
        </p:txBody>
      </p:sp>
      <p:sp>
        <p:nvSpPr>
          <p:cNvPr id="11" name="Rectangle 10"/>
          <p:cNvSpPr/>
          <p:nvPr/>
        </p:nvSpPr>
        <p:spPr>
          <a:xfrm>
            <a:off x="274320" y="3291840"/>
            <a:ext cx="7315200" cy="18288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37560"/>
            <a:ext cx="7132320" cy="347472"/>
          </a:xfrm>
          <a:prstGeom prst="rect">
            <a:avLst/>
          </a:prstGeom>
          <a:noFill/>
        </p:spPr>
        <p:txBody>
          <a:bodyPr wrap="square">
            <a:spAutoFit/>
          </a:bodyPr>
          <a:lstStyle/>
          <a:p>
            <a:pPr algn="l"/>
            <a:r>
              <a:rPr sz="1400" b="1">
                <a:solidFill>
                  <a:srgbClr val="1C3557"/>
                </a:solidFill>
              </a:rPr>
              <a:t>Problem Parameters</a:t>
            </a:r>
          </a:p>
        </p:txBody>
      </p:sp>
      <p:sp>
        <p:nvSpPr>
          <p:cNvPr id="13" name="TextBox 12"/>
          <p:cNvSpPr txBox="1"/>
          <p:nvPr/>
        </p:nvSpPr>
        <p:spPr>
          <a:xfrm>
            <a:off x="457200" y="3749039"/>
            <a:ext cx="7132320" cy="1280160"/>
          </a:xfrm>
          <a:prstGeom prst="rect">
            <a:avLst/>
          </a:prstGeom>
          <a:noFill/>
        </p:spPr>
        <p:txBody>
          <a:bodyPr wrap="square">
            <a:spAutoFit/>
          </a:bodyPr>
          <a:lstStyle/>
          <a:p>
            <a:pPr>
              <a:spcBef>
                <a:spcPts val="400"/>
              </a:spcBef>
              <a:defRPr sz="1200">
                <a:solidFill>
                  <a:srgbClr val="444444"/>
                </a:solidFill>
              </a:defRPr>
            </a:pPr>
            <a:r>
              <a:t>  •  Material: Aluminium alloy (A356)</a:t>
            </a:r>
          </a:p>
          <a:p>
            <a:pPr>
              <a:spcBef>
                <a:spcPts val="400"/>
              </a:spcBef>
              <a:defRPr sz="1200">
                <a:solidFill>
                  <a:srgbClr val="444444"/>
                </a:solidFill>
              </a:defRPr>
            </a:pPr>
            <a:r>
              <a:t>  •  T_initial = 500 °C,   T_water = 20 °C,   t_total = 30 s</a:t>
            </a:r>
          </a:p>
          <a:p>
            <a:pPr>
              <a:spcBef>
                <a:spcPts val="400"/>
              </a:spcBef>
              <a:defRPr sz="1200">
                <a:solidFill>
                  <a:srgbClr val="444444"/>
                </a:solidFill>
              </a:defRPr>
            </a:pPr>
            <a:r>
              <a:t>  •  FEM discretisation: Δt_FEM = 1.5 s  →  20 time steps</a:t>
            </a:r>
          </a:p>
          <a:p>
            <a:pPr>
              <a:spcBef>
                <a:spcPts val="400"/>
              </a:spcBef>
              <a:defRPr sz="1200">
                <a:solidFill>
                  <a:srgbClr val="444444"/>
                </a:solidFill>
              </a:defRPr>
            </a:pPr>
            <a:r>
              <a:t>  •  Mortensen D. et al. (2026) Int. J. Adv. Manuf. Technol. doi:10.1007/s00170-026-17515-w</a:t>
            </a:r>
          </a:p>
        </p:txBody>
      </p:sp>
      <p:sp>
        <p:nvSpPr>
          <p:cNvPr id="14" name="Rectangle 13"/>
          <p:cNvSpPr/>
          <p:nvPr/>
        </p:nvSpPr>
        <p:spPr>
          <a:xfrm>
            <a:off x="7863840" y="1051560"/>
            <a:ext cx="4023360" cy="4069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1097280"/>
            <a:ext cx="3749039" cy="347472"/>
          </a:xfrm>
          <a:prstGeom prst="rect">
            <a:avLst/>
          </a:prstGeom>
          <a:noFill/>
        </p:spPr>
        <p:txBody>
          <a:bodyPr wrap="square">
            <a:spAutoFit/>
          </a:bodyPr>
          <a:lstStyle/>
          <a:p>
            <a:pPr algn="l"/>
            <a:r>
              <a:rPr sz="1400" b="1">
                <a:solidFill>
                  <a:srgbClr val="1C3557"/>
                </a:solidFill>
              </a:rPr>
              <a:t>Domains Tested</a:t>
            </a:r>
          </a:p>
        </p:txBody>
      </p:sp>
      <p:sp>
        <p:nvSpPr>
          <p:cNvPr id="16" name="TextBox 15"/>
          <p:cNvSpPr txBox="1"/>
          <p:nvPr/>
        </p:nvSpPr>
        <p:spPr>
          <a:xfrm>
            <a:off x="8001000" y="1508760"/>
            <a:ext cx="1097280" cy="274320"/>
          </a:xfrm>
          <a:prstGeom prst="rect">
            <a:avLst/>
          </a:prstGeom>
          <a:noFill/>
        </p:spPr>
        <p:txBody>
          <a:bodyPr wrap="square">
            <a:spAutoFit/>
          </a:bodyPr>
          <a:lstStyle/>
          <a:p>
            <a:pPr algn="l"/>
            <a:r>
              <a:rPr sz="1200" b="1">
                <a:solidFill>
                  <a:srgbClr val="1A5C96"/>
                </a:solidFill>
              </a:rPr>
              <a:t>2D:</a:t>
            </a:r>
          </a:p>
        </p:txBody>
      </p:sp>
      <p:sp>
        <p:nvSpPr>
          <p:cNvPr id="17" name="TextBox 16"/>
          <p:cNvSpPr txBox="1"/>
          <p:nvPr/>
        </p:nvSpPr>
        <p:spPr>
          <a:xfrm>
            <a:off x="8778240" y="1508760"/>
            <a:ext cx="2926080" cy="274320"/>
          </a:xfrm>
          <a:prstGeom prst="rect">
            <a:avLst/>
          </a:prstGeom>
          <a:noFill/>
        </p:spPr>
        <p:txBody>
          <a:bodyPr wrap="square">
            <a:spAutoFit/>
          </a:bodyPr>
          <a:lstStyle/>
          <a:p>
            <a:pPr algn="l"/>
            <a:r>
              <a:rPr sz="1200" b="0">
                <a:solidFill>
                  <a:srgbClr val="444444"/>
                </a:solidFill>
              </a:rPr>
              <a:t>Rectangle,  Circle,  L-shape</a:t>
            </a:r>
          </a:p>
        </p:txBody>
      </p:sp>
      <p:sp>
        <p:nvSpPr>
          <p:cNvPr id="18" name="TextBox 17"/>
          <p:cNvSpPr txBox="1"/>
          <p:nvPr/>
        </p:nvSpPr>
        <p:spPr>
          <a:xfrm>
            <a:off x="8001000" y="1920240"/>
            <a:ext cx="1097280" cy="274320"/>
          </a:xfrm>
          <a:prstGeom prst="rect">
            <a:avLst/>
          </a:prstGeom>
          <a:noFill/>
        </p:spPr>
        <p:txBody>
          <a:bodyPr wrap="square">
            <a:spAutoFit/>
          </a:bodyPr>
          <a:lstStyle/>
          <a:p>
            <a:pPr algn="l"/>
            <a:r>
              <a:rPr sz="1200" b="1">
                <a:solidFill>
                  <a:srgbClr val="1A5C96"/>
                </a:solidFill>
              </a:rPr>
              <a:t>3D:</a:t>
            </a:r>
          </a:p>
        </p:txBody>
      </p:sp>
      <p:sp>
        <p:nvSpPr>
          <p:cNvPr id="19" name="TextBox 18"/>
          <p:cNvSpPr txBox="1"/>
          <p:nvPr/>
        </p:nvSpPr>
        <p:spPr>
          <a:xfrm>
            <a:off x="8778240" y="1920240"/>
            <a:ext cx="2926080" cy="256032"/>
          </a:xfrm>
          <a:prstGeom prst="rect">
            <a:avLst/>
          </a:prstGeom>
          <a:noFill/>
        </p:spPr>
        <p:txBody>
          <a:bodyPr wrap="square">
            <a:spAutoFit/>
          </a:bodyPr>
          <a:lstStyle/>
          <a:p>
            <a:pPr algn="l"/>
            <a:r>
              <a:rPr sz="1200" b="0">
                <a:solidFill>
                  <a:srgbClr val="444444"/>
                </a:solidFill>
              </a:rPr>
              <a:t>Rectangular box,  Cylinder,</a:t>
            </a:r>
          </a:p>
        </p:txBody>
      </p:sp>
      <p:sp>
        <p:nvSpPr>
          <p:cNvPr id="20" name="TextBox 19"/>
          <p:cNvSpPr txBox="1"/>
          <p:nvPr/>
        </p:nvSpPr>
        <p:spPr>
          <a:xfrm>
            <a:off x="8778240" y="2194560"/>
            <a:ext cx="2926080" cy="256032"/>
          </a:xfrm>
          <a:prstGeom prst="rect">
            <a:avLst/>
          </a:prstGeom>
          <a:noFill/>
        </p:spPr>
        <p:txBody>
          <a:bodyPr wrap="square">
            <a:spAutoFit/>
          </a:bodyPr>
          <a:lstStyle/>
          <a:p>
            <a:pPr algn="l"/>
            <a:r>
              <a:rPr sz="1200" b="0">
                <a:solidFill>
                  <a:srgbClr val="444444"/>
                </a:solidFill>
              </a:rPr>
              <a:t>Stacked,  L-shape (3D)</a:t>
            </a:r>
          </a:p>
        </p:txBody>
      </p:sp>
      <p:sp>
        <p:nvSpPr>
          <p:cNvPr id="21" name="TextBox 20"/>
          <p:cNvSpPr txBox="1"/>
          <p:nvPr/>
        </p:nvSpPr>
        <p:spPr>
          <a:xfrm>
            <a:off x="8001000" y="2743200"/>
            <a:ext cx="3749039" cy="274320"/>
          </a:xfrm>
          <a:prstGeom prst="rect">
            <a:avLst/>
          </a:prstGeom>
          <a:noFill/>
        </p:spPr>
        <p:txBody>
          <a:bodyPr wrap="square">
            <a:spAutoFit/>
          </a:bodyPr>
          <a:lstStyle/>
          <a:p>
            <a:pPr algn="l"/>
            <a:r>
              <a:rPr sz="1100" b="0" i="1">
                <a:solidFill>
                  <a:srgbClr val="444444"/>
                </a:solidFill>
              </a:rPr>
              <a:t>FEM steps: 20 @ Δt=1.5 s</a:t>
            </a:r>
          </a:p>
        </p:txBody>
      </p:sp>
      <p:sp>
        <p:nvSpPr>
          <p:cNvPr id="22" name="TextBox 21"/>
          <p:cNvSpPr txBox="1"/>
          <p:nvPr/>
        </p:nvSpPr>
        <p:spPr>
          <a:xfrm>
            <a:off x="8001000" y="3108960"/>
            <a:ext cx="3749039" cy="274320"/>
          </a:xfrm>
          <a:prstGeom prst="rect">
            <a:avLst/>
          </a:prstGeom>
          <a:noFill/>
        </p:spPr>
        <p:txBody>
          <a:bodyPr wrap="square">
            <a:spAutoFit/>
          </a:bodyPr>
          <a:lstStyle/>
          <a:p>
            <a:pPr algn="l"/>
            <a:r>
              <a:rPr sz="1100" b="1">
                <a:solidFill>
                  <a:srgbClr val="1C3557"/>
                </a:solidFill>
              </a:rPr>
              <a:t>k-skip windows per k:</a:t>
            </a:r>
          </a:p>
        </p:txBody>
      </p:sp>
      <p:sp>
        <p:nvSpPr>
          <p:cNvPr id="23" name="Rectangle 22"/>
          <p:cNvSpPr/>
          <p:nvPr/>
        </p:nvSpPr>
        <p:spPr>
          <a:xfrm>
            <a:off x="8001000" y="3429000"/>
            <a:ext cx="658368" cy="502920"/>
          </a:xfrm>
          <a:prstGeom prst="rect">
            <a:avLst/>
          </a:prstGeom>
          <a:solidFill>
            <a:srgbClr val="1A5C96"/>
          </a:solidFill>
          <a:ln>
            <a:solidFill>
              <a:srgbClr val="1A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1" y="3447288"/>
            <a:ext cx="603504" cy="237744"/>
          </a:xfrm>
          <a:prstGeom prst="rect">
            <a:avLst/>
          </a:prstGeom>
          <a:noFill/>
        </p:spPr>
        <p:txBody>
          <a:bodyPr wrap="square">
            <a:spAutoFit/>
          </a:bodyPr>
          <a:lstStyle/>
          <a:p>
            <a:pPr algn="ctr"/>
            <a:r>
              <a:rPr sz="1000" b="1">
                <a:solidFill>
                  <a:srgbClr val="FFFFFF"/>
                </a:solidFill>
              </a:rPr>
              <a:t>k=1</a:t>
            </a:r>
          </a:p>
        </p:txBody>
      </p:sp>
      <p:sp>
        <p:nvSpPr>
          <p:cNvPr id="25" name="TextBox 24"/>
          <p:cNvSpPr txBox="1"/>
          <p:nvPr/>
        </p:nvSpPr>
        <p:spPr>
          <a:xfrm>
            <a:off x="8028431" y="3675887"/>
            <a:ext cx="603504" cy="228600"/>
          </a:xfrm>
          <a:prstGeom prst="rect">
            <a:avLst/>
          </a:prstGeom>
          <a:noFill/>
        </p:spPr>
        <p:txBody>
          <a:bodyPr wrap="square">
            <a:spAutoFit/>
          </a:bodyPr>
          <a:lstStyle/>
          <a:p>
            <a:pPr algn="ctr"/>
            <a:r>
              <a:rPr sz="900" b="0">
                <a:solidFill>
                  <a:srgbClr val="FFFFFF"/>
                </a:solidFill>
              </a:rPr>
              <a:t>20 wins</a:t>
            </a:r>
          </a:p>
        </p:txBody>
      </p:sp>
      <p:sp>
        <p:nvSpPr>
          <p:cNvPr id="26" name="Rectangle 25"/>
          <p:cNvSpPr/>
          <p:nvPr/>
        </p:nvSpPr>
        <p:spPr>
          <a:xfrm>
            <a:off x="8750808" y="3429000"/>
            <a:ext cx="658368" cy="502920"/>
          </a:xfrm>
          <a:prstGeom prst="rect">
            <a:avLst/>
          </a:prstGeom>
          <a:solidFill>
            <a:srgbClr val="1A5C96"/>
          </a:solidFill>
          <a:ln>
            <a:solidFill>
              <a:srgbClr val="1A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0" y="3447288"/>
            <a:ext cx="603504" cy="237744"/>
          </a:xfrm>
          <a:prstGeom prst="rect">
            <a:avLst/>
          </a:prstGeom>
          <a:noFill/>
        </p:spPr>
        <p:txBody>
          <a:bodyPr wrap="square">
            <a:spAutoFit/>
          </a:bodyPr>
          <a:lstStyle/>
          <a:p>
            <a:pPr algn="ctr"/>
            <a:r>
              <a:rPr sz="1000" b="1">
                <a:solidFill>
                  <a:srgbClr val="FFFFFF"/>
                </a:solidFill>
              </a:rPr>
              <a:t>k=2</a:t>
            </a:r>
          </a:p>
        </p:txBody>
      </p:sp>
      <p:sp>
        <p:nvSpPr>
          <p:cNvPr id="28" name="TextBox 27"/>
          <p:cNvSpPr txBox="1"/>
          <p:nvPr/>
        </p:nvSpPr>
        <p:spPr>
          <a:xfrm>
            <a:off x="8778240" y="3675887"/>
            <a:ext cx="603504" cy="228600"/>
          </a:xfrm>
          <a:prstGeom prst="rect">
            <a:avLst/>
          </a:prstGeom>
          <a:noFill/>
        </p:spPr>
        <p:txBody>
          <a:bodyPr wrap="square">
            <a:spAutoFit/>
          </a:bodyPr>
          <a:lstStyle/>
          <a:p>
            <a:pPr algn="ctr"/>
            <a:r>
              <a:rPr sz="900" b="0">
                <a:solidFill>
                  <a:srgbClr val="FFFFFF"/>
                </a:solidFill>
              </a:rPr>
              <a:t>10 wins</a:t>
            </a:r>
          </a:p>
        </p:txBody>
      </p:sp>
      <p:sp>
        <p:nvSpPr>
          <p:cNvPr id="29" name="Rectangle 28"/>
          <p:cNvSpPr/>
          <p:nvPr/>
        </p:nvSpPr>
        <p:spPr>
          <a:xfrm>
            <a:off x="9500616" y="3429000"/>
            <a:ext cx="658368" cy="502920"/>
          </a:xfrm>
          <a:prstGeom prst="rect">
            <a:avLst/>
          </a:prstGeom>
          <a:solidFill>
            <a:srgbClr val="1A5C96"/>
          </a:solidFill>
          <a:ln>
            <a:solidFill>
              <a:srgbClr val="1A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28048" y="3447288"/>
            <a:ext cx="603504" cy="237744"/>
          </a:xfrm>
          <a:prstGeom prst="rect">
            <a:avLst/>
          </a:prstGeom>
          <a:noFill/>
        </p:spPr>
        <p:txBody>
          <a:bodyPr wrap="square">
            <a:spAutoFit/>
          </a:bodyPr>
          <a:lstStyle/>
          <a:p>
            <a:pPr algn="ctr"/>
            <a:r>
              <a:rPr sz="1000" b="1">
                <a:solidFill>
                  <a:srgbClr val="FFFFFF"/>
                </a:solidFill>
              </a:rPr>
              <a:t>k=3</a:t>
            </a:r>
          </a:p>
        </p:txBody>
      </p:sp>
      <p:sp>
        <p:nvSpPr>
          <p:cNvPr id="31" name="TextBox 30"/>
          <p:cNvSpPr txBox="1"/>
          <p:nvPr/>
        </p:nvSpPr>
        <p:spPr>
          <a:xfrm>
            <a:off x="9528048" y="3675887"/>
            <a:ext cx="603504" cy="228600"/>
          </a:xfrm>
          <a:prstGeom prst="rect">
            <a:avLst/>
          </a:prstGeom>
          <a:noFill/>
        </p:spPr>
        <p:txBody>
          <a:bodyPr wrap="square">
            <a:spAutoFit/>
          </a:bodyPr>
          <a:lstStyle/>
          <a:p>
            <a:pPr algn="ctr"/>
            <a:r>
              <a:rPr sz="900" b="0">
                <a:solidFill>
                  <a:srgbClr val="FFFFFF"/>
                </a:solidFill>
              </a:rPr>
              <a:t>7 wins</a:t>
            </a:r>
          </a:p>
        </p:txBody>
      </p:sp>
      <p:sp>
        <p:nvSpPr>
          <p:cNvPr id="32" name="Rectangle 31"/>
          <p:cNvSpPr/>
          <p:nvPr/>
        </p:nvSpPr>
        <p:spPr>
          <a:xfrm>
            <a:off x="10250424" y="3429000"/>
            <a:ext cx="658368" cy="502920"/>
          </a:xfrm>
          <a:prstGeom prst="rect">
            <a:avLst/>
          </a:prstGeom>
          <a:solidFill>
            <a:srgbClr val="1A5C96"/>
          </a:solidFill>
          <a:ln>
            <a:solidFill>
              <a:srgbClr val="1A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77856" y="3447288"/>
            <a:ext cx="603504" cy="237744"/>
          </a:xfrm>
          <a:prstGeom prst="rect">
            <a:avLst/>
          </a:prstGeom>
          <a:noFill/>
        </p:spPr>
        <p:txBody>
          <a:bodyPr wrap="square">
            <a:spAutoFit/>
          </a:bodyPr>
          <a:lstStyle/>
          <a:p>
            <a:pPr algn="ctr"/>
            <a:r>
              <a:rPr sz="1000" b="1">
                <a:solidFill>
                  <a:srgbClr val="FFFFFF"/>
                </a:solidFill>
              </a:rPr>
              <a:t>k=4</a:t>
            </a:r>
          </a:p>
        </p:txBody>
      </p:sp>
      <p:sp>
        <p:nvSpPr>
          <p:cNvPr id="34" name="TextBox 33"/>
          <p:cNvSpPr txBox="1"/>
          <p:nvPr/>
        </p:nvSpPr>
        <p:spPr>
          <a:xfrm>
            <a:off x="10277856" y="3675887"/>
            <a:ext cx="603504" cy="228600"/>
          </a:xfrm>
          <a:prstGeom prst="rect">
            <a:avLst/>
          </a:prstGeom>
          <a:noFill/>
        </p:spPr>
        <p:txBody>
          <a:bodyPr wrap="square">
            <a:spAutoFit/>
          </a:bodyPr>
          <a:lstStyle/>
          <a:p>
            <a:pPr algn="ctr"/>
            <a:r>
              <a:rPr sz="900" b="0">
                <a:solidFill>
                  <a:srgbClr val="FFFFFF"/>
                </a:solidFill>
              </a:rPr>
              <a:t>5 wins</a:t>
            </a:r>
          </a:p>
        </p:txBody>
      </p:sp>
      <p:sp>
        <p:nvSpPr>
          <p:cNvPr id="35" name="Rectangle 34"/>
          <p:cNvSpPr/>
          <p:nvPr/>
        </p:nvSpPr>
        <p:spPr>
          <a:xfrm>
            <a:off x="11000232" y="3429000"/>
            <a:ext cx="658368" cy="502920"/>
          </a:xfrm>
          <a:prstGeom prst="rect">
            <a:avLst/>
          </a:prstGeom>
          <a:solidFill>
            <a:srgbClr val="1A5C96"/>
          </a:solidFill>
          <a:ln>
            <a:solidFill>
              <a:srgbClr val="1A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027663" y="3447288"/>
            <a:ext cx="603504" cy="237744"/>
          </a:xfrm>
          <a:prstGeom prst="rect">
            <a:avLst/>
          </a:prstGeom>
          <a:noFill/>
        </p:spPr>
        <p:txBody>
          <a:bodyPr wrap="square">
            <a:spAutoFit/>
          </a:bodyPr>
          <a:lstStyle/>
          <a:p>
            <a:pPr algn="ctr"/>
            <a:r>
              <a:rPr sz="1000" b="1">
                <a:solidFill>
                  <a:srgbClr val="FFFFFF"/>
                </a:solidFill>
              </a:rPr>
              <a:t>k=5</a:t>
            </a:r>
          </a:p>
        </p:txBody>
      </p:sp>
      <p:sp>
        <p:nvSpPr>
          <p:cNvPr id="37" name="TextBox 36"/>
          <p:cNvSpPr txBox="1"/>
          <p:nvPr/>
        </p:nvSpPr>
        <p:spPr>
          <a:xfrm>
            <a:off x="11027663" y="3675887"/>
            <a:ext cx="603504" cy="228600"/>
          </a:xfrm>
          <a:prstGeom prst="rect">
            <a:avLst/>
          </a:prstGeom>
          <a:noFill/>
        </p:spPr>
        <p:txBody>
          <a:bodyPr wrap="square">
            <a:spAutoFit/>
          </a:bodyPr>
          <a:lstStyle/>
          <a:p>
            <a:pPr algn="ctr"/>
            <a:r>
              <a:rPr sz="900" b="0">
                <a:solidFill>
                  <a:srgbClr val="FFFFFF"/>
                </a:solidFill>
              </a:rPr>
              <a:t>4 wins</a:t>
            </a:r>
          </a:p>
        </p:txBody>
      </p:sp>
      <p:sp>
        <p:nvSpPr>
          <p:cNvPr id="38" name="Rectangle 37"/>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565392"/>
            <a:ext cx="11247120" cy="274320"/>
          </a:xfrm>
          <a:prstGeom prst="rect">
            <a:avLst/>
          </a:prstGeom>
          <a:noFill/>
        </p:spPr>
        <p:txBody>
          <a:bodyPr wrap="square">
            <a:spAutoFit/>
          </a:bodyPr>
          <a:lstStyle/>
          <a:p>
            <a:pPr algn="ctr"/>
            <a:r>
              <a:rPr sz="1100" b="0">
                <a:solidFill>
                  <a:srgbClr val="FFFFFF"/>
                </a:solidFill>
              </a:rPr>
              <a:t>Quenching process: 500 °C → water at 20 °C — rapid thermal gradient drives distortion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Methodology Overview</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k-Skip Multi-Step Window Prediction (MSWP) pipeline</a:t>
            </a:r>
          </a:p>
        </p:txBody>
      </p:sp>
      <p:sp>
        <p:nvSpPr>
          <p:cNvPr id="6" name="Rectangle 5"/>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Methodology Overview</a:t>
            </a:r>
          </a:p>
        </p:txBody>
      </p:sp>
      <p:sp>
        <p:nvSpPr>
          <p:cNvPr id="9" name="TextBox 8"/>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k-Skip Multi-Step Window Prediction (MSWP) pipeline</a:t>
            </a:r>
          </a:p>
        </p:txBody>
      </p:sp>
      <p:sp>
        <p:nvSpPr>
          <p:cNvPr id="10" name="Rectangle 9"/>
          <p:cNvSpPr/>
          <p:nvPr/>
        </p:nvSpPr>
        <p:spPr>
          <a:xfrm>
            <a:off x="320040" y="1280160"/>
            <a:ext cx="2011680" cy="16916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 y="1325880"/>
            <a:ext cx="1874519" cy="1600200"/>
          </a:xfrm>
          <a:prstGeom prst="rect">
            <a:avLst/>
          </a:prstGeom>
          <a:noFill/>
        </p:spPr>
        <p:txBody>
          <a:bodyPr wrap="square">
            <a:spAutoFit/>
          </a:bodyPr>
          <a:lstStyle/>
          <a:p>
            <a:pPr algn="ctr"/>
            <a:r>
              <a:rPr sz="1200" b="1">
                <a:solidFill>
                  <a:srgbClr val="FFFFFF"/>
                </a:solidFill>
              </a:rPr>
              <a:t>FEM
Reference
(t=0,k,2k,...)</a:t>
            </a:r>
          </a:p>
        </p:txBody>
      </p:sp>
      <p:sp>
        <p:nvSpPr>
          <p:cNvPr id="12" name="Rectangle 11"/>
          <p:cNvSpPr/>
          <p:nvPr/>
        </p:nvSpPr>
        <p:spPr>
          <a:xfrm>
            <a:off x="2743200" y="1280160"/>
            <a:ext cx="2011680" cy="1691640"/>
          </a:xfrm>
          <a:prstGeom prst="rect">
            <a:avLst/>
          </a:prstGeom>
          <a:solidFill>
            <a:srgbClr val="1A5C96"/>
          </a:solidFill>
          <a:ln>
            <a:solidFill>
              <a:srgbClr val="1A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16352" y="1325880"/>
            <a:ext cx="1874519" cy="1600200"/>
          </a:xfrm>
          <a:prstGeom prst="rect">
            <a:avLst/>
          </a:prstGeom>
          <a:noFill/>
        </p:spPr>
        <p:txBody>
          <a:bodyPr wrap="square">
            <a:spAutoFit/>
          </a:bodyPr>
          <a:lstStyle/>
          <a:p>
            <a:pPr algn="ctr"/>
            <a:r>
              <a:rPr sz="1200" b="1">
                <a:solidFill>
                  <a:srgbClr val="FFFFFF"/>
                </a:solidFill>
              </a:rPr>
              <a:t>IC-Consistent
PINN Output
θ̂ = θ_ic + τ·Nθ</a:t>
            </a:r>
          </a:p>
        </p:txBody>
      </p:sp>
      <p:sp>
        <p:nvSpPr>
          <p:cNvPr id="14" name="Rectangle 13"/>
          <p:cNvSpPr/>
          <p:nvPr/>
        </p:nvSpPr>
        <p:spPr>
          <a:xfrm>
            <a:off x="5166360" y="1280160"/>
            <a:ext cx="2011680" cy="1691640"/>
          </a:xfrm>
          <a:prstGeom prst="rect">
            <a:avLst/>
          </a:prstGeom>
          <a:solidFill>
            <a:srgbClr val="006E8A"/>
          </a:solidFill>
          <a:ln>
            <a:solidFill>
              <a:srgbClr val="006E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9512" y="1325880"/>
            <a:ext cx="1874519" cy="1600200"/>
          </a:xfrm>
          <a:prstGeom prst="rect">
            <a:avLst/>
          </a:prstGeom>
          <a:noFill/>
        </p:spPr>
        <p:txBody>
          <a:bodyPr wrap="square">
            <a:spAutoFit/>
          </a:bodyPr>
          <a:lstStyle/>
          <a:p>
            <a:pPr algn="ctr"/>
            <a:r>
              <a:rPr sz="1200" b="1">
                <a:solidFill>
                  <a:srgbClr val="FFFFFF"/>
                </a:solidFill>
              </a:rPr>
              <a:t>Fourier
Embedding
γ(v)=[sin,cos]</a:t>
            </a:r>
          </a:p>
        </p:txBody>
      </p:sp>
      <p:sp>
        <p:nvSpPr>
          <p:cNvPr id="16" name="Rectangle 15"/>
          <p:cNvSpPr/>
          <p:nvPr/>
        </p:nvSpPr>
        <p:spPr>
          <a:xfrm>
            <a:off x="7589520" y="1280160"/>
            <a:ext cx="2011680" cy="169164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62672" y="1325880"/>
            <a:ext cx="1874519" cy="1600200"/>
          </a:xfrm>
          <a:prstGeom prst="rect">
            <a:avLst/>
          </a:prstGeom>
          <a:noFill/>
        </p:spPr>
        <p:txBody>
          <a:bodyPr wrap="square">
            <a:spAutoFit/>
          </a:bodyPr>
          <a:lstStyle/>
          <a:p>
            <a:pPr algn="ctr"/>
            <a:r>
              <a:rPr sz="1200" b="1">
                <a:solidFill>
                  <a:srgbClr val="FFFFFF"/>
                </a:solidFill>
              </a:rPr>
              <a:t>Self-Adaptive
Loss Weights
λ=softplus(w)</a:t>
            </a:r>
          </a:p>
        </p:txBody>
      </p:sp>
      <p:sp>
        <p:nvSpPr>
          <p:cNvPr id="18" name="Rectangle 17"/>
          <p:cNvSpPr/>
          <p:nvPr/>
        </p:nvSpPr>
        <p:spPr>
          <a:xfrm>
            <a:off x="10012680" y="1280160"/>
            <a:ext cx="2011680" cy="16916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85832" y="1325880"/>
            <a:ext cx="1874519" cy="1600200"/>
          </a:xfrm>
          <a:prstGeom prst="rect">
            <a:avLst/>
          </a:prstGeom>
          <a:noFill/>
        </p:spPr>
        <p:txBody>
          <a:bodyPr wrap="square">
            <a:spAutoFit/>
          </a:bodyPr>
          <a:lstStyle/>
          <a:p>
            <a:pPr algn="ctr"/>
            <a:r>
              <a:rPr sz="1200" b="1">
                <a:solidFill>
                  <a:srgbClr val="FFFFFF"/>
                </a:solidFill>
              </a:rPr>
              <a:t>NAS
Optimiser
Bayes/NSGA</a:t>
            </a:r>
          </a:p>
        </p:txBody>
      </p:sp>
      <p:sp>
        <p:nvSpPr>
          <p:cNvPr id="20" name="TextBox 19"/>
          <p:cNvSpPr txBox="1"/>
          <p:nvPr/>
        </p:nvSpPr>
        <p:spPr>
          <a:xfrm>
            <a:off x="2377440" y="1874519"/>
            <a:ext cx="320040" cy="502920"/>
          </a:xfrm>
          <a:prstGeom prst="rect">
            <a:avLst/>
          </a:prstGeom>
          <a:noFill/>
        </p:spPr>
        <p:txBody>
          <a:bodyPr wrap="square">
            <a:spAutoFit/>
          </a:bodyPr>
          <a:lstStyle/>
          <a:p>
            <a:pPr algn="ctr"/>
            <a:r>
              <a:rPr sz="2200" b="1">
                <a:solidFill>
                  <a:srgbClr val="1C3557"/>
                </a:solidFill>
              </a:rPr>
              <a:t>→</a:t>
            </a:r>
          </a:p>
        </p:txBody>
      </p:sp>
      <p:sp>
        <p:nvSpPr>
          <p:cNvPr id="21" name="TextBox 20"/>
          <p:cNvSpPr txBox="1"/>
          <p:nvPr/>
        </p:nvSpPr>
        <p:spPr>
          <a:xfrm>
            <a:off x="4800600" y="1874519"/>
            <a:ext cx="320040" cy="502920"/>
          </a:xfrm>
          <a:prstGeom prst="rect">
            <a:avLst/>
          </a:prstGeom>
          <a:noFill/>
        </p:spPr>
        <p:txBody>
          <a:bodyPr wrap="square">
            <a:spAutoFit/>
          </a:bodyPr>
          <a:lstStyle/>
          <a:p>
            <a:pPr algn="ctr"/>
            <a:r>
              <a:rPr sz="2200" b="1">
                <a:solidFill>
                  <a:srgbClr val="1C3557"/>
                </a:solidFill>
              </a:rPr>
              <a:t>→</a:t>
            </a:r>
          </a:p>
        </p:txBody>
      </p:sp>
      <p:sp>
        <p:nvSpPr>
          <p:cNvPr id="22" name="TextBox 21"/>
          <p:cNvSpPr txBox="1"/>
          <p:nvPr/>
        </p:nvSpPr>
        <p:spPr>
          <a:xfrm>
            <a:off x="7223760" y="1874519"/>
            <a:ext cx="320040" cy="502920"/>
          </a:xfrm>
          <a:prstGeom prst="rect">
            <a:avLst/>
          </a:prstGeom>
          <a:noFill/>
        </p:spPr>
        <p:txBody>
          <a:bodyPr wrap="square">
            <a:spAutoFit/>
          </a:bodyPr>
          <a:lstStyle/>
          <a:p>
            <a:pPr algn="ctr"/>
            <a:r>
              <a:rPr sz="2200" b="1">
                <a:solidFill>
                  <a:srgbClr val="1C3557"/>
                </a:solidFill>
              </a:rPr>
              <a:t>→</a:t>
            </a:r>
          </a:p>
        </p:txBody>
      </p:sp>
      <p:sp>
        <p:nvSpPr>
          <p:cNvPr id="23" name="TextBox 22"/>
          <p:cNvSpPr txBox="1"/>
          <p:nvPr/>
        </p:nvSpPr>
        <p:spPr>
          <a:xfrm>
            <a:off x="9646920" y="1874519"/>
            <a:ext cx="320040" cy="502920"/>
          </a:xfrm>
          <a:prstGeom prst="rect">
            <a:avLst/>
          </a:prstGeom>
          <a:noFill/>
        </p:spPr>
        <p:txBody>
          <a:bodyPr wrap="square">
            <a:spAutoFit/>
          </a:bodyPr>
          <a:lstStyle/>
          <a:p>
            <a:pPr algn="ctr"/>
            <a:r>
              <a:rPr sz="2200" b="1">
                <a:solidFill>
                  <a:srgbClr val="1C3557"/>
                </a:solidFill>
              </a:rPr>
              <a:t>→</a:t>
            </a:r>
          </a:p>
        </p:txBody>
      </p:sp>
      <p:sp>
        <p:nvSpPr>
          <p:cNvPr id="24" name="Rectangle 23"/>
          <p:cNvSpPr/>
          <p:nvPr/>
        </p:nvSpPr>
        <p:spPr>
          <a:xfrm>
            <a:off x="320040" y="3246120"/>
            <a:ext cx="2606040" cy="1783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79" y="3291840"/>
            <a:ext cx="2423160" cy="320040"/>
          </a:xfrm>
          <a:prstGeom prst="rect">
            <a:avLst/>
          </a:prstGeom>
          <a:noFill/>
        </p:spPr>
        <p:txBody>
          <a:bodyPr wrap="square">
            <a:spAutoFit/>
          </a:bodyPr>
          <a:lstStyle/>
          <a:p>
            <a:pPr algn="l"/>
            <a:r>
              <a:rPr sz="1200" b="1">
                <a:solidFill>
                  <a:srgbClr val="1C3557"/>
                </a:solidFill>
              </a:rPr>
              <a:t>k-Skip Window</a:t>
            </a:r>
          </a:p>
        </p:txBody>
      </p:sp>
      <p:sp>
        <p:nvSpPr>
          <p:cNvPr id="26" name="TextBox 25"/>
          <p:cNvSpPr txBox="1"/>
          <p:nvPr/>
        </p:nvSpPr>
        <p:spPr>
          <a:xfrm>
            <a:off x="411479" y="3657600"/>
            <a:ext cx="2423160" cy="1280160"/>
          </a:xfrm>
          <a:prstGeom prst="rect">
            <a:avLst/>
          </a:prstGeom>
          <a:noFill/>
        </p:spPr>
        <p:txBody>
          <a:bodyPr wrap="square">
            <a:spAutoFit/>
          </a:bodyPr>
          <a:lstStyle/>
          <a:p>
            <a:pPr algn="l"/>
            <a:r>
              <a:rPr sz="1100" b="0">
                <a:solidFill>
                  <a:srgbClr val="444444"/>
                </a:solidFill>
              </a:rPr>
              <a:t>Window = k × 1.5 s
k ∈ {1,2,3,4,5}
FEM calls ↓</a:t>
            </a:r>
          </a:p>
        </p:txBody>
      </p:sp>
      <p:sp>
        <p:nvSpPr>
          <p:cNvPr id="27" name="Rectangle 26"/>
          <p:cNvSpPr/>
          <p:nvPr/>
        </p:nvSpPr>
        <p:spPr>
          <a:xfrm>
            <a:off x="3200400" y="3246120"/>
            <a:ext cx="2606040" cy="1783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91840" y="3291840"/>
            <a:ext cx="2423160" cy="320040"/>
          </a:xfrm>
          <a:prstGeom prst="rect">
            <a:avLst/>
          </a:prstGeom>
          <a:noFill/>
        </p:spPr>
        <p:txBody>
          <a:bodyPr wrap="square">
            <a:spAutoFit/>
          </a:bodyPr>
          <a:lstStyle/>
          <a:p>
            <a:pPr algn="l"/>
            <a:r>
              <a:rPr sz="1200" b="1">
                <a:solidFill>
                  <a:srgbClr val="1C3557"/>
                </a:solidFill>
              </a:rPr>
              <a:t>Training Losses</a:t>
            </a:r>
          </a:p>
        </p:txBody>
      </p:sp>
      <p:sp>
        <p:nvSpPr>
          <p:cNvPr id="29" name="TextBox 28"/>
          <p:cNvSpPr txBox="1"/>
          <p:nvPr/>
        </p:nvSpPr>
        <p:spPr>
          <a:xfrm>
            <a:off x="3291840" y="3657600"/>
            <a:ext cx="2423160" cy="1280160"/>
          </a:xfrm>
          <a:prstGeom prst="rect">
            <a:avLst/>
          </a:prstGeom>
          <a:noFill/>
        </p:spPr>
        <p:txBody>
          <a:bodyPr wrap="square">
            <a:spAutoFit/>
          </a:bodyPr>
          <a:lstStyle/>
          <a:p>
            <a:pPr algn="l"/>
            <a:r>
              <a:rPr sz="1100" b="0">
                <a:solidFill>
                  <a:srgbClr val="444444"/>
                </a:solidFill>
              </a:rPr>
              <a:t>L = λ_pde·L_pde
    + λ_bc·L_bc
    + λ_end·L_end</a:t>
            </a:r>
          </a:p>
        </p:txBody>
      </p:sp>
      <p:sp>
        <p:nvSpPr>
          <p:cNvPr id="30" name="Rectangle 29"/>
          <p:cNvSpPr/>
          <p:nvPr/>
        </p:nvSpPr>
        <p:spPr>
          <a:xfrm>
            <a:off x="6080760" y="3246120"/>
            <a:ext cx="2606040" cy="1783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3291840"/>
            <a:ext cx="2423160" cy="320040"/>
          </a:xfrm>
          <a:prstGeom prst="rect">
            <a:avLst/>
          </a:prstGeom>
          <a:noFill/>
        </p:spPr>
        <p:txBody>
          <a:bodyPr wrap="square">
            <a:spAutoFit/>
          </a:bodyPr>
          <a:lstStyle/>
          <a:p>
            <a:pPr algn="l"/>
            <a:r>
              <a:rPr sz="1200" b="1">
                <a:solidFill>
                  <a:srgbClr val="1C3557"/>
                </a:solidFill>
              </a:rPr>
              <a:t>Epochs</a:t>
            </a:r>
          </a:p>
        </p:txBody>
      </p:sp>
      <p:sp>
        <p:nvSpPr>
          <p:cNvPr id="32" name="TextBox 31"/>
          <p:cNvSpPr txBox="1"/>
          <p:nvPr/>
        </p:nvSpPr>
        <p:spPr>
          <a:xfrm>
            <a:off x="6172200" y="3657600"/>
            <a:ext cx="2423160" cy="1280160"/>
          </a:xfrm>
          <a:prstGeom prst="rect">
            <a:avLst/>
          </a:prstGeom>
          <a:noFill/>
        </p:spPr>
        <p:txBody>
          <a:bodyPr wrap="square">
            <a:spAutoFit/>
          </a:bodyPr>
          <a:lstStyle/>
          <a:p>
            <a:pPr algn="l"/>
            <a:r>
              <a:rPr sz="1100" b="0">
                <a:solidFill>
                  <a:srgbClr val="444444"/>
                </a:solidFill>
              </a:rPr>
              <a:t>Phase 1: 800 ep
Phase 2: 1500 ep
(NSGA-II/III retrain)</a:t>
            </a:r>
          </a:p>
        </p:txBody>
      </p:sp>
      <p:sp>
        <p:nvSpPr>
          <p:cNvPr id="33" name="Rectangle 32"/>
          <p:cNvSpPr/>
          <p:nvPr/>
        </p:nvSpPr>
        <p:spPr>
          <a:xfrm>
            <a:off x="8961120" y="3246120"/>
            <a:ext cx="2606040" cy="17830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52560" y="3291840"/>
            <a:ext cx="2423160" cy="320040"/>
          </a:xfrm>
          <a:prstGeom prst="rect">
            <a:avLst/>
          </a:prstGeom>
          <a:noFill/>
        </p:spPr>
        <p:txBody>
          <a:bodyPr wrap="square">
            <a:spAutoFit/>
          </a:bodyPr>
          <a:lstStyle/>
          <a:p>
            <a:pPr algn="l"/>
            <a:r>
              <a:rPr sz="1200" b="1">
                <a:solidFill>
                  <a:srgbClr val="1C3557"/>
                </a:solidFill>
              </a:rPr>
              <a:t>Search Space</a:t>
            </a:r>
          </a:p>
        </p:txBody>
      </p:sp>
      <p:sp>
        <p:nvSpPr>
          <p:cNvPr id="35" name="TextBox 34"/>
          <p:cNvSpPr txBox="1"/>
          <p:nvPr/>
        </p:nvSpPr>
        <p:spPr>
          <a:xfrm>
            <a:off x="9052560" y="3657600"/>
            <a:ext cx="2423160" cy="1280160"/>
          </a:xfrm>
          <a:prstGeom prst="rect">
            <a:avLst/>
          </a:prstGeom>
          <a:noFill/>
        </p:spPr>
        <p:txBody>
          <a:bodyPr wrap="square">
            <a:spAutoFit/>
          </a:bodyPr>
          <a:lstStyle/>
          <a:p>
            <a:pPr algn="l"/>
            <a:r>
              <a:rPr sz="1100" b="0">
                <a:solidFill>
                  <a:srgbClr val="444444"/>
                </a:solidFill>
              </a:rPr>
              <a:t>Depth, width,
activation, skip
connections</a:t>
            </a:r>
          </a:p>
        </p:txBody>
      </p:sp>
      <p:sp>
        <p:nvSpPr>
          <p:cNvPr id="36" name="TextBox 35"/>
          <p:cNvSpPr txBox="1"/>
          <p:nvPr/>
        </p:nvSpPr>
        <p:spPr>
          <a:xfrm>
            <a:off x="502920" y="2971800"/>
            <a:ext cx="1371600" cy="256032"/>
          </a:xfrm>
          <a:prstGeom prst="rect">
            <a:avLst/>
          </a:prstGeom>
          <a:noFill/>
        </p:spPr>
        <p:txBody>
          <a:bodyPr wrap="square">
            <a:spAutoFit/>
          </a:bodyPr>
          <a:lstStyle/>
          <a:p>
            <a:pPr algn="ctr"/>
            <a:r>
              <a:rPr sz="1000" b="0">
                <a:solidFill>
                  <a:srgbClr val="1A5C96"/>
                </a:solidFill>
              </a:rPr>
              <a:t>Step 1</a:t>
            </a:r>
          </a:p>
        </p:txBody>
      </p:sp>
      <p:sp>
        <p:nvSpPr>
          <p:cNvPr id="37" name="TextBox 36"/>
          <p:cNvSpPr txBox="1"/>
          <p:nvPr/>
        </p:nvSpPr>
        <p:spPr>
          <a:xfrm>
            <a:off x="2926080" y="2971800"/>
            <a:ext cx="1371600" cy="256032"/>
          </a:xfrm>
          <a:prstGeom prst="rect">
            <a:avLst/>
          </a:prstGeom>
          <a:noFill/>
        </p:spPr>
        <p:txBody>
          <a:bodyPr wrap="square">
            <a:spAutoFit/>
          </a:bodyPr>
          <a:lstStyle/>
          <a:p>
            <a:pPr algn="ctr"/>
            <a:r>
              <a:rPr sz="1000" b="0">
                <a:solidFill>
                  <a:srgbClr val="1A5C96"/>
                </a:solidFill>
              </a:rPr>
              <a:t>Step 2</a:t>
            </a:r>
          </a:p>
        </p:txBody>
      </p:sp>
      <p:sp>
        <p:nvSpPr>
          <p:cNvPr id="38" name="TextBox 37"/>
          <p:cNvSpPr txBox="1"/>
          <p:nvPr/>
        </p:nvSpPr>
        <p:spPr>
          <a:xfrm>
            <a:off x="5349240" y="2971800"/>
            <a:ext cx="1371600" cy="256032"/>
          </a:xfrm>
          <a:prstGeom prst="rect">
            <a:avLst/>
          </a:prstGeom>
          <a:noFill/>
        </p:spPr>
        <p:txBody>
          <a:bodyPr wrap="square">
            <a:spAutoFit/>
          </a:bodyPr>
          <a:lstStyle/>
          <a:p>
            <a:pPr algn="ctr"/>
            <a:r>
              <a:rPr sz="1000" b="0">
                <a:solidFill>
                  <a:srgbClr val="1A5C96"/>
                </a:solidFill>
              </a:rPr>
              <a:t>Step 3</a:t>
            </a:r>
          </a:p>
        </p:txBody>
      </p:sp>
      <p:sp>
        <p:nvSpPr>
          <p:cNvPr id="39" name="TextBox 38"/>
          <p:cNvSpPr txBox="1"/>
          <p:nvPr/>
        </p:nvSpPr>
        <p:spPr>
          <a:xfrm>
            <a:off x="7772400" y="2971800"/>
            <a:ext cx="1371600" cy="256032"/>
          </a:xfrm>
          <a:prstGeom prst="rect">
            <a:avLst/>
          </a:prstGeom>
          <a:noFill/>
        </p:spPr>
        <p:txBody>
          <a:bodyPr wrap="square">
            <a:spAutoFit/>
          </a:bodyPr>
          <a:lstStyle/>
          <a:p>
            <a:pPr algn="ctr"/>
            <a:r>
              <a:rPr sz="1000" b="0">
                <a:solidFill>
                  <a:srgbClr val="1A5C96"/>
                </a:solidFill>
              </a:rPr>
              <a:t>Step 4</a:t>
            </a:r>
          </a:p>
        </p:txBody>
      </p:sp>
      <p:sp>
        <p:nvSpPr>
          <p:cNvPr id="40" name="TextBox 39"/>
          <p:cNvSpPr txBox="1"/>
          <p:nvPr/>
        </p:nvSpPr>
        <p:spPr>
          <a:xfrm>
            <a:off x="10195560" y="2971800"/>
            <a:ext cx="1371600" cy="256032"/>
          </a:xfrm>
          <a:prstGeom prst="rect">
            <a:avLst/>
          </a:prstGeom>
          <a:noFill/>
        </p:spPr>
        <p:txBody>
          <a:bodyPr wrap="square">
            <a:spAutoFit/>
          </a:bodyPr>
          <a:lstStyle/>
          <a:p>
            <a:pPr algn="ctr"/>
            <a:r>
              <a:rPr sz="1000" b="0">
                <a:solidFill>
                  <a:srgbClr val="1A5C96"/>
                </a:solidFill>
              </a:rPr>
              <a:t>Step 5</a:t>
            </a:r>
          </a:p>
        </p:txBody>
      </p:sp>
      <p:sp>
        <p:nvSpPr>
          <p:cNvPr id="41" name="Rectangle 40"/>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565392"/>
            <a:ext cx="11247120" cy="274320"/>
          </a:xfrm>
          <a:prstGeom prst="rect">
            <a:avLst/>
          </a:prstGeom>
          <a:noFill/>
        </p:spPr>
        <p:txBody>
          <a:bodyPr wrap="square">
            <a:spAutoFit/>
          </a:bodyPr>
          <a:lstStyle/>
          <a:p>
            <a:pPr algn="ctr"/>
            <a:r>
              <a:rPr sz="1200" b="0">
                <a:solidFill>
                  <a:srgbClr val="FFFFFF"/>
                </a:solidFill>
              </a:rPr>
              <a:t>k-Skip: PINN predicts T over k FEM steps — reduces supervision cost up to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k-Skip Framework</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FEM call reduction via temporal window skipping</a:t>
            </a:r>
          </a:p>
        </p:txBody>
      </p:sp>
      <p:sp>
        <p:nvSpPr>
          <p:cNvPr id="6" name="Rectangle 5"/>
          <p:cNvSpPr/>
          <p:nvPr/>
        </p:nvSpPr>
        <p:spPr>
          <a:xfrm>
            <a:off x="0" y="594360"/>
            <a:ext cx="12188952" cy="626364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k-Skip Framework</a:t>
            </a:r>
          </a:p>
        </p:txBody>
      </p:sp>
      <p:sp>
        <p:nvSpPr>
          <p:cNvPr id="9" name="TextBox 8"/>
          <p:cNvSpPr txBox="1"/>
          <p:nvPr/>
        </p:nvSpPr>
        <p:spPr>
          <a:xfrm>
            <a:off x="365760" y="594360"/>
            <a:ext cx="11430000" cy="320040"/>
          </a:xfrm>
          <a:prstGeom prst="rect">
            <a:avLst/>
          </a:prstGeom>
          <a:noFill/>
        </p:spPr>
        <p:txBody>
          <a:bodyPr wrap="square">
            <a:spAutoFit/>
          </a:bodyPr>
          <a:lstStyle/>
          <a:p>
            <a:pPr algn="l"/>
            <a:r>
              <a:rPr sz="1300" b="0">
                <a:solidFill>
                  <a:srgbClr val="CCD1D9"/>
                </a:solidFill>
              </a:rPr>
              <a:t>FEM call reduction via temporal window skipping</a:t>
            </a:r>
          </a:p>
        </p:txBody>
      </p:sp>
      <p:sp>
        <p:nvSpPr>
          <p:cNvPr id="10" name="Rectangle 9"/>
          <p:cNvSpPr/>
          <p:nvPr/>
        </p:nvSpPr>
        <p:spPr>
          <a:xfrm>
            <a:off x="274320" y="960120"/>
            <a:ext cx="5029200" cy="53949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005840"/>
            <a:ext cx="4663440" cy="347472"/>
          </a:xfrm>
          <a:prstGeom prst="rect">
            <a:avLst/>
          </a:prstGeom>
          <a:noFill/>
        </p:spPr>
        <p:txBody>
          <a:bodyPr wrap="square">
            <a:spAutoFit/>
          </a:bodyPr>
          <a:lstStyle/>
          <a:p>
            <a:pPr algn="l"/>
            <a:r>
              <a:rPr sz="1400" b="1">
                <a:solidFill>
                  <a:srgbClr val="1C3557"/>
                </a:solidFill>
              </a:rPr>
              <a:t>k-Skip Parameters</a:t>
            </a:r>
          </a:p>
        </p:txBody>
      </p:sp>
      <p:sp>
        <p:nvSpPr>
          <p:cNvPr id="12" name="Rectangle 11"/>
          <p:cNvSpPr/>
          <p:nvPr/>
        </p:nvSpPr>
        <p:spPr>
          <a:xfrm>
            <a:off x="384048" y="1417320"/>
            <a:ext cx="640080" cy="3657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444752"/>
            <a:ext cx="566928" cy="320040"/>
          </a:xfrm>
          <a:prstGeom prst="rect">
            <a:avLst/>
          </a:prstGeom>
          <a:noFill/>
        </p:spPr>
        <p:txBody>
          <a:bodyPr wrap="square">
            <a:spAutoFit/>
          </a:bodyPr>
          <a:lstStyle/>
          <a:p>
            <a:pPr algn="ctr"/>
            <a:r>
              <a:rPr sz="1100" b="1">
                <a:solidFill>
                  <a:srgbClr val="FFFFFF"/>
                </a:solidFill>
              </a:rPr>
              <a:t>k</a:t>
            </a:r>
          </a:p>
        </p:txBody>
      </p:sp>
      <p:sp>
        <p:nvSpPr>
          <p:cNvPr id="14" name="Rectangle 13"/>
          <p:cNvSpPr/>
          <p:nvPr/>
        </p:nvSpPr>
        <p:spPr>
          <a:xfrm>
            <a:off x="1051560" y="1417320"/>
            <a:ext cx="1371600" cy="3657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1444752"/>
            <a:ext cx="1298448" cy="320040"/>
          </a:xfrm>
          <a:prstGeom prst="rect">
            <a:avLst/>
          </a:prstGeom>
          <a:noFill/>
        </p:spPr>
        <p:txBody>
          <a:bodyPr wrap="square">
            <a:spAutoFit/>
          </a:bodyPr>
          <a:lstStyle/>
          <a:p>
            <a:pPr algn="ctr"/>
            <a:r>
              <a:rPr sz="1100" b="1">
                <a:solidFill>
                  <a:srgbClr val="FFFFFF"/>
                </a:solidFill>
              </a:rPr>
              <a:t>Δt_window (s)</a:t>
            </a:r>
          </a:p>
        </p:txBody>
      </p:sp>
      <p:sp>
        <p:nvSpPr>
          <p:cNvPr id="16" name="Rectangle 15"/>
          <p:cNvSpPr/>
          <p:nvPr/>
        </p:nvSpPr>
        <p:spPr>
          <a:xfrm>
            <a:off x="2450592" y="1417320"/>
            <a:ext cx="1371600" cy="3657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78024" y="1444752"/>
            <a:ext cx="1298448" cy="320040"/>
          </a:xfrm>
          <a:prstGeom prst="rect">
            <a:avLst/>
          </a:prstGeom>
          <a:noFill/>
        </p:spPr>
        <p:txBody>
          <a:bodyPr wrap="square">
            <a:spAutoFit/>
          </a:bodyPr>
          <a:lstStyle/>
          <a:p>
            <a:pPr algn="ctr"/>
            <a:r>
              <a:rPr sz="1100" b="1">
                <a:solidFill>
                  <a:srgbClr val="FFFFFF"/>
                </a:solidFill>
              </a:rPr>
              <a:t>FEM Windows</a:t>
            </a:r>
          </a:p>
        </p:txBody>
      </p:sp>
      <p:sp>
        <p:nvSpPr>
          <p:cNvPr id="18" name="Rectangle 17"/>
          <p:cNvSpPr/>
          <p:nvPr/>
        </p:nvSpPr>
        <p:spPr>
          <a:xfrm>
            <a:off x="3849624" y="1417320"/>
            <a:ext cx="1280160" cy="3657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77056" y="1444752"/>
            <a:ext cx="1207007" cy="320040"/>
          </a:xfrm>
          <a:prstGeom prst="rect">
            <a:avLst/>
          </a:prstGeom>
          <a:noFill/>
        </p:spPr>
        <p:txBody>
          <a:bodyPr wrap="square">
            <a:spAutoFit/>
          </a:bodyPr>
          <a:lstStyle/>
          <a:p>
            <a:pPr algn="ctr"/>
            <a:r>
              <a:rPr sz="1100" b="1">
                <a:solidFill>
                  <a:srgbClr val="FFFFFF"/>
                </a:solidFill>
              </a:rPr>
              <a:t>FEM Calls↓</a:t>
            </a:r>
          </a:p>
        </p:txBody>
      </p:sp>
      <p:sp>
        <p:nvSpPr>
          <p:cNvPr id="20" name="Rectangle 19"/>
          <p:cNvSpPr/>
          <p:nvPr/>
        </p:nvSpPr>
        <p:spPr>
          <a:xfrm>
            <a:off x="5157216" y="1417320"/>
            <a:ext cx="1097280" cy="3657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84648" y="1444752"/>
            <a:ext cx="1024127" cy="320040"/>
          </a:xfrm>
          <a:prstGeom prst="rect">
            <a:avLst/>
          </a:prstGeom>
          <a:noFill/>
        </p:spPr>
        <p:txBody>
          <a:bodyPr wrap="square">
            <a:spAutoFit/>
          </a:bodyPr>
          <a:lstStyle/>
          <a:p>
            <a:pPr algn="ctr"/>
            <a:r>
              <a:rPr sz="1100" b="1">
                <a:solidFill>
                  <a:srgbClr val="FFFFFF"/>
                </a:solidFill>
              </a:rPr>
              <a:t>Speedup</a:t>
            </a:r>
          </a:p>
        </p:txBody>
      </p:sp>
      <p:sp>
        <p:nvSpPr>
          <p:cNvPr id="22" name="Rectangle 21"/>
          <p:cNvSpPr/>
          <p:nvPr/>
        </p:nvSpPr>
        <p:spPr>
          <a:xfrm>
            <a:off x="384048" y="1810512"/>
            <a:ext cx="64008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1856231"/>
            <a:ext cx="566928" cy="320040"/>
          </a:xfrm>
          <a:prstGeom prst="rect">
            <a:avLst/>
          </a:prstGeom>
          <a:noFill/>
        </p:spPr>
        <p:txBody>
          <a:bodyPr wrap="square">
            <a:spAutoFit/>
          </a:bodyPr>
          <a:lstStyle/>
          <a:p>
            <a:pPr algn="ctr"/>
            <a:r>
              <a:rPr sz="1200" b="0">
                <a:solidFill>
                  <a:srgbClr val="444444"/>
                </a:solidFill>
              </a:rPr>
              <a:t>1</a:t>
            </a:r>
          </a:p>
        </p:txBody>
      </p:sp>
      <p:sp>
        <p:nvSpPr>
          <p:cNvPr id="24" name="Rectangle 23"/>
          <p:cNvSpPr/>
          <p:nvPr/>
        </p:nvSpPr>
        <p:spPr>
          <a:xfrm>
            <a:off x="1051560" y="1810512"/>
            <a:ext cx="137160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8992" y="1856231"/>
            <a:ext cx="1298448" cy="320040"/>
          </a:xfrm>
          <a:prstGeom prst="rect">
            <a:avLst/>
          </a:prstGeom>
          <a:noFill/>
        </p:spPr>
        <p:txBody>
          <a:bodyPr wrap="square">
            <a:spAutoFit/>
          </a:bodyPr>
          <a:lstStyle/>
          <a:p>
            <a:pPr algn="ctr"/>
            <a:r>
              <a:rPr sz="1200" b="0">
                <a:solidFill>
                  <a:srgbClr val="444444"/>
                </a:solidFill>
              </a:rPr>
              <a:t>1.5</a:t>
            </a:r>
          </a:p>
        </p:txBody>
      </p:sp>
      <p:sp>
        <p:nvSpPr>
          <p:cNvPr id="26" name="Rectangle 25"/>
          <p:cNvSpPr/>
          <p:nvPr/>
        </p:nvSpPr>
        <p:spPr>
          <a:xfrm>
            <a:off x="2450592" y="1810512"/>
            <a:ext cx="137160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78024" y="1856231"/>
            <a:ext cx="1298448" cy="320040"/>
          </a:xfrm>
          <a:prstGeom prst="rect">
            <a:avLst/>
          </a:prstGeom>
          <a:noFill/>
        </p:spPr>
        <p:txBody>
          <a:bodyPr wrap="square">
            <a:spAutoFit/>
          </a:bodyPr>
          <a:lstStyle/>
          <a:p>
            <a:pPr algn="ctr"/>
            <a:r>
              <a:rPr sz="1200" b="0">
                <a:solidFill>
                  <a:srgbClr val="444444"/>
                </a:solidFill>
              </a:rPr>
              <a:t>20</a:t>
            </a:r>
          </a:p>
        </p:txBody>
      </p:sp>
      <p:sp>
        <p:nvSpPr>
          <p:cNvPr id="28" name="Rectangle 27"/>
          <p:cNvSpPr/>
          <p:nvPr/>
        </p:nvSpPr>
        <p:spPr>
          <a:xfrm>
            <a:off x="3849624" y="1810512"/>
            <a:ext cx="128016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77056" y="1856231"/>
            <a:ext cx="1207007" cy="320040"/>
          </a:xfrm>
          <a:prstGeom prst="rect">
            <a:avLst/>
          </a:prstGeom>
          <a:noFill/>
        </p:spPr>
        <p:txBody>
          <a:bodyPr wrap="square">
            <a:spAutoFit/>
          </a:bodyPr>
          <a:lstStyle/>
          <a:p>
            <a:pPr algn="ctr"/>
            <a:r>
              <a:rPr sz="1200" b="0">
                <a:solidFill>
                  <a:srgbClr val="444444"/>
                </a:solidFill>
              </a:rPr>
              <a:t>1.0×</a:t>
            </a:r>
          </a:p>
        </p:txBody>
      </p:sp>
      <p:sp>
        <p:nvSpPr>
          <p:cNvPr id="30" name="Rectangle 29"/>
          <p:cNvSpPr/>
          <p:nvPr/>
        </p:nvSpPr>
        <p:spPr>
          <a:xfrm>
            <a:off x="5157216" y="1810512"/>
            <a:ext cx="109728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84648" y="1856231"/>
            <a:ext cx="1024127" cy="320040"/>
          </a:xfrm>
          <a:prstGeom prst="rect">
            <a:avLst/>
          </a:prstGeom>
          <a:noFill/>
        </p:spPr>
        <p:txBody>
          <a:bodyPr wrap="square">
            <a:spAutoFit/>
          </a:bodyPr>
          <a:lstStyle/>
          <a:p>
            <a:pPr algn="ctr"/>
            <a:r>
              <a:rPr sz="1200" b="0">
                <a:solidFill>
                  <a:srgbClr val="444444"/>
                </a:solidFill>
              </a:rPr>
              <a:t>baseline</a:t>
            </a:r>
          </a:p>
        </p:txBody>
      </p:sp>
      <p:sp>
        <p:nvSpPr>
          <p:cNvPr id="32" name="Rectangle 31"/>
          <p:cNvSpPr/>
          <p:nvPr/>
        </p:nvSpPr>
        <p:spPr>
          <a:xfrm>
            <a:off x="384048" y="2249424"/>
            <a:ext cx="64008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2295144"/>
            <a:ext cx="566928" cy="320040"/>
          </a:xfrm>
          <a:prstGeom prst="rect">
            <a:avLst/>
          </a:prstGeom>
          <a:noFill/>
        </p:spPr>
        <p:txBody>
          <a:bodyPr wrap="square">
            <a:spAutoFit/>
          </a:bodyPr>
          <a:lstStyle/>
          <a:p>
            <a:pPr algn="ctr"/>
            <a:r>
              <a:rPr sz="1200" b="0">
                <a:solidFill>
                  <a:srgbClr val="444444"/>
                </a:solidFill>
              </a:rPr>
              <a:t>2</a:t>
            </a:r>
          </a:p>
        </p:txBody>
      </p:sp>
      <p:sp>
        <p:nvSpPr>
          <p:cNvPr id="34" name="Rectangle 33"/>
          <p:cNvSpPr/>
          <p:nvPr/>
        </p:nvSpPr>
        <p:spPr>
          <a:xfrm>
            <a:off x="1051560" y="2249424"/>
            <a:ext cx="137160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8992" y="2295144"/>
            <a:ext cx="1298448" cy="320040"/>
          </a:xfrm>
          <a:prstGeom prst="rect">
            <a:avLst/>
          </a:prstGeom>
          <a:noFill/>
        </p:spPr>
        <p:txBody>
          <a:bodyPr wrap="square">
            <a:spAutoFit/>
          </a:bodyPr>
          <a:lstStyle/>
          <a:p>
            <a:pPr algn="ctr"/>
            <a:r>
              <a:rPr sz="1200" b="0">
                <a:solidFill>
                  <a:srgbClr val="444444"/>
                </a:solidFill>
              </a:rPr>
              <a:t>3.0</a:t>
            </a:r>
          </a:p>
        </p:txBody>
      </p:sp>
      <p:sp>
        <p:nvSpPr>
          <p:cNvPr id="36" name="Rectangle 35"/>
          <p:cNvSpPr/>
          <p:nvPr/>
        </p:nvSpPr>
        <p:spPr>
          <a:xfrm>
            <a:off x="2450592" y="2249424"/>
            <a:ext cx="137160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478024" y="2295144"/>
            <a:ext cx="1298448" cy="320040"/>
          </a:xfrm>
          <a:prstGeom prst="rect">
            <a:avLst/>
          </a:prstGeom>
          <a:noFill/>
        </p:spPr>
        <p:txBody>
          <a:bodyPr wrap="square">
            <a:spAutoFit/>
          </a:bodyPr>
          <a:lstStyle/>
          <a:p>
            <a:pPr algn="ctr"/>
            <a:r>
              <a:rPr sz="1200" b="0">
                <a:solidFill>
                  <a:srgbClr val="444444"/>
                </a:solidFill>
              </a:rPr>
              <a:t>10</a:t>
            </a:r>
          </a:p>
        </p:txBody>
      </p:sp>
      <p:sp>
        <p:nvSpPr>
          <p:cNvPr id="38" name="Rectangle 37"/>
          <p:cNvSpPr/>
          <p:nvPr/>
        </p:nvSpPr>
        <p:spPr>
          <a:xfrm>
            <a:off x="3849624" y="2249424"/>
            <a:ext cx="128016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77056" y="2295144"/>
            <a:ext cx="1207007" cy="320040"/>
          </a:xfrm>
          <a:prstGeom prst="rect">
            <a:avLst/>
          </a:prstGeom>
          <a:noFill/>
        </p:spPr>
        <p:txBody>
          <a:bodyPr wrap="square">
            <a:spAutoFit/>
          </a:bodyPr>
          <a:lstStyle/>
          <a:p>
            <a:pPr algn="ctr"/>
            <a:r>
              <a:rPr sz="1200" b="0">
                <a:solidFill>
                  <a:srgbClr val="444444"/>
                </a:solidFill>
              </a:rPr>
              <a:t>2.0×</a:t>
            </a:r>
          </a:p>
        </p:txBody>
      </p:sp>
      <p:sp>
        <p:nvSpPr>
          <p:cNvPr id="40" name="Rectangle 39"/>
          <p:cNvSpPr/>
          <p:nvPr/>
        </p:nvSpPr>
        <p:spPr>
          <a:xfrm>
            <a:off x="5157216" y="2249424"/>
            <a:ext cx="109728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84648" y="2295144"/>
            <a:ext cx="1024127" cy="320040"/>
          </a:xfrm>
          <a:prstGeom prst="rect">
            <a:avLst/>
          </a:prstGeom>
          <a:noFill/>
        </p:spPr>
        <p:txBody>
          <a:bodyPr wrap="square">
            <a:spAutoFit/>
          </a:bodyPr>
          <a:lstStyle/>
          <a:p>
            <a:pPr algn="ctr"/>
            <a:r>
              <a:rPr sz="1200" b="0">
                <a:solidFill>
                  <a:srgbClr val="444444"/>
                </a:solidFill>
              </a:rPr>
              <a:t>↑ fast</a:t>
            </a:r>
          </a:p>
        </p:txBody>
      </p:sp>
      <p:sp>
        <p:nvSpPr>
          <p:cNvPr id="42" name="Rectangle 41"/>
          <p:cNvSpPr/>
          <p:nvPr/>
        </p:nvSpPr>
        <p:spPr>
          <a:xfrm>
            <a:off x="384048" y="2688336"/>
            <a:ext cx="64008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 y="2734056"/>
            <a:ext cx="566928" cy="320040"/>
          </a:xfrm>
          <a:prstGeom prst="rect">
            <a:avLst/>
          </a:prstGeom>
          <a:noFill/>
        </p:spPr>
        <p:txBody>
          <a:bodyPr wrap="square">
            <a:spAutoFit/>
          </a:bodyPr>
          <a:lstStyle/>
          <a:p>
            <a:pPr algn="ctr"/>
            <a:r>
              <a:rPr sz="1200" b="0">
                <a:solidFill>
                  <a:srgbClr val="444444"/>
                </a:solidFill>
              </a:rPr>
              <a:t>3</a:t>
            </a:r>
          </a:p>
        </p:txBody>
      </p:sp>
      <p:sp>
        <p:nvSpPr>
          <p:cNvPr id="44" name="Rectangle 43"/>
          <p:cNvSpPr/>
          <p:nvPr/>
        </p:nvSpPr>
        <p:spPr>
          <a:xfrm>
            <a:off x="1051560" y="2688336"/>
            <a:ext cx="137160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78992" y="2734056"/>
            <a:ext cx="1298448" cy="320040"/>
          </a:xfrm>
          <a:prstGeom prst="rect">
            <a:avLst/>
          </a:prstGeom>
          <a:noFill/>
        </p:spPr>
        <p:txBody>
          <a:bodyPr wrap="square">
            <a:spAutoFit/>
          </a:bodyPr>
          <a:lstStyle/>
          <a:p>
            <a:pPr algn="ctr"/>
            <a:r>
              <a:rPr sz="1200" b="0">
                <a:solidFill>
                  <a:srgbClr val="444444"/>
                </a:solidFill>
              </a:rPr>
              <a:t>4.5</a:t>
            </a:r>
          </a:p>
        </p:txBody>
      </p:sp>
      <p:sp>
        <p:nvSpPr>
          <p:cNvPr id="46" name="Rectangle 45"/>
          <p:cNvSpPr/>
          <p:nvPr/>
        </p:nvSpPr>
        <p:spPr>
          <a:xfrm>
            <a:off x="2450592" y="2688336"/>
            <a:ext cx="137160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478024" y="2734056"/>
            <a:ext cx="1298448" cy="320040"/>
          </a:xfrm>
          <a:prstGeom prst="rect">
            <a:avLst/>
          </a:prstGeom>
          <a:noFill/>
        </p:spPr>
        <p:txBody>
          <a:bodyPr wrap="square">
            <a:spAutoFit/>
          </a:bodyPr>
          <a:lstStyle/>
          <a:p>
            <a:pPr algn="ctr"/>
            <a:r>
              <a:rPr sz="1200" b="0">
                <a:solidFill>
                  <a:srgbClr val="444444"/>
                </a:solidFill>
              </a:rPr>
              <a:t>7</a:t>
            </a:r>
          </a:p>
        </p:txBody>
      </p:sp>
      <p:sp>
        <p:nvSpPr>
          <p:cNvPr id="48" name="Rectangle 47"/>
          <p:cNvSpPr/>
          <p:nvPr/>
        </p:nvSpPr>
        <p:spPr>
          <a:xfrm>
            <a:off x="3849624" y="2688336"/>
            <a:ext cx="128016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77056" y="2734056"/>
            <a:ext cx="1207007" cy="320040"/>
          </a:xfrm>
          <a:prstGeom prst="rect">
            <a:avLst/>
          </a:prstGeom>
          <a:noFill/>
        </p:spPr>
        <p:txBody>
          <a:bodyPr wrap="square">
            <a:spAutoFit/>
          </a:bodyPr>
          <a:lstStyle/>
          <a:p>
            <a:pPr algn="ctr"/>
            <a:r>
              <a:rPr sz="1200" b="0">
                <a:solidFill>
                  <a:srgbClr val="2E7D32"/>
                </a:solidFill>
              </a:rPr>
              <a:t>2.9×</a:t>
            </a:r>
          </a:p>
        </p:txBody>
      </p:sp>
      <p:sp>
        <p:nvSpPr>
          <p:cNvPr id="50" name="Rectangle 49"/>
          <p:cNvSpPr/>
          <p:nvPr/>
        </p:nvSpPr>
        <p:spPr>
          <a:xfrm>
            <a:off x="5157216" y="2688336"/>
            <a:ext cx="109728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84648" y="2734056"/>
            <a:ext cx="1024127" cy="320040"/>
          </a:xfrm>
          <a:prstGeom prst="rect">
            <a:avLst/>
          </a:prstGeom>
          <a:noFill/>
        </p:spPr>
        <p:txBody>
          <a:bodyPr wrap="square">
            <a:spAutoFit/>
          </a:bodyPr>
          <a:lstStyle/>
          <a:p>
            <a:pPr algn="ctr"/>
            <a:r>
              <a:rPr sz="1200" b="0">
                <a:solidFill>
                  <a:srgbClr val="444444"/>
                </a:solidFill>
              </a:rPr>
              <a:t>↑↑ fast</a:t>
            </a:r>
          </a:p>
        </p:txBody>
      </p:sp>
      <p:sp>
        <p:nvSpPr>
          <p:cNvPr id="52" name="Rectangle 51"/>
          <p:cNvSpPr/>
          <p:nvPr/>
        </p:nvSpPr>
        <p:spPr>
          <a:xfrm>
            <a:off x="384048" y="3127248"/>
            <a:ext cx="64008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1480" y="3172968"/>
            <a:ext cx="566928" cy="320040"/>
          </a:xfrm>
          <a:prstGeom prst="rect">
            <a:avLst/>
          </a:prstGeom>
          <a:noFill/>
        </p:spPr>
        <p:txBody>
          <a:bodyPr wrap="square">
            <a:spAutoFit/>
          </a:bodyPr>
          <a:lstStyle/>
          <a:p>
            <a:pPr algn="ctr"/>
            <a:r>
              <a:rPr sz="1200" b="0">
                <a:solidFill>
                  <a:srgbClr val="444444"/>
                </a:solidFill>
              </a:rPr>
              <a:t>4</a:t>
            </a:r>
          </a:p>
        </p:txBody>
      </p:sp>
      <p:sp>
        <p:nvSpPr>
          <p:cNvPr id="54" name="Rectangle 53"/>
          <p:cNvSpPr/>
          <p:nvPr/>
        </p:nvSpPr>
        <p:spPr>
          <a:xfrm>
            <a:off x="1051560" y="3127248"/>
            <a:ext cx="137160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78992" y="3172968"/>
            <a:ext cx="1298448" cy="320040"/>
          </a:xfrm>
          <a:prstGeom prst="rect">
            <a:avLst/>
          </a:prstGeom>
          <a:noFill/>
        </p:spPr>
        <p:txBody>
          <a:bodyPr wrap="square">
            <a:spAutoFit/>
          </a:bodyPr>
          <a:lstStyle/>
          <a:p>
            <a:pPr algn="ctr"/>
            <a:r>
              <a:rPr sz="1200" b="0">
                <a:solidFill>
                  <a:srgbClr val="444444"/>
                </a:solidFill>
              </a:rPr>
              <a:t>6.0</a:t>
            </a:r>
          </a:p>
        </p:txBody>
      </p:sp>
      <p:sp>
        <p:nvSpPr>
          <p:cNvPr id="56" name="Rectangle 55"/>
          <p:cNvSpPr/>
          <p:nvPr/>
        </p:nvSpPr>
        <p:spPr>
          <a:xfrm>
            <a:off x="2450592" y="3127248"/>
            <a:ext cx="137160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78024" y="3172968"/>
            <a:ext cx="1298448" cy="320040"/>
          </a:xfrm>
          <a:prstGeom prst="rect">
            <a:avLst/>
          </a:prstGeom>
          <a:noFill/>
        </p:spPr>
        <p:txBody>
          <a:bodyPr wrap="square">
            <a:spAutoFit/>
          </a:bodyPr>
          <a:lstStyle/>
          <a:p>
            <a:pPr algn="ctr"/>
            <a:r>
              <a:rPr sz="1200" b="0">
                <a:solidFill>
                  <a:srgbClr val="444444"/>
                </a:solidFill>
              </a:rPr>
              <a:t>5</a:t>
            </a:r>
          </a:p>
        </p:txBody>
      </p:sp>
      <p:sp>
        <p:nvSpPr>
          <p:cNvPr id="58" name="Rectangle 57"/>
          <p:cNvSpPr/>
          <p:nvPr/>
        </p:nvSpPr>
        <p:spPr>
          <a:xfrm>
            <a:off x="3849624" y="3127248"/>
            <a:ext cx="128016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77056" y="3172968"/>
            <a:ext cx="1207007" cy="320040"/>
          </a:xfrm>
          <a:prstGeom prst="rect">
            <a:avLst/>
          </a:prstGeom>
          <a:noFill/>
        </p:spPr>
        <p:txBody>
          <a:bodyPr wrap="square">
            <a:spAutoFit/>
          </a:bodyPr>
          <a:lstStyle/>
          <a:p>
            <a:pPr algn="ctr"/>
            <a:r>
              <a:rPr sz="1200" b="0">
                <a:solidFill>
                  <a:srgbClr val="2E7D32"/>
                </a:solidFill>
              </a:rPr>
              <a:t>4.0×</a:t>
            </a:r>
          </a:p>
        </p:txBody>
      </p:sp>
      <p:sp>
        <p:nvSpPr>
          <p:cNvPr id="60" name="Rectangle 59"/>
          <p:cNvSpPr/>
          <p:nvPr/>
        </p:nvSpPr>
        <p:spPr>
          <a:xfrm>
            <a:off x="5157216" y="3127248"/>
            <a:ext cx="1097280" cy="411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184648" y="3172968"/>
            <a:ext cx="1024127" cy="320040"/>
          </a:xfrm>
          <a:prstGeom prst="rect">
            <a:avLst/>
          </a:prstGeom>
          <a:noFill/>
        </p:spPr>
        <p:txBody>
          <a:bodyPr wrap="square">
            <a:spAutoFit/>
          </a:bodyPr>
          <a:lstStyle/>
          <a:p>
            <a:pPr algn="ctr"/>
            <a:r>
              <a:rPr sz="1200" b="0">
                <a:solidFill>
                  <a:srgbClr val="444444"/>
                </a:solidFill>
              </a:rPr>
              <a:t>↑↑↑ fast</a:t>
            </a:r>
          </a:p>
        </p:txBody>
      </p:sp>
      <p:sp>
        <p:nvSpPr>
          <p:cNvPr id="62" name="Rectangle 61"/>
          <p:cNvSpPr/>
          <p:nvPr/>
        </p:nvSpPr>
        <p:spPr>
          <a:xfrm>
            <a:off x="384048" y="3566160"/>
            <a:ext cx="64008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11480" y="3611879"/>
            <a:ext cx="566928" cy="320040"/>
          </a:xfrm>
          <a:prstGeom prst="rect">
            <a:avLst/>
          </a:prstGeom>
          <a:noFill/>
        </p:spPr>
        <p:txBody>
          <a:bodyPr wrap="square">
            <a:spAutoFit/>
          </a:bodyPr>
          <a:lstStyle/>
          <a:p>
            <a:pPr algn="ctr"/>
            <a:r>
              <a:rPr sz="1200" b="0">
                <a:solidFill>
                  <a:srgbClr val="444444"/>
                </a:solidFill>
              </a:rPr>
              <a:t>5</a:t>
            </a:r>
          </a:p>
        </p:txBody>
      </p:sp>
      <p:sp>
        <p:nvSpPr>
          <p:cNvPr id="64" name="Rectangle 63"/>
          <p:cNvSpPr/>
          <p:nvPr/>
        </p:nvSpPr>
        <p:spPr>
          <a:xfrm>
            <a:off x="1051560" y="3566160"/>
            <a:ext cx="137160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78992" y="3611879"/>
            <a:ext cx="1298448" cy="320040"/>
          </a:xfrm>
          <a:prstGeom prst="rect">
            <a:avLst/>
          </a:prstGeom>
          <a:noFill/>
        </p:spPr>
        <p:txBody>
          <a:bodyPr wrap="square">
            <a:spAutoFit/>
          </a:bodyPr>
          <a:lstStyle/>
          <a:p>
            <a:pPr algn="ctr"/>
            <a:r>
              <a:rPr sz="1200" b="0">
                <a:solidFill>
                  <a:srgbClr val="444444"/>
                </a:solidFill>
              </a:rPr>
              <a:t>7.5</a:t>
            </a:r>
          </a:p>
        </p:txBody>
      </p:sp>
      <p:sp>
        <p:nvSpPr>
          <p:cNvPr id="66" name="Rectangle 65"/>
          <p:cNvSpPr/>
          <p:nvPr/>
        </p:nvSpPr>
        <p:spPr>
          <a:xfrm>
            <a:off x="2450592" y="3566160"/>
            <a:ext cx="137160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478024" y="3611879"/>
            <a:ext cx="1298448" cy="320040"/>
          </a:xfrm>
          <a:prstGeom prst="rect">
            <a:avLst/>
          </a:prstGeom>
          <a:noFill/>
        </p:spPr>
        <p:txBody>
          <a:bodyPr wrap="square">
            <a:spAutoFit/>
          </a:bodyPr>
          <a:lstStyle/>
          <a:p>
            <a:pPr algn="ctr"/>
            <a:r>
              <a:rPr sz="1200" b="0">
                <a:solidFill>
                  <a:srgbClr val="444444"/>
                </a:solidFill>
              </a:rPr>
              <a:t>4</a:t>
            </a:r>
          </a:p>
        </p:txBody>
      </p:sp>
      <p:sp>
        <p:nvSpPr>
          <p:cNvPr id="68" name="Rectangle 67"/>
          <p:cNvSpPr/>
          <p:nvPr/>
        </p:nvSpPr>
        <p:spPr>
          <a:xfrm>
            <a:off x="3849624" y="3566160"/>
            <a:ext cx="128016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877056" y="3611879"/>
            <a:ext cx="1207007" cy="320040"/>
          </a:xfrm>
          <a:prstGeom prst="rect">
            <a:avLst/>
          </a:prstGeom>
          <a:noFill/>
        </p:spPr>
        <p:txBody>
          <a:bodyPr wrap="square">
            <a:spAutoFit/>
          </a:bodyPr>
          <a:lstStyle/>
          <a:p>
            <a:pPr algn="ctr"/>
            <a:r>
              <a:rPr sz="1200" b="0">
                <a:solidFill>
                  <a:srgbClr val="2E7D32"/>
                </a:solidFill>
              </a:rPr>
              <a:t>5.0×</a:t>
            </a:r>
          </a:p>
        </p:txBody>
      </p:sp>
      <p:sp>
        <p:nvSpPr>
          <p:cNvPr id="70" name="Rectangle 69"/>
          <p:cNvSpPr/>
          <p:nvPr/>
        </p:nvSpPr>
        <p:spPr>
          <a:xfrm>
            <a:off x="5157216" y="3566160"/>
            <a:ext cx="1097280" cy="41148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184648" y="3611879"/>
            <a:ext cx="1024127" cy="320040"/>
          </a:xfrm>
          <a:prstGeom prst="rect">
            <a:avLst/>
          </a:prstGeom>
          <a:noFill/>
        </p:spPr>
        <p:txBody>
          <a:bodyPr wrap="square">
            <a:spAutoFit/>
          </a:bodyPr>
          <a:lstStyle/>
          <a:p>
            <a:pPr algn="ctr"/>
            <a:r>
              <a:rPr sz="1200" b="0">
                <a:solidFill>
                  <a:srgbClr val="C62828"/>
                </a:solidFill>
              </a:rPr>
              <a:t>↑↑↑↑ max</a:t>
            </a:r>
          </a:p>
        </p:txBody>
      </p:sp>
      <p:sp>
        <p:nvSpPr>
          <p:cNvPr id="72" name="Rectangle 71"/>
          <p:cNvSpPr/>
          <p:nvPr/>
        </p:nvSpPr>
        <p:spPr>
          <a:xfrm>
            <a:off x="5577840" y="960120"/>
            <a:ext cx="6309360" cy="53949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60720" y="1005840"/>
            <a:ext cx="5943600" cy="365760"/>
          </a:xfrm>
          <a:prstGeom prst="rect">
            <a:avLst/>
          </a:prstGeom>
          <a:noFill/>
        </p:spPr>
        <p:txBody>
          <a:bodyPr wrap="square">
            <a:spAutoFit/>
          </a:bodyPr>
          <a:lstStyle/>
          <a:p>
            <a:pPr algn="l"/>
            <a:r>
              <a:rPr sz="1400" b="1">
                <a:solidFill>
                  <a:srgbClr val="1C3557"/>
                </a:solidFill>
              </a:rPr>
              <a:t>IC-Consistent Output Layer</a:t>
            </a:r>
          </a:p>
        </p:txBody>
      </p:sp>
      <p:sp>
        <p:nvSpPr>
          <p:cNvPr id="74" name="TextBox 73"/>
          <p:cNvSpPr txBox="1"/>
          <p:nvPr/>
        </p:nvSpPr>
        <p:spPr>
          <a:xfrm>
            <a:off x="5760720" y="1444752"/>
            <a:ext cx="5943600" cy="502920"/>
          </a:xfrm>
          <a:prstGeom prst="rect">
            <a:avLst/>
          </a:prstGeom>
          <a:noFill/>
        </p:spPr>
        <p:txBody>
          <a:bodyPr wrap="square">
            <a:spAutoFit/>
          </a:bodyPr>
          <a:lstStyle/>
          <a:p>
            <a:pPr algn="ctr"/>
            <a:r>
              <a:rPr sz="1800" b="1">
                <a:solidFill>
                  <a:srgbClr val="1A5C96"/>
                </a:solidFill>
              </a:rPr>
              <a:t>θ̂(x,τ) = θ_ic(x) + τ · Nθ(x, τ, θ_ic)</a:t>
            </a:r>
          </a:p>
        </p:txBody>
      </p:sp>
      <p:sp>
        <p:nvSpPr>
          <p:cNvPr id="75" name="TextBox 74"/>
          <p:cNvSpPr txBox="1"/>
          <p:nvPr/>
        </p:nvSpPr>
        <p:spPr>
          <a:xfrm>
            <a:off x="5760720" y="2011680"/>
            <a:ext cx="5943600" cy="320040"/>
          </a:xfrm>
          <a:prstGeom prst="rect">
            <a:avLst/>
          </a:prstGeom>
          <a:noFill/>
        </p:spPr>
        <p:txBody>
          <a:bodyPr wrap="square">
            <a:spAutoFit/>
          </a:bodyPr>
          <a:lstStyle/>
          <a:p>
            <a:pPr algn="ctr"/>
            <a:r>
              <a:rPr sz="1100" b="0">
                <a:solidFill>
                  <a:srgbClr val="444444"/>
                </a:solidFill>
              </a:rPr>
              <a:t>τ ∈ [0,1] — normalised time within window</a:t>
            </a:r>
          </a:p>
        </p:txBody>
      </p:sp>
      <p:sp>
        <p:nvSpPr>
          <p:cNvPr id="76" name="Rectangle 75"/>
          <p:cNvSpPr/>
          <p:nvPr/>
        </p:nvSpPr>
        <p:spPr>
          <a:xfrm>
            <a:off x="5577840" y="2514600"/>
            <a:ext cx="6309360" cy="192024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760720" y="2560320"/>
            <a:ext cx="5943600" cy="320040"/>
          </a:xfrm>
          <a:prstGeom prst="rect">
            <a:avLst/>
          </a:prstGeom>
          <a:noFill/>
        </p:spPr>
        <p:txBody>
          <a:bodyPr wrap="square">
            <a:spAutoFit/>
          </a:bodyPr>
          <a:lstStyle/>
          <a:p>
            <a:pPr algn="l"/>
            <a:r>
              <a:rPr sz="1300" b="1">
                <a:solidFill>
                  <a:srgbClr val="1C3557"/>
                </a:solidFill>
              </a:rPr>
              <a:t>Loss Function</a:t>
            </a:r>
          </a:p>
        </p:txBody>
      </p:sp>
      <p:sp>
        <p:nvSpPr>
          <p:cNvPr id="78" name="TextBox 77"/>
          <p:cNvSpPr txBox="1"/>
          <p:nvPr/>
        </p:nvSpPr>
        <p:spPr>
          <a:xfrm>
            <a:off x="5760720" y="2944368"/>
            <a:ext cx="5943600" cy="457200"/>
          </a:xfrm>
          <a:prstGeom prst="rect">
            <a:avLst/>
          </a:prstGeom>
          <a:noFill/>
        </p:spPr>
        <p:txBody>
          <a:bodyPr wrap="square">
            <a:spAutoFit/>
          </a:bodyPr>
          <a:lstStyle/>
          <a:p>
            <a:pPr algn="ctr"/>
            <a:r>
              <a:rPr sz="1400" b="1">
                <a:solidFill>
                  <a:srgbClr val="1A5C96"/>
                </a:solidFill>
              </a:rPr>
              <a:t>L = λ_pde · L_pde  +  λ_bc · L_bc  +  λ_end · L_end</a:t>
            </a:r>
          </a:p>
        </p:txBody>
      </p:sp>
      <p:sp>
        <p:nvSpPr>
          <p:cNvPr id="79" name="TextBox 78"/>
          <p:cNvSpPr txBox="1"/>
          <p:nvPr/>
        </p:nvSpPr>
        <p:spPr>
          <a:xfrm>
            <a:off x="5760720" y="3474720"/>
            <a:ext cx="5943600" cy="320040"/>
          </a:xfrm>
          <a:prstGeom prst="rect">
            <a:avLst/>
          </a:prstGeom>
          <a:noFill/>
        </p:spPr>
        <p:txBody>
          <a:bodyPr wrap="square">
            <a:spAutoFit/>
          </a:bodyPr>
          <a:lstStyle/>
          <a:p>
            <a:pPr algn="ctr"/>
            <a:r>
              <a:rPr sz="1100" b="0">
                <a:solidFill>
                  <a:srgbClr val="444444"/>
                </a:solidFill>
              </a:rPr>
              <a:t>λᵢ = softplus(wᵢ)  — learned jointly with network</a:t>
            </a:r>
          </a:p>
        </p:txBody>
      </p:sp>
      <p:sp>
        <p:nvSpPr>
          <p:cNvPr id="80" name="TextBox 79"/>
          <p:cNvSpPr txBox="1"/>
          <p:nvPr/>
        </p:nvSpPr>
        <p:spPr>
          <a:xfrm>
            <a:off x="5760720" y="3822191"/>
            <a:ext cx="5943600" cy="320040"/>
          </a:xfrm>
          <a:prstGeom prst="rect">
            <a:avLst/>
          </a:prstGeom>
          <a:noFill/>
        </p:spPr>
        <p:txBody>
          <a:bodyPr wrap="square">
            <a:spAutoFit/>
          </a:bodyPr>
          <a:lstStyle/>
          <a:p>
            <a:pPr algn="ctr"/>
            <a:r>
              <a:rPr sz="1100" b="0">
                <a:solidFill>
                  <a:srgbClr val="444444"/>
                </a:solidFill>
              </a:rPr>
              <a:t>η_model = 1×10⁻³,   η_λ = 1×10⁻⁴</a:t>
            </a:r>
          </a:p>
        </p:txBody>
      </p:sp>
      <p:sp>
        <p:nvSpPr>
          <p:cNvPr id="81" name="Rectangle 80"/>
          <p:cNvSpPr/>
          <p:nvPr/>
        </p:nvSpPr>
        <p:spPr>
          <a:xfrm>
            <a:off x="5577840" y="4617720"/>
            <a:ext cx="6309360" cy="1554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760720" y="4663440"/>
            <a:ext cx="5943600" cy="320040"/>
          </a:xfrm>
          <a:prstGeom prst="rect">
            <a:avLst/>
          </a:prstGeom>
          <a:noFill/>
        </p:spPr>
        <p:txBody>
          <a:bodyPr wrap="square">
            <a:spAutoFit/>
          </a:bodyPr>
          <a:lstStyle/>
          <a:p>
            <a:pPr algn="l"/>
            <a:r>
              <a:rPr sz="1300" b="1">
                <a:solidFill>
                  <a:srgbClr val="1C3557"/>
                </a:solidFill>
              </a:rPr>
              <a:t>Fourier Feature Embedding</a:t>
            </a:r>
          </a:p>
        </p:txBody>
      </p:sp>
      <p:sp>
        <p:nvSpPr>
          <p:cNvPr id="83" name="TextBox 82"/>
          <p:cNvSpPr txBox="1"/>
          <p:nvPr/>
        </p:nvSpPr>
        <p:spPr>
          <a:xfrm>
            <a:off x="5760720" y="5029200"/>
            <a:ext cx="5943600" cy="365760"/>
          </a:xfrm>
          <a:prstGeom prst="rect">
            <a:avLst/>
          </a:prstGeom>
          <a:noFill/>
        </p:spPr>
        <p:txBody>
          <a:bodyPr wrap="square">
            <a:spAutoFit/>
          </a:bodyPr>
          <a:lstStyle/>
          <a:p>
            <a:pPr algn="ctr"/>
            <a:r>
              <a:rPr sz="1400" b="1">
                <a:solidFill>
                  <a:srgbClr val="1A5C96"/>
                </a:solidFill>
              </a:rPr>
              <a:t>γ(v) = [sin(2πBv), cos(2πBv)]</a:t>
            </a:r>
          </a:p>
        </p:txBody>
      </p:sp>
      <p:sp>
        <p:nvSpPr>
          <p:cNvPr id="84" name="TextBox 83"/>
          <p:cNvSpPr txBox="1"/>
          <p:nvPr/>
        </p:nvSpPr>
        <p:spPr>
          <a:xfrm>
            <a:off x="5760720" y="5440680"/>
            <a:ext cx="5943600" cy="320040"/>
          </a:xfrm>
          <a:prstGeom prst="rect">
            <a:avLst/>
          </a:prstGeom>
          <a:noFill/>
        </p:spPr>
        <p:txBody>
          <a:bodyPr wrap="square">
            <a:spAutoFit/>
          </a:bodyPr>
          <a:lstStyle/>
          <a:p>
            <a:pPr algn="ctr"/>
            <a:r>
              <a:rPr sz="1100" b="0">
                <a:solidFill>
                  <a:srgbClr val="444444"/>
                </a:solidFill>
              </a:rPr>
              <a:t>F=64 frequencies,  σ=1.0 (2D),  σ=1.5 (3D)</a:t>
            </a:r>
          </a:p>
        </p:txBody>
      </p:sp>
      <p:sp>
        <p:nvSpPr>
          <p:cNvPr id="85" name="Rectangle 84"/>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57200" y="6565392"/>
            <a:ext cx="11247120" cy="274320"/>
          </a:xfrm>
          <a:prstGeom prst="rect">
            <a:avLst/>
          </a:prstGeom>
          <a:noFill/>
        </p:spPr>
        <p:txBody>
          <a:bodyPr wrap="square">
            <a:spAutoFit/>
          </a:bodyPr>
          <a:lstStyle/>
          <a:p>
            <a:pPr algn="ctr"/>
            <a:r>
              <a:rPr sz="1100" b="0">
                <a:solidFill>
                  <a:srgbClr val="FFFFFF"/>
                </a:solidFill>
              </a:rPr>
              <a:t>Larger k = fewer FEM calls; IC-consistent PINN exactly satisfies initial condition every window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PINN Architecture</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IC-consistent output, Fourier embedding, self-adaptive weights</a:t>
            </a:r>
          </a:p>
        </p:txBody>
      </p:sp>
      <p:sp>
        <p:nvSpPr>
          <p:cNvPr id="6" name="Rectangle 5"/>
          <p:cNvSpPr/>
          <p:nvPr/>
        </p:nvSpPr>
        <p:spPr>
          <a:xfrm>
            <a:off x="0" y="594360"/>
            <a:ext cx="12188952" cy="626364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PINN Architecture</a:t>
            </a:r>
          </a:p>
        </p:txBody>
      </p:sp>
      <p:sp>
        <p:nvSpPr>
          <p:cNvPr id="9" name="Rectangle 8"/>
          <p:cNvSpPr/>
          <p:nvPr/>
        </p:nvSpPr>
        <p:spPr>
          <a:xfrm>
            <a:off x="320040" y="1097280"/>
            <a:ext cx="2606040" cy="228600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1143000"/>
            <a:ext cx="2423160" cy="594360"/>
          </a:xfrm>
          <a:prstGeom prst="rect">
            <a:avLst/>
          </a:prstGeom>
          <a:noFill/>
        </p:spPr>
        <p:txBody>
          <a:bodyPr wrap="square">
            <a:spAutoFit/>
          </a:bodyPr>
          <a:lstStyle/>
          <a:p>
            <a:pPr algn="ctr"/>
            <a:r>
              <a:rPr sz="1300" b="1">
                <a:solidFill>
                  <a:srgbClr val="FFFFFF"/>
                </a:solidFill>
              </a:rPr>
              <a:t>Input Layer</a:t>
            </a:r>
          </a:p>
        </p:txBody>
      </p:sp>
      <p:sp>
        <p:nvSpPr>
          <p:cNvPr id="11" name="TextBox 10"/>
          <p:cNvSpPr txBox="1"/>
          <p:nvPr/>
        </p:nvSpPr>
        <p:spPr>
          <a:xfrm>
            <a:off x="411479" y="1783080"/>
            <a:ext cx="2423160" cy="1508760"/>
          </a:xfrm>
          <a:prstGeom prst="rect">
            <a:avLst/>
          </a:prstGeom>
          <a:noFill/>
        </p:spPr>
        <p:txBody>
          <a:bodyPr wrap="square">
            <a:spAutoFit/>
          </a:bodyPr>
          <a:lstStyle/>
          <a:p>
            <a:pPr algn="ctr"/>
            <a:r>
              <a:rPr sz="1100" b="0">
                <a:solidFill>
                  <a:srgbClr val="FFFFFF"/>
                </a:solidFill>
              </a:rPr>
              <a:t>x, y (,z), t
+ Fourier
embedding
γ(v)</a:t>
            </a:r>
          </a:p>
        </p:txBody>
      </p:sp>
      <p:sp>
        <p:nvSpPr>
          <p:cNvPr id="12" name="Rectangle 11"/>
          <p:cNvSpPr/>
          <p:nvPr/>
        </p:nvSpPr>
        <p:spPr>
          <a:xfrm>
            <a:off x="3291840" y="1097280"/>
            <a:ext cx="2606040" cy="2286000"/>
          </a:xfrm>
          <a:prstGeom prst="rect">
            <a:avLst/>
          </a:prstGeom>
          <a:solidFill>
            <a:srgbClr val="1A5C96"/>
          </a:solidFill>
          <a:ln>
            <a:solidFill>
              <a:srgbClr val="1A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143000"/>
            <a:ext cx="2423160" cy="594360"/>
          </a:xfrm>
          <a:prstGeom prst="rect">
            <a:avLst/>
          </a:prstGeom>
          <a:noFill/>
        </p:spPr>
        <p:txBody>
          <a:bodyPr wrap="square">
            <a:spAutoFit/>
          </a:bodyPr>
          <a:lstStyle/>
          <a:p>
            <a:pPr algn="ctr"/>
            <a:r>
              <a:rPr sz="1300" b="1">
                <a:solidFill>
                  <a:srgbClr val="FFFFFF"/>
                </a:solidFill>
              </a:rPr>
              <a:t>Hidden Layers
(NAS-optimised)</a:t>
            </a:r>
          </a:p>
        </p:txBody>
      </p:sp>
      <p:sp>
        <p:nvSpPr>
          <p:cNvPr id="14" name="TextBox 13"/>
          <p:cNvSpPr txBox="1"/>
          <p:nvPr/>
        </p:nvSpPr>
        <p:spPr>
          <a:xfrm>
            <a:off x="3383280" y="1783080"/>
            <a:ext cx="2423160" cy="1508760"/>
          </a:xfrm>
          <a:prstGeom prst="rect">
            <a:avLst/>
          </a:prstGeom>
          <a:noFill/>
        </p:spPr>
        <p:txBody>
          <a:bodyPr wrap="square">
            <a:spAutoFit/>
          </a:bodyPr>
          <a:lstStyle/>
          <a:p>
            <a:pPr algn="ctr"/>
            <a:r>
              <a:rPr sz="1100" b="0">
                <a:solidFill>
                  <a:srgbClr val="FFFFFF"/>
                </a:solidFill>
              </a:rPr>
              <a:t>Depth: 2–6
Width: 16–256
Act: tanh/swish
Skip connections</a:t>
            </a:r>
          </a:p>
        </p:txBody>
      </p:sp>
      <p:sp>
        <p:nvSpPr>
          <p:cNvPr id="15" name="Rectangle 14"/>
          <p:cNvSpPr/>
          <p:nvPr/>
        </p:nvSpPr>
        <p:spPr>
          <a:xfrm>
            <a:off x="6263640" y="1097280"/>
            <a:ext cx="2606040" cy="2286000"/>
          </a:xfrm>
          <a:prstGeom prst="rect">
            <a:avLst/>
          </a:prstGeom>
          <a:solidFill>
            <a:srgbClr val="006E8A"/>
          </a:solidFill>
          <a:ln>
            <a:solidFill>
              <a:srgbClr val="006E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79" y="1143000"/>
            <a:ext cx="2423160" cy="594360"/>
          </a:xfrm>
          <a:prstGeom prst="rect">
            <a:avLst/>
          </a:prstGeom>
          <a:noFill/>
        </p:spPr>
        <p:txBody>
          <a:bodyPr wrap="square">
            <a:spAutoFit/>
          </a:bodyPr>
          <a:lstStyle/>
          <a:p>
            <a:pPr algn="ctr"/>
            <a:r>
              <a:rPr sz="1300" b="1">
                <a:solidFill>
                  <a:srgbClr val="FFFFFF"/>
                </a:solidFill>
              </a:rPr>
              <a:t>IC-Consistent
Output</a:t>
            </a:r>
          </a:p>
        </p:txBody>
      </p:sp>
      <p:sp>
        <p:nvSpPr>
          <p:cNvPr id="17" name="TextBox 16"/>
          <p:cNvSpPr txBox="1"/>
          <p:nvPr/>
        </p:nvSpPr>
        <p:spPr>
          <a:xfrm>
            <a:off x="6355079" y="1783080"/>
            <a:ext cx="2423160" cy="1508760"/>
          </a:xfrm>
          <a:prstGeom prst="rect">
            <a:avLst/>
          </a:prstGeom>
          <a:noFill/>
        </p:spPr>
        <p:txBody>
          <a:bodyPr wrap="square">
            <a:spAutoFit/>
          </a:bodyPr>
          <a:lstStyle/>
          <a:p>
            <a:pPr algn="ctr"/>
            <a:r>
              <a:rPr sz="1100" b="0">
                <a:solidFill>
                  <a:srgbClr val="FFFFFF"/>
                </a:solidFill>
              </a:rPr>
              <a:t>θ̂ = θ_ic + τ·Nθ
Exact IC at τ=0
Smooth BC
satisfaction</a:t>
            </a:r>
          </a:p>
        </p:txBody>
      </p:sp>
      <p:sp>
        <p:nvSpPr>
          <p:cNvPr id="18" name="Rectangle 17"/>
          <p:cNvSpPr/>
          <p:nvPr/>
        </p:nvSpPr>
        <p:spPr>
          <a:xfrm>
            <a:off x="9235440" y="1097280"/>
            <a:ext cx="2606040" cy="228600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1143000"/>
            <a:ext cx="2423160" cy="594360"/>
          </a:xfrm>
          <a:prstGeom prst="rect">
            <a:avLst/>
          </a:prstGeom>
          <a:noFill/>
        </p:spPr>
        <p:txBody>
          <a:bodyPr wrap="square">
            <a:spAutoFit/>
          </a:bodyPr>
          <a:lstStyle/>
          <a:p>
            <a:pPr algn="ctr"/>
            <a:r>
              <a:rPr sz="1300" b="1">
                <a:solidFill>
                  <a:srgbClr val="FFFFFF"/>
                </a:solidFill>
              </a:rPr>
              <a:t>Temperature
Prediction</a:t>
            </a:r>
          </a:p>
        </p:txBody>
      </p:sp>
      <p:sp>
        <p:nvSpPr>
          <p:cNvPr id="20" name="TextBox 19"/>
          <p:cNvSpPr txBox="1"/>
          <p:nvPr/>
        </p:nvSpPr>
        <p:spPr>
          <a:xfrm>
            <a:off x="9326880" y="1783080"/>
            <a:ext cx="2423160" cy="1508760"/>
          </a:xfrm>
          <a:prstGeom prst="rect">
            <a:avLst/>
          </a:prstGeom>
          <a:noFill/>
        </p:spPr>
        <p:txBody>
          <a:bodyPr wrap="square">
            <a:spAutoFit/>
          </a:bodyPr>
          <a:lstStyle/>
          <a:p>
            <a:pPr algn="ctr"/>
            <a:r>
              <a:rPr sz="1100" b="0">
                <a:solidFill>
                  <a:srgbClr val="FFFFFF"/>
                </a:solidFill>
              </a:rPr>
              <a:t>T(x,y,z,t)
in °C
L2 &lt; 3% (2D)
L2 &lt; 7% (3D)</a:t>
            </a:r>
          </a:p>
        </p:txBody>
      </p:sp>
      <p:sp>
        <p:nvSpPr>
          <p:cNvPr id="21" name="TextBox 20"/>
          <p:cNvSpPr txBox="1"/>
          <p:nvPr/>
        </p:nvSpPr>
        <p:spPr>
          <a:xfrm>
            <a:off x="2999232" y="1920240"/>
            <a:ext cx="292608" cy="548640"/>
          </a:xfrm>
          <a:prstGeom prst="rect">
            <a:avLst/>
          </a:prstGeom>
          <a:noFill/>
        </p:spPr>
        <p:txBody>
          <a:bodyPr wrap="square">
            <a:spAutoFit/>
          </a:bodyPr>
          <a:lstStyle/>
          <a:p>
            <a:pPr algn="ctr"/>
            <a:r>
              <a:rPr sz="2600" b="1">
                <a:solidFill>
                  <a:srgbClr val="1C3557"/>
                </a:solidFill>
              </a:rPr>
              <a:t>→</a:t>
            </a:r>
          </a:p>
        </p:txBody>
      </p:sp>
      <p:sp>
        <p:nvSpPr>
          <p:cNvPr id="22" name="TextBox 21"/>
          <p:cNvSpPr txBox="1"/>
          <p:nvPr/>
        </p:nvSpPr>
        <p:spPr>
          <a:xfrm>
            <a:off x="5971032" y="1920240"/>
            <a:ext cx="292608" cy="548640"/>
          </a:xfrm>
          <a:prstGeom prst="rect">
            <a:avLst/>
          </a:prstGeom>
          <a:noFill/>
        </p:spPr>
        <p:txBody>
          <a:bodyPr wrap="square">
            <a:spAutoFit/>
          </a:bodyPr>
          <a:lstStyle/>
          <a:p>
            <a:pPr algn="ctr"/>
            <a:r>
              <a:rPr sz="2600" b="1">
                <a:solidFill>
                  <a:srgbClr val="1C3557"/>
                </a:solidFill>
              </a:rPr>
              <a:t>→</a:t>
            </a:r>
          </a:p>
        </p:txBody>
      </p:sp>
      <p:sp>
        <p:nvSpPr>
          <p:cNvPr id="23" name="TextBox 22"/>
          <p:cNvSpPr txBox="1"/>
          <p:nvPr/>
        </p:nvSpPr>
        <p:spPr>
          <a:xfrm>
            <a:off x="8942832" y="1920240"/>
            <a:ext cx="292608" cy="548640"/>
          </a:xfrm>
          <a:prstGeom prst="rect">
            <a:avLst/>
          </a:prstGeom>
          <a:noFill/>
        </p:spPr>
        <p:txBody>
          <a:bodyPr wrap="square">
            <a:spAutoFit/>
          </a:bodyPr>
          <a:lstStyle/>
          <a:p>
            <a:pPr algn="ctr"/>
            <a:r>
              <a:rPr sz="2600" b="1">
                <a:solidFill>
                  <a:srgbClr val="1C3557"/>
                </a:solidFill>
              </a:rPr>
              <a:t>→</a:t>
            </a:r>
          </a:p>
        </p:txBody>
      </p:sp>
      <p:sp>
        <p:nvSpPr>
          <p:cNvPr id="24" name="Rectangle 23"/>
          <p:cNvSpPr/>
          <p:nvPr/>
        </p:nvSpPr>
        <p:spPr>
          <a:xfrm>
            <a:off x="274320" y="3657600"/>
            <a:ext cx="3657600" cy="25603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703320"/>
            <a:ext cx="3383280" cy="347472"/>
          </a:xfrm>
          <a:prstGeom prst="rect">
            <a:avLst/>
          </a:prstGeom>
          <a:noFill/>
        </p:spPr>
        <p:txBody>
          <a:bodyPr wrap="square">
            <a:spAutoFit/>
          </a:bodyPr>
          <a:lstStyle/>
          <a:p>
            <a:pPr algn="l"/>
            <a:r>
              <a:rPr sz="1300" b="1">
                <a:solidFill>
                  <a:srgbClr val="1C3557"/>
                </a:solidFill>
              </a:rPr>
              <a:t>Fourier Features</a:t>
            </a:r>
          </a:p>
        </p:txBody>
      </p:sp>
      <p:sp>
        <p:nvSpPr>
          <p:cNvPr id="26" name="TextBox 25"/>
          <p:cNvSpPr txBox="1"/>
          <p:nvPr/>
        </p:nvSpPr>
        <p:spPr>
          <a:xfrm>
            <a:off x="457200" y="4114800"/>
            <a:ext cx="3383280" cy="2011680"/>
          </a:xfrm>
          <a:prstGeom prst="rect">
            <a:avLst/>
          </a:prstGeom>
          <a:noFill/>
        </p:spPr>
        <p:txBody>
          <a:bodyPr wrap="square">
            <a:spAutoFit/>
          </a:bodyPr>
          <a:lstStyle/>
          <a:p>
            <a:pPr>
              <a:spcBef>
                <a:spcPts val="400"/>
              </a:spcBef>
              <a:defRPr sz="1100">
                <a:solidFill>
                  <a:srgbClr val="444444"/>
                </a:solidFill>
              </a:defRPr>
            </a:pPr>
            <a:r>
              <a:t>  •  γ(v) = [sin(2πBv), cos(2πBv)]</a:t>
            </a:r>
          </a:p>
          <a:p>
            <a:pPr>
              <a:spcBef>
                <a:spcPts val="400"/>
              </a:spcBef>
              <a:defRPr sz="1100">
                <a:solidFill>
                  <a:srgbClr val="444444"/>
                </a:solidFill>
              </a:defRPr>
            </a:pPr>
            <a:r>
              <a:t>  •  B ∼ N(0,σ²) fixed random matrix</a:t>
            </a:r>
          </a:p>
          <a:p>
            <a:pPr>
              <a:spcBef>
                <a:spcPts val="400"/>
              </a:spcBef>
              <a:defRPr sz="1100">
                <a:solidFill>
                  <a:srgbClr val="444444"/>
                </a:solidFill>
              </a:defRPr>
            </a:pPr>
            <a:r>
              <a:t>  •  F = 64 frequency pairs</a:t>
            </a:r>
          </a:p>
          <a:p>
            <a:pPr>
              <a:spcBef>
                <a:spcPts val="400"/>
              </a:spcBef>
              <a:defRPr sz="1100">
                <a:solidFill>
                  <a:srgbClr val="444444"/>
                </a:solidFill>
              </a:defRPr>
            </a:pPr>
            <a:r>
              <a:t>  •  σ = 1.0 (2D),  σ = 1.5 (3D)</a:t>
            </a:r>
          </a:p>
          <a:p>
            <a:pPr>
              <a:spcBef>
                <a:spcPts val="400"/>
              </a:spcBef>
              <a:defRPr sz="1100">
                <a:solidFill>
                  <a:srgbClr val="444444"/>
                </a:solidFill>
              </a:defRPr>
            </a:pPr>
            <a:r>
              <a:t>  •  Captures multi-scale spatial variation</a:t>
            </a:r>
          </a:p>
        </p:txBody>
      </p:sp>
      <p:sp>
        <p:nvSpPr>
          <p:cNvPr id="27" name="Rectangle 26"/>
          <p:cNvSpPr/>
          <p:nvPr/>
        </p:nvSpPr>
        <p:spPr>
          <a:xfrm>
            <a:off x="4297680" y="3657600"/>
            <a:ext cx="3657600" cy="25603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3703320"/>
            <a:ext cx="3383280" cy="347472"/>
          </a:xfrm>
          <a:prstGeom prst="rect">
            <a:avLst/>
          </a:prstGeom>
          <a:noFill/>
        </p:spPr>
        <p:txBody>
          <a:bodyPr wrap="square">
            <a:spAutoFit/>
          </a:bodyPr>
          <a:lstStyle/>
          <a:p>
            <a:pPr algn="l"/>
            <a:r>
              <a:rPr sz="1300" b="1">
                <a:solidFill>
                  <a:srgbClr val="1C3557"/>
                </a:solidFill>
              </a:rPr>
              <a:t>Self-Adaptive Weights</a:t>
            </a:r>
          </a:p>
        </p:txBody>
      </p:sp>
      <p:sp>
        <p:nvSpPr>
          <p:cNvPr id="29" name="TextBox 28"/>
          <p:cNvSpPr txBox="1"/>
          <p:nvPr/>
        </p:nvSpPr>
        <p:spPr>
          <a:xfrm>
            <a:off x="4480560" y="4114800"/>
            <a:ext cx="3383280" cy="2011680"/>
          </a:xfrm>
          <a:prstGeom prst="rect">
            <a:avLst/>
          </a:prstGeom>
          <a:noFill/>
        </p:spPr>
        <p:txBody>
          <a:bodyPr wrap="square">
            <a:spAutoFit/>
          </a:bodyPr>
          <a:lstStyle/>
          <a:p>
            <a:pPr>
              <a:spcBef>
                <a:spcPts val="400"/>
              </a:spcBef>
              <a:defRPr sz="1100">
                <a:solidFill>
                  <a:srgbClr val="444444"/>
                </a:solidFill>
              </a:defRPr>
            </a:pPr>
            <a:r>
              <a:t>  •  λᵢ = softplus(wᵢ) — always positive</a:t>
            </a:r>
          </a:p>
          <a:p>
            <a:pPr>
              <a:spcBef>
                <a:spcPts val="400"/>
              </a:spcBef>
              <a:defRPr sz="1100">
                <a:solidFill>
                  <a:srgbClr val="444444"/>
                </a:solidFill>
              </a:defRPr>
            </a:pPr>
            <a:r>
              <a:t>  •  L = λ_pde·L_pde + λ_bc·L_bc + λ_end·L_end</a:t>
            </a:r>
          </a:p>
          <a:p>
            <a:pPr>
              <a:spcBef>
                <a:spcPts val="400"/>
              </a:spcBef>
              <a:defRPr sz="1100">
                <a:solidFill>
                  <a:srgbClr val="444444"/>
                </a:solidFill>
              </a:defRPr>
            </a:pPr>
            <a:r>
              <a:t>  •  wᵢ learned jointly with network</a:t>
            </a:r>
          </a:p>
          <a:p>
            <a:pPr>
              <a:spcBef>
                <a:spcPts val="400"/>
              </a:spcBef>
              <a:defRPr sz="1100">
                <a:solidFill>
                  <a:srgbClr val="444444"/>
                </a:solidFill>
              </a:defRPr>
            </a:pPr>
            <a:r>
              <a:t>  •  η_model = 1e-3,  η_λ = 1e-4</a:t>
            </a:r>
          </a:p>
          <a:p>
            <a:pPr>
              <a:spcBef>
                <a:spcPts val="400"/>
              </a:spcBef>
              <a:defRPr sz="1100">
                <a:solidFill>
                  <a:srgbClr val="444444"/>
                </a:solidFill>
              </a:defRPr>
            </a:pPr>
            <a:r>
              <a:t>  •  Balances PDE vs. boundary residuals</a:t>
            </a:r>
          </a:p>
        </p:txBody>
      </p:sp>
      <p:sp>
        <p:nvSpPr>
          <p:cNvPr id="30" name="Rectangle 29"/>
          <p:cNvSpPr/>
          <p:nvPr/>
        </p:nvSpPr>
        <p:spPr>
          <a:xfrm>
            <a:off x="8321040" y="3657600"/>
            <a:ext cx="3566160" cy="25603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3703320"/>
            <a:ext cx="3291840" cy="347472"/>
          </a:xfrm>
          <a:prstGeom prst="rect">
            <a:avLst/>
          </a:prstGeom>
          <a:noFill/>
        </p:spPr>
        <p:txBody>
          <a:bodyPr wrap="square">
            <a:spAutoFit/>
          </a:bodyPr>
          <a:lstStyle/>
          <a:p>
            <a:pPr algn="l"/>
            <a:r>
              <a:rPr sz="1300" b="1">
                <a:solidFill>
                  <a:srgbClr val="1C3557"/>
                </a:solidFill>
              </a:rPr>
              <a:t>NAS Search Space</a:t>
            </a:r>
          </a:p>
        </p:txBody>
      </p:sp>
      <p:sp>
        <p:nvSpPr>
          <p:cNvPr id="32" name="TextBox 31"/>
          <p:cNvSpPr txBox="1"/>
          <p:nvPr/>
        </p:nvSpPr>
        <p:spPr>
          <a:xfrm>
            <a:off x="8503920" y="4114800"/>
            <a:ext cx="3291840" cy="2011680"/>
          </a:xfrm>
          <a:prstGeom prst="rect">
            <a:avLst/>
          </a:prstGeom>
          <a:noFill/>
        </p:spPr>
        <p:txBody>
          <a:bodyPr wrap="square">
            <a:spAutoFit/>
          </a:bodyPr>
          <a:lstStyle/>
          <a:p>
            <a:pPr>
              <a:spcBef>
                <a:spcPts val="400"/>
              </a:spcBef>
              <a:defRPr sz="1100">
                <a:solidFill>
                  <a:srgbClr val="444444"/>
                </a:solidFill>
              </a:defRPr>
            </a:pPr>
            <a:r>
              <a:t>  •  Layers: 2 to 6</a:t>
            </a:r>
          </a:p>
          <a:p>
            <a:pPr>
              <a:spcBef>
                <a:spcPts val="400"/>
              </a:spcBef>
              <a:defRPr sz="1100">
                <a:solidFill>
                  <a:srgbClr val="444444"/>
                </a:solidFill>
              </a:defRPr>
            </a:pPr>
            <a:r>
              <a:t>  •  Neurons per layer: 16 to 256</a:t>
            </a:r>
          </a:p>
          <a:p>
            <a:pPr>
              <a:spcBef>
                <a:spcPts val="400"/>
              </a:spcBef>
              <a:defRPr sz="1100">
                <a:solidFill>
                  <a:srgbClr val="444444"/>
                </a:solidFill>
              </a:defRPr>
            </a:pPr>
            <a:r>
              <a:t>  •  Activations: tanh, swish, relu</a:t>
            </a:r>
          </a:p>
          <a:p>
            <a:pPr>
              <a:spcBef>
                <a:spcPts val="400"/>
              </a:spcBef>
              <a:defRPr sz="1100">
                <a:solidFill>
                  <a:srgbClr val="444444"/>
                </a:solidFill>
              </a:defRPr>
            </a:pPr>
            <a:r>
              <a:t>  •  Skip connections: yes/no</a:t>
            </a:r>
          </a:p>
          <a:p>
            <a:pPr>
              <a:spcBef>
                <a:spcPts val="400"/>
              </a:spcBef>
              <a:defRPr sz="1100">
                <a:solidFill>
                  <a:srgbClr val="444444"/>
                </a:solidFill>
              </a:defRPr>
            </a:pPr>
            <a:r>
              <a:t>  •  Fourier σ: 0.5 to 3.0</a:t>
            </a:r>
          </a:p>
        </p:txBody>
      </p:sp>
      <p:sp>
        <p:nvSpPr>
          <p:cNvPr id="33" name="Rectangle 32"/>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6565392"/>
            <a:ext cx="11247120" cy="274320"/>
          </a:xfrm>
          <a:prstGeom prst="rect">
            <a:avLst/>
          </a:prstGeom>
          <a:noFill/>
        </p:spPr>
        <p:txBody>
          <a:bodyPr wrap="square">
            <a:spAutoFit/>
          </a:bodyPr>
          <a:lstStyle/>
          <a:p>
            <a:pPr algn="ctr"/>
            <a:r>
              <a:rPr sz="1100" b="0">
                <a:solidFill>
                  <a:srgbClr val="FFFFFF"/>
                </a:solidFill>
              </a:rPr>
              <a:t>IC-consistent output: θ̂(x,τ)=θ_ic(x)+τ·Nθ guarantees exact satisfaction of initial conditions at τ=0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Neural Architecture Search</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Bayesian (TPE) vs. NSGA-II vs. NSGA-III</a:t>
            </a:r>
          </a:p>
        </p:txBody>
      </p:sp>
      <p:sp>
        <p:nvSpPr>
          <p:cNvPr id="6" name="Rectangle 5"/>
          <p:cNvSpPr/>
          <p:nvPr/>
        </p:nvSpPr>
        <p:spPr>
          <a:xfrm>
            <a:off x="0" y="594360"/>
            <a:ext cx="12188952" cy="626364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Neural Architecture Search</a:t>
            </a:r>
          </a:p>
        </p:txBody>
      </p:sp>
      <p:sp>
        <p:nvSpPr>
          <p:cNvPr id="9" name="Rectangle 8"/>
          <p:cNvSpPr/>
          <p:nvPr/>
        </p:nvSpPr>
        <p:spPr>
          <a:xfrm>
            <a:off x="274320" y="1051560"/>
            <a:ext cx="3749039" cy="201168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97280"/>
            <a:ext cx="3566160" cy="457200"/>
          </a:xfrm>
          <a:prstGeom prst="rect">
            <a:avLst/>
          </a:prstGeom>
          <a:noFill/>
        </p:spPr>
        <p:txBody>
          <a:bodyPr wrap="square">
            <a:spAutoFit/>
          </a:bodyPr>
          <a:lstStyle/>
          <a:p>
            <a:pPr algn="ctr"/>
            <a:r>
              <a:rPr sz="1500" b="1">
                <a:solidFill>
                  <a:srgbClr val="FFFFFF"/>
                </a:solidFill>
              </a:rPr>
              <a:t>Bayesian (TPE)</a:t>
            </a:r>
          </a:p>
        </p:txBody>
      </p:sp>
      <p:sp>
        <p:nvSpPr>
          <p:cNvPr id="11" name="TextBox 10"/>
          <p:cNvSpPr txBox="1"/>
          <p:nvPr/>
        </p:nvSpPr>
        <p:spPr>
          <a:xfrm>
            <a:off x="411479" y="1600200"/>
            <a:ext cx="3474720" cy="256032"/>
          </a:xfrm>
          <a:prstGeom prst="rect">
            <a:avLst/>
          </a:prstGeom>
          <a:noFill/>
        </p:spPr>
        <p:txBody>
          <a:bodyPr wrap="square">
            <a:spAutoFit/>
          </a:bodyPr>
          <a:lstStyle/>
          <a:p>
            <a:pPr algn="l"/>
            <a:r>
              <a:rPr sz="1100" b="0">
                <a:solidFill>
                  <a:srgbClr val="FFFFFF"/>
                </a:solidFill>
              </a:rPr>
              <a:t>•  Tree Parzen Estimator</a:t>
            </a:r>
          </a:p>
        </p:txBody>
      </p:sp>
      <p:sp>
        <p:nvSpPr>
          <p:cNvPr id="12" name="TextBox 11"/>
          <p:cNvSpPr txBox="1"/>
          <p:nvPr/>
        </p:nvSpPr>
        <p:spPr>
          <a:xfrm>
            <a:off x="411479" y="1874519"/>
            <a:ext cx="3474720" cy="256032"/>
          </a:xfrm>
          <a:prstGeom prst="rect">
            <a:avLst/>
          </a:prstGeom>
          <a:noFill/>
        </p:spPr>
        <p:txBody>
          <a:bodyPr wrap="square">
            <a:spAutoFit/>
          </a:bodyPr>
          <a:lstStyle/>
          <a:p>
            <a:pPr algn="l"/>
            <a:r>
              <a:rPr sz="1100" b="0">
                <a:solidFill>
                  <a:srgbClr val="FFFFFF"/>
                </a:solidFill>
              </a:rPr>
              <a:t>•  Probabilistic surrogate model</a:t>
            </a:r>
          </a:p>
        </p:txBody>
      </p:sp>
      <p:sp>
        <p:nvSpPr>
          <p:cNvPr id="13" name="TextBox 12"/>
          <p:cNvSpPr txBox="1"/>
          <p:nvPr/>
        </p:nvSpPr>
        <p:spPr>
          <a:xfrm>
            <a:off x="411479" y="2148840"/>
            <a:ext cx="3474720" cy="256032"/>
          </a:xfrm>
          <a:prstGeom prst="rect">
            <a:avLst/>
          </a:prstGeom>
          <a:noFill/>
        </p:spPr>
        <p:txBody>
          <a:bodyPr wrap="square">
            <a:spAutoFit/>
          </a:bodyPr>
          <a:lstStyle/>
          <a:p>
            <a:pPr algn="l"/>
            <a:r>
              <a:rPr sz="1100" b="0">
                <a:solidFill>
                  <a:srgbClr val="FFFFFF"/>
                </a:solidFill>
              </a:rPr>
              <a:t>•  800 training epochs</a:t>
            </a:r>
          </a:p>
        </p:txBody>
      </p:sp>
      <p:sp>
        <p:nvSpPr>
          <p:cNvPr id="14" name="TextBox 13"/>
          <p:cNvSpPr txBox="1"/>
          <p:nvPr/>
        </p:nvSpPr>
        <p:spPr>
          <a:xfrm>
            <a:off x="411479" y="2423160"/>
            <a:ext cx="3474720" cy="256032"/>
          </a:xfrm>
          <a:prstGeom prst="rect">
            <a:avLst/>
          </a:prstGeom>
          <a:noFill/>
        </p:spPr>
        <p:txBody>
          <a:bodyPr wrap="square">
            <a:spAutoFit/>
          </a:bodyPr>
          <a:lstStyle/>
          <a:p>
            <a:pPr algn="l"/>
            <a:r>
              <a:rPr sz="1100" b="0">
                <a:solidFill>
                  <a:srgbClr val="FFFFFF"/>
                </a:solidFill>
              </a:rPr>
              <a:t>•  Efficient single-objective</a:t>
            </a:r>
          </a:p>
        </p:txBody>
      </p:sp>
      <p:sp>
        <p:nvSpPr>
          <p:cNvPr id="15" name="TextBox 14"/>
          <p:cNvSpPr txBox="1"/>
          <p:nvPr/>
        </p:nvSpPr>
        <p:spPr>
          <a:xfrm>
            <a:off x="411479" y="2697480"/>
            <a:ext cx="3474720" cy="256032"/>
          </a:xfrm>
          <a:prstGeom prst="rect">
            <a:avLst/>
          </a:prstGeom>
          <a:noFill/>
        </p:spPr>
        <p:txBody>
          <a:bodyPr wrap="square">
            <a:spAutoFit/>
          </a:bodyPr>
          <a:lstStyle/>
          <a:p>
            <a:pPr algn="l"/>
            <a:r>
              <a:rPr sz="1100" b="0">
                <a:solidFill>
                  <a:srgbClr val="FFFFFF"/>
                </a:solidFill>
              </a:rPr>
              <a:t>•  Best FEM call reduction</a:t>
            </a:r>
          </a:p>
        </p:txBody>
      </p:sp>
      <p:sp>
        <p:nvSpPr>
          <p:cNvPr id="16" name="TextBox 15"/>
          <p:cNvSpPr txBox="1"/>
          <p:nvPr/>
        </p:nvSpPr>
        <p:spPr>
          <a:xfrm>
            <a:off x="411479" y="2971800"/>
            <a:ext cx="3474720" cy="256032"/>
          </a:xfrm>
          <a:prstGeom prst="rect">
            <a:avLst/>
          </a:prstGeom>
          <a:noFill/>
        </p:spPr>
        <p:txBody>
          <a:bodyPr wrap="square">
            <a:spAutoFit/>
          </a:bodyPr>
          <a:lstStyle/>
          <a:p>
            <a:pPr algn="l"/>
            <a:r>
              <a:rPr sz="1100" b="0">
                <a:solidFill>
                  <a:srgbClr val="FFFFFF"/>
                </a:solidFill>
              </a:rPr>
              <a:t>•  Fast convergence</a:t>
            </a:r>
          </a:p>
        </p:txBody>
      </p:sp>
      <p:sp>
        <p:nvSpPr>
          <p:cNvPr id="17" name="Rectangle 16"/>
          <p:cNvSpPr/>
          <p:nvPr/>
        </p:nvSpPr>
        <p:spPr>
          <a:xfrm>
            <a:off x="4297680" y="1051560"/>
            <a:ext cx="3749039" cy="2011680"/>
          </a:xfrm>
          <a:prstGeom prst="rect">
            <a:avLst/>
          </a:prstGeom>
          <a:solidFill>
            <a:srgbClr val="1A5C96"/>
          </a:solidFill>
          <a:ln>
            <a:solidFill>
              <a:srgbClr val="1A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1097280"/>
            <a:ext cx="3566160" cy="457200"/>
          </a:xfrm>
          <a:prstGeom prst="rect">
            <a:avLst/>
          </a:prstGeom>
          <a:noFill/>
        </p:spPr>
        <p:txBody>
          <a:bodyPr wrap="square">
            <a:spAutoFit/>
          </a:bodyPr>
          <a:lstStyle/>
          <a:p>
            <a:pPr algn="ctr"/>
            <a:r>
              <a:rPr sz="1500" b="1">
                <a:solidFill>
                  <a:srgbClr val="FFFFFF"/>
                </a:solidFill>
              </a:rPr>
              <a:t>NSGA-II</a:t>
            </a:r>
          </a:p>
        </p:txBody>
      </p:sp>
      <p:sp>
        <p:nvSpPr>
          <p:cNvPr id="19" name="TextBox 18"/>
          <p:cNvSpPr txBox="1"/>
          <p:nvPr/>
        </p:nvSpPr>
        <p:spPr>
          <a:xfrm>
            <a:off x="4434840" y="1600200"/>
            <a:ext cx="3474720" cy="256032"/>
          </a:xfrm>
          <a:prstGeom prst="rect">
            <a:avLst/>
          </a:prstGeom>
          <a:noFill/>
        </p:spPr>
        <p:txBody>
          <a:bodyPr wrap="square">
            <a:spAutoFit/>
          </a:bodyPr>
          <a:lstStyle/>
          <a:p>
            <a:pPr algn="l"/>
            <a:r>
              <a:rPr sz="1100" b="0">
                <a:solidFill>
                  <a:srgbClr val="FFFFFF"/>
                </a:solidFill>
              </a:rPr>
              <a:t>•  Non-dominated Sorting GA</a:t>
            </a:r>
          </a:p>
        </p:txBody>
      </p:sp>
      <p:sp>
        <p:nvSpPr>
          <p:cNvPr id="20" name="TextBox 19"/>
          <p:cNvSpPr txBox="1"/>
          <p:nvPr/>
        </p:nvSpPr>
        <p:spPr>
          <a:xfrm>
            <a:off x="4434840" y="1874519"/>
            <a:ext cx="3474720" cy="256032"/>
          </a:xfrm>
          <a:prstGeom prst="rect">
            <a:avLst/>
          </a:prstGeom>
          <a:noFill/>
        </p:spPr>
        <p:txBody>
          <a:bodyPr wrap="square">
            <a:spAutoFit/>
          </a:bodyPr>
          <a:lstStyle/>
          <a:p>
            <a:pPr algn="l"/>
            <a:r>
              <a:rPr sz="1100" b="0">
                <a:solidFill>
                  <a:srgbClr val="FFFFFF"/>
                </a:solidFill>
              </a:rPr>
              <a:t>•  2-objective (L2, runtime)</a:t>
            </a:r>
          </a:p>
        </p:txBody>
      </p:sp>
      <p:sp>
        <p:nvSpPr>
          <p:cNvPr id="21" name="TextBox 20"/>
          <p:cNvSpPr txBox="1"/>
          <p:nvPr/>
        </p:nvSpPr>
        <p:spPr>
          <a:xfrm>
            <a:off x="4434840" y="2148840"/>
            <a:ext cx="3474720" cy="256032"/>
          </a:xfrm>
          <a:prstGeom prst="rect">
            <a:avLst/>
          </a:prstGeom>
          <a:noFill/>
        </p:spPr>
        <p:txBody>
          <a:bodyPr wrap="square">
            <a:spAutoFit/>
          </a:bodyPr>
          <a:lstStyle/>
          <a:p>
            <a:pPr algn="l"/>
            <a:r>
              <a:rPr sz="1100" b="0">
                <a:solidFill>
                  <a:srgbClr val="FFFFFF"/>
                </a:solidFill>
              </a:rPr>
              <a:t>•  NAS: 800 ep, retrain: 1500 ep</a:t>
            </a:r>
          </a:p>
        </p:txBody>
      </p:sp>
      <p:sp>
        <p:nvSpPr>
          <p:cNvPr id="22" name="TextBox 21"/>
          <p:cNvSpPr txBox="1"/>
          <p:nvPr/>
        </p:nvSpPr>
        <p:spPr>
          <a:xfrm>
            <a:off x="4434840" y="2423160"/>
            <a:ext cx="3474720" cy="256032"/>
          </a:xfrm>
          <a:prstGeom prst="rect">
            <a:avLst/>
          </a:prstGeom>
          <a:noFill/>
        </p:spPr>
        <p:txBody>
          <a:bodyPr wrap="square">
            <a:spAutoFit/>
          </a:bodyPr>
          <a:lstStyle/>
          <a:p>
            <a:pPr algn="l"/>
            <a:r>
              <a:rPr sz="1100" b="0">
                <a:solidFill>
                  <a:srgbClr val="FFFFFF"/>
                </a:solidFill>
              </a:rPr>
              <a:t>•  Pareto front exploration</a:t>
            </a:r>
          </a:p>
        </p:txBody>
      </p:sp>
      <p:sp>
        <p:nvSpPr>
          <p:cNvPr id="23" name="TextBox 22"/>
          <p:cNvSpPr txBox="1"/>
          <p:nvPr/>
        </p:nvSpPr>
        <p:spPr>
          <a:xfrm>
            <a:off x="4434840" y="2697480"/>
            <a:ext cx="3474720" cy="256032"/>
          </a:xfrm>
          <a:prstGeom prst="rect">
            <a:avLst/>
          </a:prstGeom>
          <a:noFill/>
        </p:spPr>
        <p:txBody>
          <a:bodyPr wrap="square">
            <a:spAutoFit/>
          </a:bodyPr>
          <a:lstStyle/>
          <a:p>
            <a:pPr algn="l"/>
            <a:r>
              <a:rPr sz="1100" b="0">
                <a:solidFill>
                  <a:srgbClr val="FFFFFF"/>
                </a:solidFill>
              </a:rPr>
              <a:t>•  Crowding distance diversity</a:t>
            </a:r>
          </a:p>
        </p:txBody>
      </p:sp>
      <p:sp>
        <p:nvSpPr>
          <p:cNvPr id="24" name="TextBox 23"/>
          <p:cNvSpPr txBox="1"/>
          <p:nvPr/>
        </p:nvSpPr>
        <p:spPr>
          <a:xfrm>
            <a:off x="4434840" y="2971800"/>
            <a:ext cx="3474720" cy="256032"/>
          </a:xfrm>
          <a:prstGeom prst="rect">
            <a:avLst/>
          </a:prstGeom>
          <a:noFill/>
        </p:spPr>
        <p:txBody>
          <a:bodyPr wrap="square">
            <a:spAutoFit/>
          </a:bodyPr>
          <a:lstStyle/>
          <a:p>
            <a:pPr algn="l"/>
            <a:r>
              <a:rPr sz="1100" b="0">
                <a:solidFill>
                  <a:srgbClr val="FFFFFF"/>
                </a:solidFill>
              </a:rPr>
              <a:t>•  Often best accuracy</a:t>
            </a:r>
          </a:p>
        </p:txBody>
      </p:sp>
      <p:sp>
        <p:nvSpPr>
          <p:cNvPr id="25" name="Rectangle 24"/>
          <p:cNvSpPr/>
          <p:nvPr/>
        </p:nvSpPr>
        <p:spPr>
          <a:xfrm>
            <a:off x="8321040" y="1051560"/>
            <a:ext cx="3749039" cy="2011680"/>
          </a:xfrm>
          <a:prstGeom prst="rect">
            <a:avLst/>
          </a:prstGeom>
          <a:solidFill>
            <a:srgbClr val="006E8A"/>
          </a:solidFill>
          <a:ln>
            <a:solidFill>
              <a:srgbClr val="006E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1097280"/>
            <a:ext cx="3566160" cy="457200"/>
          </a:xfrm>
          <a:prstGeom prst="rect">
            <a:avLst/>
          </a:prstGeom>
          <a:noFill/>
        </p:spPr>
        <p:txBody>
          <a:bodyPr wrap="square">
            <a:spAutoFit/>
          </a:bodyPr>
          <a:lstStyle/>
          <a:p>
            <a:pPr algn="ctr"/>
            <a:r>
              <a:rPr sz="1500" b="1">
                <a:solidFill>
                  <a:srgbClr val="FFFFFF"/>
                </a:solidFill>
              </a:rPr>
              <a:t>NSGA-III</a:t>
            </a:r>
          </a:p>
        </p:txBody>
      </p:sp>
      <p:sp>
        <p:nvSpPr>
          <p:cNvPr id="27" name="TextBox 26"/>
          <p:cNvSpPr txBox="1"/>
          <p:nvPr/>
        </p:nvSpPr>
        <p:spPr>
          <a:xfrm>
            <a:off x="8458200" y="1600200"/>
            <a:ext cx="3474720" cy="256032"/>
          </a:xfrm>
          <a:prstGeom prst="rect">
            <a:avLst/>
          </a:prstGeom>
          <a:noFill/>
        </p:spPr>
        <p:txBody>
          <a:bodyPr wrap="square">
            <a:spAutoFit/>
          </a:bodyPr>
          <a:lstStyle/>
          <a:p>
            <a:pPr algn="l"/>
            <a:r>
              <a:rPr sz="1100" b="0">
                <a:solidFill>
                  <a:srgbClr val="FFFFFF"/>
                </a:solidFill>
              </a:rPr>
              <a:t>•  Reference-point based EA</a:t>
            </a:r>
          </a:p>
        </p:txBody>
      </p:sp>
      <p:sp>
        <p:nvSpPr>
          <p:cNvPr id="28" name="TextBox 27"/>
          <p:cNvSpPr txBox="1"/>
          <p:nvPr/>
        </p:nvSpPr>
        <p:spPr>
          <a:xfrm>
            <a:off x="8458200" y="1874519"/>
            <a:ext cx="3474720" cy="256032"/>
          </a:xfrm>
          <a:prstGeom prst="rect">
            <a:avLst/>
          </a:prstGeom>
          <a:noFill/>
        </p:spPr>
        <p:txBody>
          <a:bodyPr wrap="square">
            <a:spAutoFit/>
          </a:bodyPr>
          <a:lstStyle/>
          <a:p>
            <a:pPr algn="l"/>
            <a:r>
              <a:rPr sz="1100" b="0">
                <a:solidFill>
                  <a:srgbClr val="FFFFFF"/>
                </a:solidFill>
              </a:rPr>
              <a:t>•  Many-objective variant</a:t>
            </a:r>
          </a:p>
        </p:txBody>
      </p:sp>
      <p:sp>
        <p:nvSpPr>
          <p:cNvPr id="29" name="TextBox 28"/>
          <p:cNvSpPr txBox="1"/>
          <p:nvPr/>
        </p:nvSpPr>
        <p:spPr>
          <a:xfrm>
            <a:off x="8458200" y="2148840"/>
            <a:ext cx="3474720" cy="256032"/>
          </a:xfrm>
          <a:prstGeom prst="rect">
            <a:avLst/>
          </a:prstGeom>
          <a:noFill/>
        </p:spPr>
        <p:txBody>
          <a:bodyPr wrap="square">
            <a:spAutoFit/>
          </a:bodyPr>
          <a:lstStyle/>
          <a:p>
            <a:pPr algn="l"/>
            <a:r>
              <a:rPr sz="1100" b="0">
                <a:solidFill>
                  <a:srgbClr val="FFFFFF"/>
                </a:solidFill>
              </a:rPr>
              <a:t>•  NAS: 800 ep, retrain: 1500 ep</a:t>
            </a:r>
          </a:p>
        </p:txBody>
      </p:sp>
      <p:sp>
        <p:nvSpPr>
          <p:cNvPr id="30" name="TextBox 29"/>
          <p:cNvSpPr txBox="1"/>
          <p:nvPr/>
        </p:nvSpPr>
        <p:spPr>
          <a:xfrm>
            <a:off x="8458200" y="2423160"/>
            <a:ext cx="3474720" cy="256032"/>
          </a:xfrm>
          <a:prstGeom prst="rect">
            <a:avLst/>
          </a:prstGeom>
          <a:noFill/>
        </p:spPr>
        <p:txBody>
          <a:bodyPr wrap="square">
            <a:spAutoFit/>
          </a:bodyPr>
          <a:lstStyle/>
          <a:p>
            <a:pPr algn="l"/>
            <a:r>
              <a:rPr sz="1100" b="0">
                <a:solidFill>
                  <a:srgbClr val="FFFFFF"/>
                </a:solidFill>
              </a:rPr>
              <a:t>•  Structured reference points</a:t>
            </a:r>
          </a:p>
        </p:txBody>
      </p:sp>
      <p:sp>
        <p:nvSpPr>
          <p:cNvPr id="31" name="TextBox 30"/>
          <p:cNvSpPr txBox="1"/>
          <p:nvPr/>
        </p:nvSpPr>
        <p:spPr>
          <a:xfrm>
            <a:off x="8458200" y="2697480"/>
            <a:ext cx="3474720" cy="256032"/>
          </a:xfrm>
          <a:prstGeom prst="rect">
            <a:avLst/>
          </a:prstGeom>
          <a:noFill/>
        </p:spPr>
        <p:txBody>
          <a:bodyPr wrap="square">
            <a:spAutoFit/>
          </a:bodyPr>
          <a:lstStyle/>
          <a:p>
            <a:pPr algn="l"/>
            <a:r>
              <a:rPr sz="1100" b="0">
                <a:solidFill>
                  <a:srgbClr val="FFFFFF"/>
                </a:solidFill>
              </a:rPr>
              <a:t>•  Better coverage of front</a:t>
            </a:r>
          </a:p>
        </p:txBody>
      </p:sp>
      <p:sp>
        <p:nvSpPr>
          <p:cNvPr id="32" name="TextBox 31"/>
          <p:cNvSpPr txBox="1"/>
          <p:nvPr/>
        </p:nvSpPr>
        <p:spPr>
          <a:xfrm>
            <a:off x="8458200" y="2971800"/>
            <a:ext cx="3474720" cy="256032"/>
          </a:xfrm>
          <a:prstGeom prst="rect">
            <a:avLst/>
          </a:prstGeom>
          <a:noFill/>
        </p:spPr>
        <p:txBody>
          <a:bodyPr wrap="square">
            <a:spAutoFit/>
          </a:bodyPr>
          <a:lstStyle/>
          <a:p>
            <a:pPr algn="l"/>
            <a:r>
              <a:rPr sz="1100" b="0">
                <a:solidFill>
                  <a:srgbClr val="FFFFFF"/>
                </a:solidFill>
              </a:rPr>
              <a:t>•  Best 2D L2: 0.83%</a:t>
            </a:r>
          </a:p>
        </p:txBody>
      </p:sp>
      <p:sp>
        <p:nvSpPr>
          <p:cNvPr id="33" name="Rectangle 32"/>
          <p:cNvSpPr/>
          <p:nvPr/>
        </p:nvSpPr>
        <p:spPr>
          <a:xfrm>
            <a:off x="274320" y="3246120"/>
            <a:ext cx="11612880" cy="26974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291840"/>
            <a:ext cx="11247120" cy="347472"/>
          </a:xfrm>
          <a:prstGeom prst="rect">
            <a:avLst/>
          </a:prstGeom>
          <a:noFill/>
        </p:spPr>
        <p:txBody>
          <a:bodyPr wrap="square">
            <a:spAutoFit/>
          </a:bodyPr>
          <a:lstStyle/>
          <a:p>
            <a:pPr algn="l"/>
            <a:r>
              <a:rPr sz="1300" b="1">
                <a:solidFill>
                  <a:srgbClr val="1C3557"/>
                </a:solidFill>
              </a:rPr>
              <a:t>Comparison Summary</a:t>
            </a:r>
          </a:p>
        </p:txBody>
      </p:sp>
      <p:sp>
        <p:nvSpPr>
          <p:cNvPr id="35" name="Rectangle 34"/>
          <p:cNvSpPr/>
          <p:nvPr/>
        </p:nvSpPr>
        <p:spPr>
          <a:xfrm>
            <a:off x="365760" y="3703320"/>
            <a:ext cx="1828800" cy="347472"/>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3730752"/>
            <a:ext cx="1737360" cy="274320"/>
          </a:xfrm>
          <a:prstGeom prst="rect">
            <a:avLst/>
          </a:prstGeom>
          <a:noFill/>
        </p:spPr>
        <p:txBody>
          <a:bodyPr wrap="square">
            <a:spAutoFit/>
          </a:bodyPr>
          <a:lstStyle/>
          <a:p>
            <a:pPr algn="ctr"/>
            <a:r>
              <a:rPr sz="1100" b="1">
                <a:solidFill>
                  <a:srgbClr val="FFFFFF"/>
                </a:solidFill>
              </a:rPr>
              <a:t>Optimizer</a:t>
            </a:r>
          </a:p>
        </p:txBody>
      </p:sp>
      <p:sp>
        <p:nvSpPr>
          <p:cNvPr id="37" name="Rectangle 36"/>
          <p:cNvSpPr/>
          <p:nvPr/>
        </p:nvSpPr>
        <p:spPr>
          <a:xfrm>
            <a:off x="2423160" y="3703320"/>
            <a:ext cx="1828800" cy="347472"/>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68880" y="3730752"/>
            <a:ext cx="1737360" cy="274320"/>
          </a:xfrm>
          <a:prstGeom prst="rect">
            <a:avLst/>
          </a:prstGeom>
          <a:noFill/>
        </p:spPr>
        <p:txBody>
          <a:bodyPr wrap="square">
            <a:spAutoFit/>
          </a:bodyPr>
          <a:lstStyle/>
          <a:p>
            <a:pPr algn="ctr"/>
            <a:r>
              <a:rPr sz="1100" b="1">
                <a:solidFill>
                  <a:srgbClr val="FFFFFF"/>
                </a:solidFill>
              </a:rPr>
              <a:t>Epochs (NAS)</a:t>
            </a:r>
          </a:p>
        </p:txBody>
      </p:sp>
      <p:sp>
        <p:nvSpPr>
          <p:cNvPr id="39" name="Rectangle 38"/>
          <p:cNvSpPr/>
          <p:nvPr/>
        </p:nvSpPr>
        <p:spPr>
          <a:xfrm>
            <a:off x="4434840" y="3703320"/>
            <a:ext cx="1828800" cy="347472"/>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80560" y="3730752"/>
            <a:ext cx="1737360" cy="274320"/>
          </a:xfrm>
          <a:prstGeom prst="rect">
            <a:avLst/>
          </a:prstGeom>
          <a:noFill/>
        </p:spPr>
        <p:txBody>
          <a:bodyPr wrap="square">
            <a:spAutoFit/>
          </a:bodyPr>
          <a:lstStyle/>
          <a:p>
            <a:pPr algn="ctr"/>
            <a:r>
              <a:rPr sz="1100" b="1">
                <a:solidFill>
                  <a:srgbClr val="FFFFFF"/>
                </a:solidFill>
              </a:rPr>
              <a:t>Epochs (Retrain)</a:t>
            </a:r>
          </a:p>
        </p:txBody>
      </p:sp>
      <p:sp>
        <p:nvSpPr>
          <p:cNvPr id="41" name="Rectangle 40"/>
          <p:cNvSpPr/>
          <p:nvPr/>
        </p:nvSpPr>
        <p:spPr>
          <a:xfrm>
            <a:off x="6446520" y="3703320"/>
            <a:ext cx="2926080" cy="347472"/>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92240" y="3730752"/>
            <a:ext cx="2834640" cy="274320"/>
          </a:xfrm>
          <a:prstGeom prst="rect">
            <a:avLst/>
          </a:prstGeom>
          <a:noFill/>
        </p:spPr>
        <p:txBody>
          <a:bodyPr wrap="square">
            <a:spAutoFit/>
          </a:bodyPr>
          <a:lstStyle/>
          <a:p>
            <a:pPr algn="ctr"/>
            <a:r>
              <a:rPr sz="1100" b="1">
                <a:solidFill>
                  <a:srgbClr val="FFFFFF"/>
                </a:solidFill>
              </a:rPr>
              <a:t>Strength</a:t>
            </a:r>
          </a:p>
        </p:txBody>
      </p:sp>
      <p:sp>
        <p:nvSpPr>
          <p:cNvPr id="43" name="Rectangle 42"/>
          <p:cNvSpPr/>
          <p:nvPr/>
        </p:nvSpPr>
        <p:spPr>
          <a:xfrm>
            <a:off x="9555480" y="3703320"/>
            <a:ext cx="2286000" cy="347472"/>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0" y="3730752"/>
            <a:ext cx="2194560" cy="274320"/>
          </a:xfrm>
          <a:prstGeom prst="rect">
            <a:avLst/>
          </a:prstGeom>
          <a:noFill/>
        </p:spPr>
        <p:txBody>
          <a:bodyPr wrap="square">
            <a:spAutoFit/>
          </a:bodyPr>
          <a:lstStyle/>
          <a:p>
            <a:pPr algn="ctr"/>
            <a:r>
              <a:rPr sz="1100" b="1">
                <a:solidFill>
                  <a:srgbClr val="FFFFFF"/>
                </a:solidFill>
              </a:rPr>
              <a:t>Best FEM Red.</a:t>
            </a:r>
          </a:p>
        </p:txBody>
      </p:sp>
      <p:sp>
        <p:nvSpPr>
          <p:cNvPr id="45" name="Rectangle 44"/>
          <p:cNvSpPr/>
          <p:nvPr/>
        </p:nvSpPr>
        <p:spPr>
          <a:xfrm>
            <a:off x="365760" y="4078224"/>
            <a:ext cx="182880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1480" y="4105656"/>
            <a:ext cx="1737360" cy="274320"/>
          </a:xfrm>
          <a:prstGeom prst="rect">
            <a:avLst/>
          </a:prstGeom>
          <a:noFill/>
        </p:spPr>
        <p:txBody>
          <a:bodyPr wrap="square">
            <a:spAutoFit/>
          </a:bodyPr>
          <a:lstStyle/>
          <a:p>
            <a:pPr algn="ctr"/>
            <a:r>
              <a:rPr sz="1100" b="0">
                <a:solidFill>
                  <a:srgbClr val="444444"/>
                </a:solidFill>
              </a:rPr>
              <a:t>Bayesian</a:t>
            </a:r>
          </a:p>
        </p:txBody>
      </p:sp>
      <p:sp>
        <p:nvSpPr>
          <p:cNvPr id="47" name="Rectangle 46"/>
          <p:cNvSpPr/>
          <p:nvPr/>
        </p:nvSpPr>
        <p:spPr>
          <a:xfrm>
            <a:off x="2423160" y="4078224"/>
            <a:ext cx="182880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468880" y="4105656"/>
            <a:ext cx="1737360" cy="274320"/>
          </a:xfrm>
          <a:prstGeom prst="rect">
            <a:avLst/>
          </a:prstGeom>
          <a:noFill/>
        </p:spPr>
        <p:txBody>
          <a:bodyPr wrap="square">
            <a:spAutoFit/>
          </a:bodyPr>
          <a:lstStyle/>
          <a:p>
            <a:pPr algn="ctr"/>
            <a:r>
              <a:rPr sz="1100" b="0">
                <a:solidFill>
                  <a:srgbClr val="444444"/>
                </a:solidFill>
              </a:rPr>
              <a:t>800</a:t>
            </a:r>
          </a:p>
        </p:txBody>
      </p:sp>
      <p:sp>
        <p:nvSpPr>
          <p:cNvPr id="49" name="Rectangle 48"/>
          <p:cNvSpPr/>
          <p:nvPr/>
        </p:nvSpPr>
        <p:spPr>
          <a:xfrm>
            <a:off x="4434840" y="4078224"/>
            <a:ext cx="182880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80560" y="4105656"/>
            <a:ext cx="1737360" cy="274320"/>
          </a:xfrm>
          <a:prstGeom prst="rect">
            <a:avLst/>
          </a:prstGeom>
          <a:noFill/>
        </p:spPr>
        <p:txBody>
          <a:bodyPr wrap="square">
            <a:spAutoFit/>
          </a:bodyPr>
          <a:lstStyle/>
          <a:p>
            <a:pPr algn="ctr"/>
            <a:r>
              <a:rPr sz="1100" b="0">
                <a:solidFill>
                  <a:srgbClr val="444444"/>
                </a:solidFill>
              </a:rPr>
              <a:t>—</a:t>
            </a:r>
          </a:p>
        </p:txBody>
      </p:sp>
      <p:sp>
        <p:nvSpPr>
          <p:cNvPr id="51" name="Rectangle 50"/>
          <p:cNvSpPr/>
          <p:nvPr/>
        </p:nvSpPr>
        <p:spPr>
          <a:xfrm>
            <a:off x="6446520" y="4078224"/>
            <a:ext cx="292608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2240" y="4105656"/>
            <a:ext cx="2834640" cy="274320"/>
          </a:xfrm>
          <a:prstGeom prst="rect">
            <a:avLst/>
          </a:prstGeom>
          <a:noFill/>
        </p:spPr>
        <p:txBody>
          <a:bodyPr wrap="square">
            <a:spAutoFit/>
          </a:bodyPr>
          <a:lstStyle/>
          <a:p>
            <a:pPr algn="ctr"/>
            <a:r>
              <a:rPr sz="1100" b="0">
                <a:solidFill>
                  <a:srgbClr val="444444"/>
                </a:solidFill>
              </a:rPr>
              <a:t>Speed &amp; consistency</a:t>
            </a:r>
          </a:p>
        </p:txBody>
      </p:sp>
      <p:sp>
        <p:nvSpPr>
          <p:cNvPr id="53" name="Rectangle 52"/>
          <p:cNvSpPr/>
          <p:nvPr/>
        </p:nvSpPr>
        <p:spPr>
          <a:xfrm>
            <a:off x="9555480" y="4078224"/>
            <a:ext cx="228600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01200" y="4105656"/>
            <a:ext cx="2194560" cy="274320"/>
          </a:xfrm>
          <a:prstGeom prst="rect">
            <a:avLst/>
          </a:prstGeom>
          <a:noFill/>
        </p:spPr>
        <p:txBody>
          <a:bodyPr wrap="square">
            <a:spAutoFit/>
          </a:bodyPr>
          <a:lstStyle/>
          <a:p>
            <a:pPr algn="ctr"/>
            <a:r>
              <a:rPr sz="1100" b="0">
                <a:solidFill>
                  <a:srgbClr val="444444"/>
                </a:solidFill>
              </a:rPr>
              <a:t>5.0×</a:t>
            </a:r>
          </a:p>
        </p:txBody>
      </p:sp>
      <p:sp>
        <p:nvSpPr>
          <p:cNvPr id="55" name="Rectangle 54"/>
          <p:cNvSpPr/>
          <p:nvPr/>
        </p:nvSpPr>
        <p:spPr>
          <a:xfrm>
            <a:off x="365760" y="4425696"/>
            <a:ext cx="1828800" cy="329184"/>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1480" y="4453128"/>
            <a:ext cx="1737360" cy="274320"/>
          </a:xfrm>
          <a:prstGeom prst="rect">
            <a:avLst/>
          </a:prstGeom>
          <a:noFill/>
        </p:spPr>
        <p:txBody>
          <a:bodyPr wrap="square">
            <a:spAutoFit/>
          </a:bodyPr>
          <a:lstStyle/>
          <a:p>
            <a:pPr algn="ctr"/>
            <a:r>
              <a:rPr sz="1100" b="0">
                <a:solidFill>
                  <a:srgbClr val="444444"/>
                </a:solidFill>
              </a:rPr>
              <a:t>NSGA-II</a:t>
            </a:r>
          </a:p>
        </p:txBody>
      </p:sp>
      <p:sp>
        <p:nvSpPr>
          <p:cNvPr id="57" name="Rectangle 56"/>
          <p:cNvSpPr/>
          <p:nvPr/>
        </p:nvSpPr>
        <p:spPr>
          <a:xfrm>
            <a:off x="2423160" y="4425696"/>
            <a:ext cx="1828800" cy="329184"/>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468880" y="4453128"/>
            <a:ext cx="1737360" cy="274320"/>
          </a:xfrm>
          <a:prstGeom prst="rect">
            <a:avLst/>
          </a:prstGeom>
          <a:noFill/>
        </p:spPr>
        <p:txBody>
          <a:bodyPr wrap="square">
            <a:spAutoFit/>
          </a:bodyPr>
          <a:lstStyle/>
          <a:p>
            <a:pPr algn="ctr"/>
            <a:r>
              <a:rPr sz="1100" b="0">
                <a:solidFill>
                  <a:srgbClr val="444444"/>
                </a:solidFill>
              </a:rPr>
              <a:t>800</a:t>
            </a:r>
          </a:p>
        </p:txBody>
      </p:sp>
      <p:sp>
        <p:nvSpPr>
          <p:cNvPr id="59" name="Rectangle 58"/>
          <p:cNvSpPr/>
          <p:nvPr/>
        </p:nvSpPr>
        <p:spPr>
          <a:xfrm>
            <a:off x="4434840" y="4425696"/>
            <a:ext cx="1828800" cy="329184"/>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480560" y="4453128"/>
            <a:ext cx="1737360" cy="274320"/>
          </a:xfrm>
          <a:prstGeom prst="rect">
            <a:avLst/>
          </a:prstGeom>
          <a:noFill/>
        </p:spPr>
        <p:txBody>
          <a:bodyPr wrap="square">
            <a:spAutoFit/>
          </a:bodyPr>
          <a:lstStyle/>
          <a:p>
            <a:pPr algn="ctr"/>
            <a:r>
              <a:rPr sz="1100" b="0">
                <a:solidFill>
                  <a:srgbClr val="444444"/>
                </a:solidFill>
              </a:rPr>
              <a:t>1500</a:t>
            </a:r>
          </a:p>
        </p:txBody>
      </p:sp>
      <p:sp>
        <p:nvSpPr>
          <p:cNvPr id="61" name="Rectangle 60"/>
          <p:cNvSpPr/>
          <p:nvPr/>
        </p:nvSpPr>
        <p:spPr>
          <a:xfrm>
            <a:off x="6446520" y="4425696"/>
            <a:ext cx="2926080" cy="329184"/>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492240" y="4453128"/>
            <a:ext cx="2834640" cy="274320"/>
          </a:xfrm>
          <a:prstGeom prst="rect">
            <a:avLst/>
          </a:prstGeom>
          <a:noFill/>
        </p:spPr>
        <p:txBody>
          <a:bodyPr wrap="square">
            <a:spAutoFit/>
          </a:bodyPr>
          <a:lstStyle/>
          <a:p>
            <a:pPr algn="ctr"/>
            <a:r>
              <a:rPr sz="1100" b="0">
                <a:solidFill>
                  <a:srgbClr val="444444"/>
                </a:solidFill>
              </a:rPr>
              <a:t>Accuracy on complex geom</a:t>
            </a:r>
          </a:p>
        </p:txBody>
      </p:sp>
      <p:sp>
        <p:nvSpPr>
          <p:cNvPr id="63" name="Rectangle 62"/>
          <p:cNvSpPr/>
          <p:nvPr/>
        </p:nvSpPr>
        <p:spPr>
          <a:xfrm>
            <a:off x="9555480" y="4425696"/>
            <a:ext cx="2286000" cy="329184"/>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01200" y="4453128"/>
            <a:ext cx="2194560" cy="274320"/>
          </a:xfrm>
          <a:prstGeom prst="rect">
            <a:avLst/>
          </a:prstGeom>
          <a:noFill/>
        </p:spPr>
        <p:txBody>
          <a:bodyPr wrap="square">
            <a:spAutoFit/>
          </a:bodyPr>
          <a:lstStyle/>
          <a:p>
            <a:pPr algn="ctr"/>
            <a:r>
              <a:rPr sz="1100" b="0">
                <a:solidFill>
                  <a:srgbClr val="444444"/>
                </a:solidFill>
              </a:rPr>
              <a:t>1.0× – 2.0×</a:t>
            </a:r>
          </a:p>
        </p:txBody>
      </p:sp>
      <p:sp>
        <p:nvSpPr>
          <p:cNvPr id="65" name="Rectangle 64"/>
          <p:cNvSpPr/>
          <p:nvPr/>
        </p:nvSpPr>
        <p:spPr>
          <a:xfrm>
            <a:off x="365760" y="4773168"/>
            <a:ext cx="182880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11480" y="4800600"/>
            <a:ext cx="1737360" cy="274320"/>
          </a:xfrm>
          <a:prstGeom prst="rect">
            <a:avLst/>
          </a:prstGeom>
          <a:noFill/>
        </p:spPr>
        <p:txBody>
          <a:bodyPr wrap="square">
            <a:spAutoFit/>
          </a:bodyPr>
          <a:lstStyle/>
          <a:p>
            <a:pPr algn="ctr"/>
            <a:r>
              <a:rPr sz="1100" b="0">
                <a:solidFill>
                  <a:srgbClr val="444444"/>
                </a:solidFill>
              </a:rPr>
              <a:t>NSGA-III</a:t>
            </a:r>
          </a:p>
        </p:txBody>
      </p:sp>
      <p:sp>
        <p:nvSpPr>
          <p:cNvPr id="67" name="Rectangle 66"/>
          <p:cNvSpPr/>
          <p:nvPr/>
        </p:nvSpPr>
        <p:spPr>
          <a:xfrm>
            <a:off x="2423160" y="4773168"/>
            <a:ext cx="182880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468880" y="4800600"/>
            <a:ext cx="1737360" cy="274320"/>
          </a:xfrm>
          <a:prstGeom prst="rect">
            <a:avLst/>
          </a:prstGeom>
          <a:noFill/>
        </p:spPr>
        <p:txBody>
          <a:bodyPr wrap="square">
            <a:spAutoFit/>
          </a:bodyPr>
          <a:lstStyle/>
          <a:p>
            <a:pPr algn="ctr"/>
            <a:r>
              <a:rPr sz="1100" b="0">
                <a:solidFill>
                  <a:srgbClr val="444444"/>
                </a:solidFill>
              </a:rPr>
              <a:t>800</a:t>
            </a:r>
          </a:p>
        </p:txBody>
      </p:sp>
      <p:sp>
        <p:nvSpPr>
          <p:cNvPr id="69" name="Rectangle 68"/>
          <p:cNvSpPr/>
          <p:nvPr/>
        </p:nvSpPr>
        <p:spPr>
          <a:xfrm>
            <a:off x="4434840" y="4773168"/>
            <a:ext cx="182880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480560" y="4800600"/>
            <a:ext cx="1737360" cy="274320"/>
          </a:xfrm>
          <a:prstGeom prst="rect">
            <a:avLst/>
          </a:prstGeom>
          <a:noFill/>
        </p:spPr>
        <p:txBody>
          <a:bodyPr wrap="square">
            <a:spAutoFit/>
          </a:bodyPr>
          <a:lstStyle/>
          <a:p>
            <a:pPr algn="ctr"/>
            <a:r>
              <a:rPr sz="1100" b="0">
                <a:solidFill>
                  <a:srgbClr val="444444"/>
                </a:solidFill>
              </a:rPr>
              <a:t>1500</a:t>
            </a:r>
          </a:p>
        </p:txBody>
      </p:sp>
      <p:sp>
        <p:nvSpPr>
          <p:cNvPr id="71" name="Rectangle 70"/>
          <p:cNvSpPr/>
          <p:nvPr/>
        </p:nvSpPr>
        <p:spPr>
          <a:xfrm>
            <a:off x="6446520" y="4773168"/>
            <a:ext cx="292608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92240" y="4800600"/>
            <a:ext cx="2834640" cy="274320"/>
          </a:xfrm>
          <a:prstGeom prst="rect">
            <a:avLst/>
          </a:prstGeom>
          <a:noFill/>
        </p:spPr>
        <p:txBody>
          <a:bodyPr wrap="square">
            <a:spAutoFit/>
          </a:bodyPr>
          <a:lstStyle/>
          <a:p>
            <a:pPr algn="ctr"/>
            <a:r>
              <a:rPr sz="1100" b="0">
                <a:solidFill>
                  <a:srgbClr val="444444"/>
                </a:solidFill>
              </a:rPr>
              <a:t>Best 2D (0.83% L-shape)</a:t>
            </a:r>
          </a:p>
        </p:txBody>
      </p:sp>
      <p:sp>
        <p:nvSpPr>
          <p:cNvPr id="73" name="Rectangle 72"/>
          <p:cNvSpPr/>
          <p:nvPr/>
        </p:nvSpPr>
        <p:spPr>
          <a:xfrm>
            <a:off x="9555480" y="4773168"/>
            <a:ext cx="2286000" cy="32918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01200" y="4800600"/>
            <a:ext cx="2194560" cy="274320"/>
          </a:xfrm>
          <a:prstGeom prst="rect">
            <a:avLst/>
          </a:prstGeom>
          <a:noFill/>
        </p:spPr>
        <p:txBody>
          <a:bodyPr wrap="square">
            <a:spAutoFit/>
          </a:bodyPr>
          <a:lstStyle/>
          <a:p>
            <a:pPr algn="ctr"/>
            <a:r>
              <a:rPr sz="1100" b="0">
                <a:solidFill>
                  <a:srgbClr val="444444"/>
                </a:solidFill>
              </a:rPr>
              <a:t>1.0× – 3.0×</a:t>
            </a:r>
          </a:p>
        </p:txBody>
      </p:sp>
      <p:sp>
        <p:nvSpPr>
          <p:cNvPr id="75" name="Rectangle 74"/>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7200" y="6565392"/>
            <a:ext cx="11247120" cy="274320"/>
          </a:xfrm>
          <a:prstGeom prst="rect">
            <a:avLst/>
          </a:prstGeom>
          <a:noFill/>
        </p:spPr>
        <p:txBody>
          <a:bodyPr wrap="square">
            <a:spAutoFit/>
          </a:bodyPr>
          <a:lstStyle/>
          <a:p>
            <a:pPr algn="ctr"/>
            <a:r>
              <a:rPr sz="1100" b="0">
                <a:solidFill>
                  <a:srgbClr val="FFFFFF"/>
                </a:solidFill>
              </a:rPr>
              <a:t>All three optimisers search the same PINN architecture space; Bayesian best for FEM reduction, NSGA-III best raw L2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2D Results — k-Skip Analysis</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L2 relative error vs. k-skip factor (800 ep (NAS))</a:t>
            </a:r>
          </a:p>
        </p:txBody>
      </p:sp>
      <p:sp>
        <p:nvSpPr>
          <p:cNvPr id="6" name="Rectangle 5"/>
          <p:cNvSpPr/>
          <p:nvPr/>
        </p:nvSpPr>
        <p:spPr>
          <a:xfrm>
            <a:off x="0" y="594360"/>
            <a:ext cx="12188952" cy="626364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2D Results — k-Skip Analysis</a:t>
            </a:r>
          </a:p>
        </p:txBody>
      </p:sp>
      <p:sp>
        <p:nvSpPr>
          <p:cNvPr id="9" name="Rectangle 8"/>
          <p:cNvSpPr/>
          <p:nvPr/>
        </p:nvSpPr>
        <p:spPr>
          <a:xfrm>
            <a:off x="182880" y="960120"/>
            <a:ext cx="5760720" cy="51206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005840"/>
            <a:ext cx="5486400" cy="320040"/>
          </a:xfrm>
          <a:prstGeom prst="rect">
            <a:avLst/>
          </a:prstGeom>
          <a:noFill/>
        </p:spPr>
        <p:txBody>
          <a:bodyPr wrap="square">
            <a:spAutoFit/>
          </a:bodyPr>
          <a:lstStyle/>
          <a:p>
            <a:pPr algn="l"/>
            <a:r>
              <a:rPr sz="1300" b="1">
                <a:solidFill>
                  <a:srgbClr val="1C3557"/>
                </a:solidFill>
              </a:rPr>
              <a:t>800 Epochs (NAS phase)</a:t>
            </a:r>
          </a:p>
        </p:txBody>
      </p:sp>
      <p:pic>
        <p:nvPicPr>
          <p:cNvPr id="11" name="Picture 10" descr="fig_kskip_800ep_2d.png"/>
          <p:cNvPicPr>
            <a:picLocks noChangeAspect="1"/>
          </p:cNvPicPr>
          <p:nvPr/>
        </p:nvPicPr>
        <p:blipFill>
          <a:blip r:embed="rId2"/>
          <a:stretch>
            <a:fillRect/>
          </a:stretch>
        </p:blipFill>
        <p:spPr>
          <a:xfrm>
            <a:off x="228600" y="1371600"/>
            <a:ext cx="5669280" cy="1508987"/>
          </a:xfrm>
          <a:prstGeom prst="rect">
            <a:avLst/>
          </a:prstGeom>
        </p:spPr>
      </p:pic>
      <p:sp>
        <p:nvSpPr>
          <p:cNvPr id="12" name="Rectangle 11"/>
          <p:cNvSpPr/>
          <p:nvPr/>
        </p:nvSpPr>
        <p:spPr>
          <a:xfrm>
            <a:off x="6217920" y="960120"/>
            <a:ext cx="5760720" cy="51206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005840"/>
            <a:ext cx="5486400" cy="320040"/>
          </a:xfrm>
          <a:prstGeom prst="rect">
            <a:avLst/>
          </a:prstGeom>
          <a:noFill/>
        </p:spPr>
        <p:txBody>
          <a:bodyPr wrap="square">
            <a:spAutoFit/>
          </a:bodyPr>
          <a:lstStyle/>
          <a:p>
            <a:pPr algn="l"/>
            <a:r>
              <a:rPr sz="1300" b="1">
                <a:solidFill>
                  <a:srgbClr val="1C3557"/>
                </a:solidFill>
              </a:rPr>
              <a:t>800 ep (k-skip analysis)</a:t>
            </a:r>
          </a:p>
        </p:txBody>
      </p:sp>
      <p:pic>
        <p:nvPicPr>
          <p:cNvPr id="14" name="Picture 13" descr="fig_kskip_800ep_2d.png"/>
          <p:cNvPicPr>
            <a:picLocks noChangeAspect="1"/>
          </p:cNvPicPr>
          <p:nvPr/>
        </p:nvPicPr>
        <p:blipFill>
          <a:blip r:embed="rId2"/>
          <a:stretch>
            <a:fillRect/>
          </a:stretch>
        </p:blipFill>
        <p:spPr>
          <a:xfrm>
            <a:off x="6263640" y="1371600"/>
            <a:ext cx="5669280" cy="1508987"/>
          </a:xfrm>
          <a:prstGeom prst="rect">
            <a:avLst/>
          </a:prstGeom>
        </p:spPr>
      </p:pic>
      <p:sp>
        <p:nvSpPr>
          <p:cNvPr id="15" name="Rectangle 14"/>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11247120" cy="274320"/>
          </a:xfrm>
          <a:prstGeom prst="rect">
            <a:avLst/>
          </a:prstGeom>
          <a:noFill/>
        </p:spPr>
        <p:txBody>
          <a:bodyPr wrap="square">
            <a:spAutoFit/>
          </a:bodyPr>
          <a:lstStyle/>
          <a:p>
            <a:pPr algn="ctr"/>
            <a:r>
              <a:rPr sz="1100" b="0">
                <a:solidFill>
                  <a:srgbClr val="FFFFFF"/>
                </a:solidFill>
              </a:rPr>
              <a:t>Best 2D: L-shape NSGA-III k=1, L2=0.83%.  Circle Bayesian k=3 gives 0.94% with 2.9× fewer FEM calls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2D Heatmap — Rectangle  (Bayesian, k=1)</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ayesian_rectangle_2d_k1.png"/>
          <p:cNvPicPr>
            <a:picLocks noChangeAspect="1"/>
          </p:cNvPicPr>
          <p:nvPr/>
        </p:nvPicPr>
        <p:blipFill>
          <a:blip r:embed="rId2"/>
          <a:stretch>
            <a:fillRect/>
          </a:stretch>
        </p:blipFill>
        <p:spPr>
          <a:xfrm>
            <a:off x="228600" y="731520"/>
            <a:ext cx="11731752" cy="6982951"/>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Rectangle  |  Bayesian (TPE)  |  k=1  |  L2=2.13%  |  MAE=2.1°C  |  Runtime=206 s</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FEM reference (left)  ·  PINN prediction (centre)  ·  Absolute error (right)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2D Heatmap — Circle  (Bayesian, k=3)</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ayesian_circle_2d_k2.png"/>
          <p:cNvPicPr>
            <a:picLocks noChangeAspect="1"/>
          </p:cNvPicPr>
          <p:nvPr/>
        </p:nvPicPr>
        <p:blipFill>
          <a:blip r:embed="rId2"/>
          <a:stretch>
            <a:fillRect/>
          </a:stretch>
        </p:blipFill>
        <p:spPr>
          <a:xfrm>
            <a:off x="228600" y="731520"/>
            <a:ext cx="11731752" cy="7651799"/>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Circle  |  Bayesian (TPE)  |  k=3  |  L2=0.94%  |  MAE=2.0°C  |  FEM calls↓ 2.9×</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FEM reference (left)  ·  PINN prediction (centre)  ·  Absolute error (right)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2D Heatmap — L-shape  (Bayesian, k=2)</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ayesian_lshape_2d_k1.png"/>
          <p:cNvPicPr>
            <a:picLocks noChangeAspect="1"/>
          </p:cNvPicPr>
          <p:nvPr/>
        </p:nvPicPr>
        <p:blipFill>
          <a:blip r:embed="rId2"/>
          <a:stretch>
            <a:fillRect/>
          </a:stretch>
        </p:blipFill>
        <p:spPr>
          <a:xfrm>
            <a:off x="228600" y="731520"/>
            <a:ext cx="11731752" cy="7684752"/>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L-shape  |  Bayesian (TPE)  |  k=2  |  L2=0.94%  |  MAE=1.6°C  |  FEM calls↓ 2.0×</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FEM reference (left)  ·  PINN prediction (centre)  ·  Absolute error (right)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2D Summary Table</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Best-k results per domain and optimizer (800 ep (NAS))</a:t>
            </a:r>
          </a:p>
        </p:txBody>
      </p:sp>
      <p:sp>
        <p:nvSpPr>
          <p:cNvPr id="6" name="Rectangle 5"/>
          <p:cNvSpPr/>
          <p:nvPr/>
        </p:nvSpPr>
        <p:spPr>
          <a:xfrm>
            <a:off x="0" y="594360"/>
            <a:ext cx="12188952" cy="626364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2D Summary Table</a:t>
            </a:r>
          </a:p>
        </p:txBody>
      </p:sp>
      <p:sp>
        <p:nvSpPr>
          <p:cNvPr id="9" name="Rectangle 8"/>
          <p:cNvSpPr/>
          <p:nvPr/>
        </p:nvSpPr>
        <p:spPr>
          <a:xfrm>
            <a:off x="182880" y="960120"/>
            <a:ext cx="11795760" cy="45262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table_800ep_2d.png"/>
          <p:cNvPicPr>
            <a:picLocks noChangeAspect="1"/>
          </p:cNvPicPr>
          <p:nvPr/>
        </p:nvPicPr>
        <p:blipFill>
          <a:blip r:embed="rId2"/>
          <a:stretch>
            <a:fillRect/>
          </a:stretch>
        </p:blipFill>
        <p:spPr>
          <a:xfrm>
            <a:off x="228600" y="1005840"/>
            <a:ext cx="11704320" cy="4507707"/>
          </a:xfrm>
          <a:prstGeom prst="rect">
            <a:avLst/>
          </a:prstGeom>
        </p:spPr>
      </p:pic>
      <p:sp>
        <p:nvSpPr>
          <p:cNvPr id="11" name="Rectangle 10"/>
          <p:cNvSpPr/>
          <p:nvPr/>
        </p:nvSpPr>
        <p:spPr>
          <a:xfrm>
            <a:off x="182880" y="5669280"/>
            <a:ext cx="11795760" cy="749808"/>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5760720"/>
            <a:ext cx="11430000" cy="502920"/>
          </a:xfrm>
          <a:prstGeom prst="rect">
            <a:avLst/>
          </a:prstGeom>
          <a:noFill/>
        </p:spPr>
        <p:txBody>
          <a:bodyPr wrap="square">
            <a:spAutoFit/>
          </a:bodyPr>
          <a:lstStyle/>
          <a:p>
            <a:pPr algn="l"/>
            <a:r>
              <a:rPr sz="1200" b="0">
                <a:solidFill>
                  <a:srgbClr val="1C3557"/>
                </a:solidFill>
              </a:rPr>
              <a:t>Best 2D: L-shape NSGA-III k=1, L2=0.83%  |  Bayesian Circle k=3: L2=0.94%, 2.9× FEM reduction  |  Most 2D results &lt; 3% L2 error</a:t>
            </a:r>
          </a:p>
        </p:txBody>
      </p:sp>
      <p:sp>
        <p:nvSpPr>
          <p:cNvPr id="13" name="Rectangle 12"/>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11247120" cy="274320"/>
          </a:xfrm>
          <a:prstGeom prst="rect">
            <a:avLst/>
          </a:prstGeom>
          <a:noFill/>
        </p:spPr>
        <p:txBody>
          <a:bodyPr wrap="square">
            <a:spAutoFit/>
          </a:bodyPr>
          <a:lstStyle/>
          <a:p>
            <a:pPr algn="ctr"/>
            <a:r>
              <a:rPr sz="1100" b="0">
                <a:solidFill>
                  <a:srgbClr val="FFFFFF"/>
                </a:solidFill>
              </a:rPr>
              <a:t>Bayesian achieves best FEM reduction; NSGA-III achieves best raw L2 accuracy in 2D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3D Results — k-Skip Analysis</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L2 relative error vs. k-skip factor (800 ep (NAS))</a:t>
            </a:r>
          </a:p>
        </p:txBody>
      </p:sp>
      <p:sp>
        <p:nvSpPr>
          <p:cNvPr id="6" name="Rectangle 5"/>
          <p:cNvSpPr/>
          <p:nvPr/>
        </p:nvSpPr>
        <p:spPr>
          <a:xfrm>
            <a:off x="0" y="594360"/>
            <a:ext cx="12188952" cy="626364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3D Results — k-Skip Analysis</a:t>
            </a:r>
          </a:p>
        </p:txBody>
      </p:sp>
      <p:sp>
        <p:nvSpPr>
          <p:cNvPr id="9" name="Rectangle 8"/>
          <p:cNvSpPr/>
          <p:nvPr/>
        </p:nvSpPr>
        <p:spPr>
          <a:xfrm>
            <a:off x="182880" y="960120"/>
            <a:ext cx="5760720" cy="51206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005840"/>
            <a:ext cx="5486400" cy="320040"/>
          </a:xfrm>
          <a:prstGeom prst="rect">
            <a:avLst/>
          </a:prstGeom>
          <a:noFill/>
        </p:spPr>
        <p:txBody>
          <a:bodyPr wrap="square">
            <a:spAutoFit/>
          </a:bodyPr>
          <a:lstStyle/>
          <a:p>
            <a:pPr algn="l"/>
            <a:r>
              <a:rPr sz="1300" b="1">
                <a:solidFill>
                  <a:srgbClr val="1C3557"/>
                </a:solidFill>
              </a:rPr>
              <a:t>800 Epochs (NAS phase)</a:t>
            </a:r>
          </a:p>
        </p:txBody>
      </p:sp>
      <p:pic>
        <p:nvPicPr>
          <p:cNvPr id="11" name="Picture 10" descr="fig_kskip_800ep_3d.png"/>
          <p:cNvPicPr>
            <a:picLocks noChangeAspect="1"/>
          </p:cNvPicPr>
          <p:nvPr/>
        </p:nvPicPr>
        <p:blipFill>
          <a:blip r:embed="rId2"/>
          <a:stretch>
            <a:fillRect/>
          </a:stretch>
        </p:blipFill>
        <p:spPr>
          <a:xfrm>
            <a:off x="228600" y="1371600"/>
            <a:ext cx="5669280" cy="4521825"/>
          </a:xfrm>
          <a:prstGeom prst="rect">
            <a:avLst/>
          </a:prstGeom>
        </p:spPr>
      </p:pic>
      <p:sp>
        <p:nvSpPr>
          <p:cNvPr id="12" name="Rectangle 11"/>
          <p:cNvSpPr/>
          <p:nvPr/>
        </p:nvSpPr>
        <p:spPr>
          <a:xfrm>
            <a:off x="6217920" y="960120"/>
            <a:ext cx="5760720" cy="51206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005840"/>
            <a:ext cx="5486400" cy="320040"/>
          </a:xfrm>
          <a:prstGeom prst="rect">
            <a:avLst/>
          </a:prstGeom>
          <a:noFill/>
        </p:spPr>
        <p:txBody>
          <a:bodyPr wrap="square">
            <a:spAutoFit/>
          </a:bodyPr>
          <a:lstStyle/>
          <a:p>
            <a:pPr algn="l"/>
            <a:r>
              <a:rPr sz="1300" b="1">
                <a:solidFill>
                  <a:srgbClr val="1C3557"/>
                </a:solidFill>
              </a:rPr>
              <a:t>800 ep (k-skip analysis)</a:t>
            </a:r>
          </a:p>
        </p:txBody>
      </p:sp>
      <p:pic>
        <p:nvPicPr>
          <p:cNvPr id="14" name="Picture 13" descr="fig_kskip_800ep_3d.png"/>
          <p:cNvPicPr>
            <a:picLocks noChangeAspect="1"/>
          </p:cNvPicPr>
          <p:nvPr/>
        </p:nvPicPr>
        <p:blipFill>
          <a:blip r:embed="rId2"/>
          <a:stretch>
            <a:fillRect/>
          </a:stretch>
        </p:blipFill>
        <p:spPr>
          <a:xfrm>
            <a:off x="6263640" y="1371600"/>
            <a:ext cx="5669280" cy="4521825"/>
          </a:xfrm>
          <a:prstGeom prst="rect">
            <a:avLst/>
          </a:prstGeom>
        </p:spPr>
      </p:pic>
      <p:sp>
        <p:nvSpPr>
          <p:cNvPr id="15" name="Rectangle 14"/>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11247120" cy="274320"/>
          </a:xfrm>
          <a:prstGeom prst="rect">
            <a:avLst/>
          </a:prstGeom>
          <a:noFill/>
        </p:spPr>
        <p:txBody>
          <a:bodyPr wrap="square">
            <a:spAutoFit/>
          </a:bodyPr>
          <a:lstStyle/>
          <a:p>
            <a:pPr algn="ctr"/>
            <a:r>
              <a:rPr sz="1100" b="0">
                <a:solidFill>
                  <a:srgbClr val="FFFFFF"/>
                </a:solidFill>
              </a:rPr>
              <a:t>Best 3D: L-shape NSGA-III k=1, L2=0.91%.  Bayesian Rectangular k=5: L2=4.12% with 5× fewer FEM calls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3D Heatmap — Rectangular  (Bayesian, k=5)</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ayesian_rectangular_3d_k2.png"/>
          <p:cNvPicPr>
            <a:picLocks noChangeAspect="1"/>
          </p:cNvPicPr>
          <p:nvPr/>
        </p:nvPicPr>
        <p:blipFill>
          <a:blip r:embed="rId2"/>
          <a:stretch>
            <a:fillRect/>
          </a:stretch>
        </p:blipFill>
        <p:spPr>
          <a:xfrm>
            <a:off x="228600" y="731520"/>
            <a:ext cx="11731752" cy="6917177"/>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Rectangular  |  Bayesian (TPE)  |  k=5  |  L2=4.12%  |  MAE=8.6°C  |  FEM calls↓ 5.0×</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FEM reference (left)  ·  PINN prediction (centre)  ·  Absolute error (right)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3D Heatmap — Cylinder  (Bayesian, k=2)</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ayesian_cylinder_3d_k1.png"/>
          <p:cNvPicPr>
            <a:picLocks noChangeAspect="1"/>
          </p:cNvPicPr>
          <p:nvPr/>
        </p:nvPicPr>
        <p:blipFill>
          <a:blip r:embed="rId2"/>
          <a:stretch>
            <a:fillRect/>
          </a:stretch>
        </p:blipFill>
        <p:spPr>
          <a:xfrm>
            <a:off x="228600" y="731520"/>
            <a:ext cx="11731752" cy="6917177"/>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Cylinder  |  Bayesian (TPE)  |  k=2  |  L2=2.86%  |  MAE=5.0°C  |  FEM calls↓ 2.0×</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FEM reference (left)  ·  PINN prediction (centre)  ·  Absolute error (right)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3D Heatmap — Stacked  (Bayesian, k=5)</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ayesian_stacked_3d_k1.png"/>
          <p:cNvPicPr>
            <a:picLocks noChangeAspect="1"/>
          </p:cNvPicPr>
          <p:nvPr/>
        </p:nvPicPr>
        <p:blipFill>
          <a:blip r:embed="rId2"/>
          <a:stretch>
            <a:fillRect/>
          </a:stretch>
        </p:blipFill>
        <p:spPr>
          <a:xfrm>
            <a:off x="228600" y="731520"/>
            <a:ext cx="11731752" cy="6917177"/>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Stacked  |  Bayesian (TPE)  |  k=5  |  L2=4.03%  |  MAE=7.9°C  |  FEM calls↓ 5.0×</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FEM reference (left)  ·  PINN prediction (centre)  ·  Absolute error (right)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3D Heatmap — L-shape 3D  (Bayesian, k=3)</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ayesian_lshape_3d_k3.png"/>
          <p:cNvPicPr>
            <a:picLocks noChangeAspect="1"/>
          </p:cNvPicPr>
          <p:nvPr/>
        </p:nvPicPr>
        <p:blipFill>
          <a:blip r:embed="rId2"/>
          <a:stretch>
            <a:fillRect/>
          </a:stretch>
        </p:blipFill>
        <p:spPr>
          <a:xfrm>
            <a:off x="228600" y="731520"/>
            <a:ext cx="11731752" cy="6917177"/>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L-shape 3D  |  Bayesian (TPE)  |  k=3  |  L2=2.14%  |  MAE=5.1°C  |  FEM calls↓ 2.9×</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3D problems show higher errors due to additional spatial dimension  ·  L-shape NSGA-III k=1 achieves L2=0.91%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3D Summary Table</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Best-k results per domain and optimizer (800 ep (NAS))</a:t>
            </a:r>
          </a:p>
        </p:txBody>
      </p:sp>
      <p:sp>
        <p:nvSpPr>
          <p:cNvPr id="6" name="Rectangle 5"/>
          <p:cNvSpPr/>
          <p:nvPr/>
        </p:nvSpPr>
        <p:spPr>
          <a:xfrm>
            <a:off x="0" y="594360"/>
            <a:ext cx="12188952" cy="626364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3D Summary Table</a:t>
            </a:r>
          </a:p>
        </p:txBody>
      </p:sp>
      <p:sp>
        <p:nvSpPr>
          <p:cNvPr id="9" name="Rectangle 8"/>
          <p:cNvSpPr/>
          <p:nvPr/>
        </p:nvSpPr>
        <p:spPr>
          <a:xfrm>
            <a:off x="182880" y="960120"/>
            <a:ext cx="11795760" cy="452628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table_800ep_3d.png"/>
          <p:cNvPicPr>
            <a:picLocks noChangeAspect="1"/>
          </p:cNvPicPr>
          <p:nvPr/>
        </p:nvPicPr>
        <p:blipFill>
          <a:blip r:embed="rId2"/>
          <a:stretch>
            <a:fillRect/>
          </a:stretch>
        </p:blipFill>
        <p:spPr>
          <a:xfrm>
            <a:off x="228600" y="1005840"/>
            <a:ext cx="11704320" cy="5619196"/>
          </a:xfrm>
          <a:prstGeom prst="rect">
            <a:avLst/>
          </a:prstGeom>
        </p:spPr>
      </p:pic>
      <p:sp>
        <p:nvSpPr>
          <p:cNvPr id="11" name="Rectangle 10"/>
          <p:cNvSpPr/>
          <p:nvPr/>
        </p:nvSpPr>
        <p:spPr>
          <a:xfrm>
            <a:off x="182880" y="5669280"/>
            <a:ext cx="11795760" cy="749808"/>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5760720"/>
            <a:ext cx="11430000" cy="502920"/>
          </a:xfrm>
          <a:prstGeom prst="rect">
            <a:avLst/>
          </a:prstGeom>
          <a:noFill/>
        </p:spPr>
        <p:txBody>
          <a:bodyPr wrap="square">
            <a:spAutoFit/>
          </a:bodyPr>
          <a:lstStyle/>
          <a:p>
            <a:pPr algn="l"/>
            <a:r>
              <a:rPr sz="1200" b="0">
                <a:solidFill>
                  <a:srgbClr val="1C3557"/>
                </a:solidFill>
              </a:rPr>
              <a:t>Best 3D: L-shape NSGA-III k=1, L2=0.91%  |  Worst: Stacked NSGA-III k=3, L2=6.27%  |  Bayesian Rectangular k=5: 5.0× FEM reduction</a:t>
            </a:r>
          </a:p>
        </p:txBody>
      </p:sp>
      <p:sp>
        <p:nvSpPr>
          <p:cNvPr id="13" name="Rectangle 12"/>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11247120" cy="274320"/>
          </a:xfrm>
          <a:prstGeom prst="rect">
            <a:avLst/>
          </a:prstGeom>
          <a:noFill/>
        </p:spPr>
        <p:txBody>
          <a:bodyPr wrap="square">
            <a:spAutoFit/>
          </a:bodyPr>
          <a:lstStyle/>
          <a:p>
            <a:pPr algn="ctr"/>
            <a:r>
              <a:rPr sz="1100" b="0">
                <a:solidFill>
                  <a:srgbClr val="FFFFFF"/>
                </a:solidFill>
              </a:rPr>
              <a:t>3D geometry complexity impacts accuracy — Stacked geometry most challenging; L-shape unexpectedly best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Before vs. After Retrain</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Full summary comparison: 800 ep (NAS) vs 1500 ep (retrained)</a:t>
            </a:r>
          </a:p>
        </p:txBody>
      </p:sp>
      <p:sp>
        <p:nvSpPr>
          <p:cNvPr id="6" name="Rectangle 5"/>
          <p:cNvSpPr/>
          <p:nvPr/>
        </p:nvSpPr>
        <p:spPr>
          <a:xfrm>
            <a:off x="0" y="594360"/>
            <a:ext cx="12188952" cy="626364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Before vs. After Retrain</a:t>
            </a:r>
          </a:p>
        </p:txBody>
      </p:sp>
      <p:sp>
        <p:nvSpPr>
          <p:cNvPr id="9" name="Rectangle 8"/>
          <p:cNvSpPr/>
          <p:nvPr/>
        </p:nvSpPr>
        <p:spPr>
          <a:xfrm>
            <a:off x="182880" y="960120"/>
            <a:ext cx="5760720" cy="53035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005840"/>
            <a:ext cx="5486400" cy="320040"/>
          </a:xfrm>
          <a:prstGeom prst="rect">
            <a:avLst/>
          </a:prstGeom>
          <a:noFill/>
        </p:spPr>
        <p:txBody>
          <a:bodyPr wrap="square">
            <a:spAutoFit/>
          </a:bodyPr>
          <a:lstStyle/>
          <a:p>
            <a:pPr algn="l"/>
            <a:r>
              <a:rPr sz="1300" b="1">
                <a:solidFill>
                  <a:srgbClr val="1C3557"/>
                </a:solidFill>
              </a:rPr>
              <a:t>2D — Full Summary (Both Epochs)</a:t>
            </a:r>
          </a:p>
        </p:txBody>
      </p:sp>
      <p:pic>
        <p:nvPicPr>
          <p:cNvPr id="11" name="Picture 10" descr="fig_full_summary_2d.png"/>
          <p:cNvPicPr>
            <a:picLocks noChangeAspect="1"/>
          </p:cNvPicPr>
          <p:nvPr/>
        </p:nvPicPr>
        <p:blipFill>
          <a:blip r:embed="rId2"/>
          <a:stretch>
            <a:fillRect/>
          </a:stretch>
        </p:blipFill>
        <p:spPr>
          <a:xfrm>
            <a:off x="228600" y="1371600"/>
            <a:ext cx="5669280" cy="2959435"/>
          </a:xfrm>
          <a:prstGeom prst="rect">
            <a:avLst/>
          </a:prstGeom>
        </p:spPr>
      </p:pic>
      <p:sp>
        <p:nvSpPr>
          <p:cNvPr id="12" name="Rectangle 11"/>
          <p:cNvSpPr/>
          <p:nvPr/>
        </p:nvSpPr>
        <p:spPr>
          <a:xfrm>
            <a:off x="6217920" y="960120"/>
            <a:ext cx="5760720" cy="530352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005840"/>
            <a:ext cx="5486400" cy="320040"/>
          </a:xfrm>
          <a:prstGeom prst="rect">
            <a:avLst/>
          </a:prstGeom>
          <a:noFill/>
        </p:spPr>
        <p:txBody>
          <a:bodyPr wrap="square">
            <a:spAutoFit/>
          </a:bodyPr>
          <a:lstStyle/>
          <a:p>
            <a:pPr algn="l"/>
            <a:r>
              <a:rPr sz="1300" b="1">
                <a:solidFill>
                  <a:srgbClr val="1C3557"/>
                </a:solidFill>
              </a:rPr>
              <a:t>3D — Full Summary (Both Epochs)</a:t>
            </a:r>
          </a:p>
        </p:txBody>
      </p:sp>
      <p:pic>
        <p:nvPicPr>
          <p:cNvPr id="14" name="Picture 13" descr="fig_full_summary_3d.png"/>
          <p:cNvPicPr>
            <a:picLocks noChangeAspect="1"/>
          </p:cNvPicPr>
          <p:nvPr/>
        </p:nvPicPr>
        <p:blipFill>
          <a:blip r:embed="rId3"/>
          <a:stretch>
            <a:fillRect/>
          </a:stretch>
        </p:blipFill>
        <p:spPr>
          <a:xfrm>
            <a:off x="6263640" y="1371600"/>
            <a:ext cx="5669280" cy="3743864"/>
          </a:xfrm>
          <a:prstGeom prst="rect">
            <a:avLst/>
          </a:prstGeom>
        </p:spPr>
      </p:pic>
      <p:sp>
        <p:nvSpPr>
          <p:cNvPr id="15" name="Rectangle 14"/>
          <p:cNvSpPr/>
          <p:nvPr/>
        </p:nvSpPr>
        <p:spPr>
          <a:xfrm>
            <a:off x="0" y="6537960"/>
            <a:ext cx="12188952" cy="32004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565392"/>
            <a:ext cx="11247120" cy="274320"/>
          </a:xfrm>
          <a:prstGeom prst="rect">
            <a:avLst/>
          </a:prstGeom>
          <a:noFill/>
        </p:spPr>
        <p:txBody>
          <a:bodyPr wrap="square">
            <a:spAutoFit/>
          </a:bodyPr>
          <a:lstStyle/>
          <a:p>
            <a:pPr algn="ctr"/>
            <a:r>
              <a:rPr sz="1100" b="0">
                <a:solidFill>
                  <a:srgbClr val="FFFFFF"/>
                </a:solidFill>
              </a:rPr>
              <a:t>1500-ep retrain generally improves or stabilises accuracy vs. initial 800-ep NAS phase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Warm-Start PINN Training</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Carrying weights across windows — speed vs accuracy trade-off</a:t>
            </a:r>
          </a:p>
        </p:txBody>
      </p:sp>
      <p:sp>
        <p:nvSpPr>
          <p:cNvPr id="6" name="TextBox 5"/>
          <p:cNvSpPr txBox="1"/>
          <p:nvPr/>
        </p:nvSpPr>
        <p:spPr>
          <a:xfrm>
            <a:off x="365760" y="914400"/>
            <a:ext cx="5486400" cy="3200400"/>
          </a:xfrm>
          <a:prstGeom prst="rect">
            <a:avLst/>
          </a:prstGeom>
          <a:noFill/>
        </p:spPr>
        <p:txBody>
          <a:bodyPr wrap="square">
            <a:spAutoFit/>
          </a:bodyPr>
          <a:lstStyle/>
          <a:p>
            <a:pPr>
              <a:spcBef>
                <a:spcPts val="400"/>
              </a:spcBef>
              <a:defRPr sz="1200">
                <a:solidFill>
                  <a:srgbClr val="444444"/>
                </a:solidFill>
              </a:defRPr>
            </a:pPr>
            <a:r>
              <a:t>  •  Strategy: Window 1 trains cold (800 ep, lr=1e-3); subsequent windows fine-tune from previous weights (500 ep, lr=1e-3)</a:t>
            </a:r>
          </a:p>
          <a:p>
            <a:pPr>
              <a:spcBef>
                <a:spcPts val="400"/>
              </a:spcBef>
              <a:defRPr sz="1200">
                <a:solidFill>
                  <a:srgbClr val="444444"/>
                </a:solidFill>
              </a:defRPr>
            </a:pPr>
            <a:r>
              <a:t>  •  FEM still provides θ_ic at every window boundary — baseline unchanged</a:t>
            </a:r>
          </a:p>
          <a:p>
            <a:pPr>
              <a:spcBef>
                <a:spcPts val="400"/>
              </a:spcBef>
              <a:defRPr sz="1200">
                <a:solidFill>
                  <a:srgbClr val="444444"/>
                </a:solidFill>
              </a:defRPr>
            </a:pPr>
            <a:r>
              <a:t>  •  Motivation: adjacent windows share similar physics; warm weights need fewer steps to adapt</a:t>
            </a:r>
          </a:p>
          <a:p>
            <a:pPr>
              <a:spcBef>
                <a:spcPts val="400"/>
              </a:spcBef>
              <a:defRPr sz="1200">
                <a:solidFill>
                  <a:srgbClr val="444444"/>
                </a:solidFill>
              </a:defRPr>
            </a:pPr>
            <a:r>
              <a:t>  •  3 variants tested: ws (300 ep, lr=3e-4), ws_500ep, ws_1000ep, ws_2000ep</a:t>
            </a:r>
          </a:p>
        </p:txBody>
      </p:sp>
      <p:sp>
        <p:nvSpPr>
          <p:cNvPr id="7" name="TextBox 6"/>
          <p:cNvSpPr txBox="1"/>
          <p:nvPr/>
        </p:nvSpPr>
        <p:spPr>
          <a:xfrm>
            <a:off x="365760" y="4297680"/>
            <a:ext cx="11430000" cy="2194560"/>
          </a:xfrm>
          <a:prstGeom prst="rect">
            <a:avLst/>
          </a:prstGeom>
          <a:noFill/>
        </p:spPr>
        <p:txBody>
          <a:bodyPr wrap="square">
            <a:spAutoFit/>
          </a:bodyPr>
          <a:lstStyle/>
          <a:p>
            <a:pPr>
              <a:defRPr sz="1300" b="1">
                <a:solidFill>
                  <a:srgbClr val="1C3557"/>
                </a:solidFill>
              </a:defRPr>
            </a:pPr>
            <a:r>
              <a:t>Key Findings</a:t>
            </a:r>
          </a:p>
          <a:p>
            <a:pPr>
              <a:spcBef>
                <a:spcPts val="400"/>
              </a:spcBef>
              <a:defRPr sz="1150">
                <a:solidFill>
                  <a:srgbClr val="444444"/>
                </a:solidFill>
              </a:defRPr>
            </a:pPr>
            <a:r>
              <a:t>  •  Bayesian: 1.5× speedup, ΔMAE ≈ +0.3°C  ← ideal</a:t>
            </a:r>
          </a:p>
          <a:p>
            <a:pPr>
              <a:spcBef>
                <a:spcPts val="400"/>
              </a:spcBef>
              <a:defRPr sz="1150">
                <a:solidFill>
                  <a:srgbClr val="444444"/>
                </a:solidFill>
              </a:defRPr>
            </a:pPr>
            <a:r>
              <a:t>  •  NSGA-II / III (2D): ~3× speedup, ΔMAE ≈ +1–2°C  ← acceptable</a:t>
            </a:r>
          </a:p>
          <a:p>
            <a:pPr>
              <a:spcBef>
                <a:spcPts val="400"/>
              </a:spcBef>
              <a:defRPr sz="1150">
                <a:solidFill>
                  <a:srgbClr val="444444"/>
                </a:solidFill>
              </a:defRPr>
            </a:pPr>
            <a:r>
              <a:t>  •  NSGA-II / III (3D): ~3× speedup, ΔMAE ≈ +5–9°C  ← not recommended</a:t>
            </a:r>
          </a:p>
          <a:p>
            <a:pPr>
              <a:spcBef>
                <a:spcPts val="400"/>
              </a:spcBef>
              <a:defRPr sz="1150">
                <a:solidFill>
                  <a:srgbClr val="444444"/>
                </a:solidFill>
              </a:defRPr>
            </a:pPr>
            <a:r>
              <a:t>  •  Anomaly: lshape 3D / nsga2 / k=5 — warm-start 12.5°C better than cold (cold-start failed to converge for that combination)</a:t>
            </a:r>
          </a:p>
          <a:p>
            <a:pPr>
              <a:spcBef>
                <a:spcPts val="400"/>
              </a:spcBef>
              <a:defRPr sz="1150">
                <a:solidFill>
                  <a:srgbClr val="444444"/>
                </a:solidFill>
              </a:defRPr>
            </a:pPr>
            <a:r>
              <a:t>  •  Beyond 1000 warm epochs, time advantage is lost with no accuracy recovery</a:t>
            </a:r>
          </a:p>
        </p:txBody>
      </p:sp>
      <p:sp>
        <p:nvSpPr>
          <p:cNvPr id="8" name="Rectangle 7"/>
          <p:cNvSpPr/>
          <p:nvPr/>
        </p:nvSpPr>
        <p:spPr>
          <a:xfrm>
            <a:off x="6126480" y="914400"/>
            <a:ext cx="4114800" cy="347472"/>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932688"/>
            <a:ext cx="4023360" cy="320040"/>
          </a:xfrm>
          <a:prstGeom prst="rect">
            <a:avLst/>
          </a:prstGeom>
          <a:noFill/>
        </p:spPr>
        <p:txBody>
          <a:bodyPr wrap="square">
            <a:spAutoFit/>
          </a:bodyPr>
          <a:lstStyle/>
          <a:p>
            <a:pPr algn="l"/>
            <a:r>
              <a:rPr sz="1000" b="1">
                <a:solidFill>
                  <a:srgbClr val="FFFFFF"/>
                </a:solidFill>
              </a:rPr>
              <a:t>Rectangle / NSGA-II / k=3  (example)</a:t>
            </a:r>
          </a:p>
        </p:txBody>
      </p:sp>
      <p:sp>
        <p:nvSpPr>
          <p:cNvPr id="10" name="Rectangle 9"/>
          <p:cNvSpPr/>
          <p:nvPr/>
        </p:nvSpPr>
        <p:spPr>
          <a:xfrm>
            <a:off x="6126480" y="1344168"/>
            <a:ext cx="4114800" cy="347472"/>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389888"/>
            <a:ext cx="1417320" cy="292608"/>
          </a:xfrm>
          <a:prstGeom prst="rect">
            <a:avLst/>
          </a:prstGeom>
          <a:noFill/>
        </p:spPr>
        <p:txBody>
          <a:bodyPr wrap="square">
            <a:spAutoFit/>
          </a:bodyPr>
          <a:lstStyle/>
          <a:p>
            <a:pPr algn="l"/>
            <a:r>
              <a:rPr sz="1000" b="1">
                <a:solidFill>
                  <a:srgbClr val="1C3557"/>
                </a:solidFill>
              </a:rPr>
              <a:t>Variant</a:t>
            </a:r>
          </a:p>
        </p:txBody>
      </p:sp>
      <p:sp>
        <p:nvSpPr>
          <p:cNvPr id="12" name="TextBox 11"/>
          <p:cNvSpPr txBox="1"/>
          <p:nvPr/>
        </p:nvSpPr>
        <p:spPr>
          <a:xfrm>
            <a:off x="7589520" y="1389888"/>
            <a:ext cx="1005840" cy="292608"/>
          </a:xfrm>
          <a:prstGeom prst="rect">
            <a:avLst/>
          </a:prstGeom>
          <a:noFill/>
        </p:spPr>
        <p:txBody>
          <a:bodyPr wrap="square">
            <a:spAutoFit/>
          </a:bodyPr>
          <a:lstStyle/>
          <a:p>
            <a:pPr algn="l"/>
            <a:r>
              <a:rPr sz="1000" b="1">
                <a:solidFill>
                  <a:srgbClr val="1C3557"/>
                </a:solidFill>
              </a:rPr>
              <a:t>Mean MAE</a:t>
            </a:r>
          </a:p>
        </p:txBody>
      </p:sp>
      <p:sp>
        <p:nvSpPr>
          <p:cNvPr id="13" name="TextBox 12"/>
          <p:cNvSpPr txBox="1"/>
          <p:nvPr/>
        </p:nvSpPr>
        <p:spPr>
          <a:xfrm>
            <a:off x="8595360" y="1389888"/>
            <a:ext cx="822960" cy="292608"/>
          </a:xfrm>
          <a:prstGeom prst="rect">
            <a:avLst/>
          </a:prstGeom>
          <a:noFill/>
        </p:spPr>
        <p:txBody>
          <a:bodyPr wrap="square">
            <a:spAutoFit/>
          </a:bodyPr>
          <a:lstStyle/>
          <a:p>
            <a:pPr algn="l"/>
            <a:r>
              <a:rPr sz="1000" b="1">
                <a:solidFill>
                  <a:srgbClr val="1C3557"/>
                </a:solidFill>
              </a:rPr>
              <a:t>Runtime</a:t>
            </a:r>
          </a:p>
        </p:txBody>
      </p:sp>
      <p:sp>
        <p:nvSpPr>
          <p:cNvPr id="14" name="TextBox 13"/>
          <p:cNvSpPr txBox="1"/>
          <p:nvPr/>
        </p:nvSpPr>
        <p:spPr>
          <a:xfrm>
            <a:off x="9418320" y="1389888"/>
            <a:ext cx="777240" cy="292608"/>
          </a:xfrm>
          <a:prstGeom prst="rect">
            <a:avLst/>
          </a:prstGeom>
          <a:noFill/>
        </p:spPr>
        <p:txBody>
          <a:bodyPr wrap="square">
            <a:spAutoFit/>
          </a:bodyPr>
          <a:lstStyle/>
          <a:p>
            <a:pPr algn="l"/>
            <a:r>
              <a:rPr sz="1000" b="1">
                <a:solidFill>
                  <a:srgbClr val="1C3557"/>
                </a:solidFill>
              </a:rPr>
              <a:t>Speedup</a:t>
            </a:r>
          </a:p>
        </p:txBody>
      </p:sp>
      <p:sp>
        <p:nvSpPr>
          <p:cNvPr id="15" name="Rectangle 14"/>
          <p:cNvSpPr/>
          <p:nvPr/>
        </p:nvSpPr>
        <p:spPr>
          <a:xfrm>
            <a:off x="6126480" y="1691640"/>
            <a:ext cx="411480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737360"/>
            <a:ext cx="1417320" cy="292608"/>
          </a:xfrm>
          <a:prstGeom prst="rect">
            <a:avLst/>
          </a:prstGeom>
          <a:noFill/>
        </p:spPr>
        <p:txBody>
          <a:bodyPr wrap="square">
            <a:spAutoFit/>
          </a:bodyPr>
          <a:lstStyle/>
          <a:p>
            <a:pPr algn="l"/>
            <a:r>
              <a:rPr sz="1000" b="1">
                <a:solidFill>
                  <a:srgbClr val="444444"/>
                </a:solidFill>
              </a:rPr>
              <a:t>Cold (800 ep)</a:t>
            </a:r>
          </a:p>
        </p:txBody>
      </p:sp>
      <p:sp>
        <p:nvSpPr>
          <p:cNvPr id="17" name="TextBox 16"/>
          <p:cNvSpPr txBox="1"/>
          <p:nvPr/>
        </p:nvSpPr>
        <p:spPr>
          <a:xfrm>
            <a:off x="7589520" y="1737360"/>
            <a:ext cx="1005840" cy="292608"/>
          </a:xfrm>
          <a:prstGeom prst="rect">
            <a:avLst/>
          </a:prstGeom>
          <a:noFill/>
        </p:spPr>
        <p:txBody>
          <a:bodyPr wrap="square">
            <a:spAutoFit/>
          </a:bodyPr>
          <a:lstStyle/>
          <a:p>
            <a:pPr algn="l"/>
            <a:r>
              <a:rPr sz="1000" b="0">
                <a:solidFill>
                  <a:srgbClr val="444444"/>
                </a:solidFill>
              </a:rPr>
              <a:t>5.34°C</a:t>
            </a:r>
          </a:p>
        </p:txBody>
      </p:sp>
      <p:sp>
        <p:nvSpPr>
          <p:cNvPr id="18" name="TextBox 17"/>
          <p:cNvSpPr txBox="1"/>
          <p:nvPr/>
        </p:nvSpPr>
        <p:spPr>
          <a:xfrm>
            <a:off x="8595360" y="1737360"/>
            <a:ext cx="822960" cy="292608"/>
          </a:xfrm>
          <a:prstGeom prst="rect">
            <a:avLst/>
          </a:prstGeom>
          <a:noFill/>
        </p:spPr>
        <p:txBody>
          <a:bodyPr wrap="square">
            <a:spAutoFit/>
          </a:bodyPr>
          <a:lstStyle/>
          <a:p>
            <a:pPr algn="l"/>
            <a:r>
              <a:rPr sz="1000" b="0">
                <a:solidFill>
                  <a:srgbClr val="444444"/>
                </a:solidFill>
              </a:rPr>
              <a:t>127 s</a:t>
            </a:r>
          </a:p>
        </p:txBody>
      </p:sp>
      <p:sp>
        <p:nvSpPr>
          <p:cNvPr id="19" name="TextBox 18"/>
          <p:cNvSpPr txBox="1"/>
          <p:nvPr/>
        </p:nvSpPr>
        <p:spPr>
          <a:xfrm>
            <a:off x="9418320" y="1737360"/>
            <a:ext cx="777240" cy="292608"/>
          </a:xfrm>
          <a:prstGeom prst="rect">
            <a:avLst/>
          </a:prstGeom>
          <a:noFill/>
        </p:spPr>
        <p:txBody>
          <a:bodyPr wrap="square">
            <a:spAutoFit/>
          </a:bodyPr>
          <a:lstStyle/>
          <a:p>
            <a:pPr algn="l"/>
            <a:r>
              <a:rPr sz="1000" b="0">
                <a:solidFill>
                  <a:srgbClr val="444444"/>
                </a:solidFill>
              </a:rPr>
              <a:t>1.0×</a:t>
            </a:r>
          </a:p>
        </p:txBody>
      </p:sp>
      <p:sp>
        <p:nvSpPr>
          <p:cNvPr id="20" name="Rectangle 19"/>
          <p:cNvSpPr/>
          <p:nvPr/>
        </p:nvSpPr>
        <p:spPr>
          <a:xfrm>
            <a:off x="6126480" y="2039112"/>
            <a:ext cx="4114800" cy="347472"/>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2084832"/>
            <a:ext cx="1417320" cy="292608"/>
          </a:xfrm>
          <a:prstGeom prst="rect">
            <a:avLst/>
          </a:prstGeom>
          <a:noFill/>
        </p:spPr>
        <p:txBody>
          <a:bodyPr wrap="square">
            <a:spAutoFit/>
          </a:bodyPr>
          <a:lstStyle/>
          <a:p>
            <a:pPr algn="l"/>
            <a:r>
              <a:rPr sz="1000" b="1">
                <a:solidFill>
                  <a:srgbClr val="444444"/>
                </a:solidFill>
              </a:rPr>
              <a:t>Warm 300 ep</a:t>
            </a:r>
          </a:p>
        </p:txBody>
      </p:sp>
      <p:sp>
        <p:nvSpPr>
          <p:cNvPr id="22" name="TextBox 21"/>
          <p:cNvSpPr txBox="1"/>
          <p:nvPr/>
        </p:nvSpPr>
        <p:spPr>
          <a:xfrm>
            <a:off x="7589520" y="2084832"/>
            <a:ext cx="1005840" cy="292608"/>
          </a:xfrm>
          <a:prstGeom prst="rect">
            <a:avLst/>
          </a:prstGeom>
          <a:noFill/>
        </p:spPr>
        <p:txBody>
          <a:bodyPr wrap="square">
            <a:spAutoFit/>
          </a:bodyPr>
          <a:lstStyle/>
          <a:p>
            <a:pPr algn="l"/>
            <a:r>
              <a:rPr sz="1000" b="0">
                <a:solidFill>
                  <a:srgbClr val="444444"/>
                </a:solidFill>
              </a:rPr>
              <a:t>12.22°C</a:t>
            </a:r>
          </a:p>
        </p:txBody>
      </p:sp>
      <p:sp>
        <p:nvSpPr>
          <p:cNvPr id="23" name="TextBox 22"/>
          <p:cNvSpPr txBox="1"/>
          <p:nvPr/>
        </p:nvSpPr>
        <p:spPr>
          <a:xfrm>
            <a:off x="8595360" y="2084832"/>
            <a:ext cx="822960" cy="292608"/>
          </a:xfrm>
          <a:prstGeom prst="rect">
            <a:avLst/>
          </a:prstGeom>
          <a:noFill/>
        </p:spPr>
        <p:txBody>
          <a:bodyPr wrap="square">
            <a:spAutoFit/>
          </a:bodyPr>
          <a:lstStyle/>
          <a:p>
            <a:pPr algn="l"/>
            <a:r>
              <a:rPr sz="1000" b="0">
                <a:solidFill>
                  <a:srgbClr val="444444"/>
                </a:solidFill>
              </a:rPr>
              <a:t>31 s</a:t>
            </a:r>
          </a:p>
        </p:txBody>
      </p:sp>
      <p:sp>
        <p:nvSpPr>
          <p:cNvPr id="24" name="TextBox 23"/>
          <p:cNvSpPr txBox="1"/>
          <p:nvPr/>
        </p:nvSpPr>
        <p:spPr>
          <a:xfrm>
            <a:off x="9418320" y="2084832"/>
            <a:ext cx="777240" cy="292608"/>
          </a:xfrm>
          <a:prstGeom prst="rect">
            <a:avLst/>
          </a:prstGeom>
          <a:noFill/>
        </p:spPr>
        <p:txBody>
          <a:bodyPr wrap="square">
            <a:spAutoFit/>
          </a:bodyPr>
          <a:lstStyle/>
          <a:p>
            <a:pPr algn="l"/>
            <a:r>
              <a:rPr sz="1000" b="0">
                <a:solidFill>
                  <a:srgbClr val="444444"/>
                </a:solidFill>
              </a:rPr>
              <a:t>4.1×</a:t>
            </a:r>
          </a:p>
        </p:txBody>
      </p:sp>
      <p:sp>
        <p:nvSpPr>
          <p:cNvPr id="25" name="Rectangle 24"/>
          <p:cNvSpPr/>
          <p:nvPr/>
        </p:nvSpPr>
        <p:spPr>
          <a:xfrm>
            <a:off x="6126480" y="2386584"/>
            <a:ext cx="411480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2432304"/>
            <a:ext cx="1417320" cy="292608"/>
          </a:xfrm>
          <a:prstGeom prst="rect">
            <a:avLst/>
          </a:prstGeom>
          <a:noFill/>
        </p:spPr>
        <p:txBody>
          <a:bodyPr wrap="square">
            <a:spAutoFit/>
          </a:bodyPr>
          <a:lstStyle/>
          <a:p>
            <a:pPr algn="l"/>
            <a:r>
              <a:rPr sz="1000" b="1">
                <a:solidFill>
                  <a:srgbClr val="2E7D32"/>
                </a:solidFill>
              </a:rPr>
              <a:t>Warm 500 ep</a:t>
            </a:r>
          </a:p>
        </p:txBody>
      </p:sp>
      <p:sp>
        <p:nvSpPr>
          <p:cNvPr id="27" name="TextBox 26"/>
          <p:cNvSpPr txBox="1"/>
          <p:nvPr/>
        </p:nvSpPr>
        <p:spPr>
          <a:xfrm>
            <a:off x="7589520" y="2432304"/>
            <a:ext cx="1005840" cy="292608"/>
          </a:xfrm>
          <a:prstGeom prst="rect">
            <a:avLst/>
          </a:prstGeom>
          <a:noFill/>
        </p:spPr>
        <p:txBody>
          <a:bodyPr wrap="square">
            <a:spAutoFit/>
          </a:bodyPr>
          <a:lstStyle/>
          <a:p>
            <a:pPr algn="l"/>
            <a:r>
              <a:rPr sz="1000" b="0">
                <a:solidFill>
                  <a:srgbClr val="2E7D32"/>
                </a:solidFill>
              </a:rPr>
              <a:t>5.99°C</a:t>
            </a:r>
          </a:p>
        </p:txBody>
      </p:sp>
      <p:sp>
        <p:nvSpPr>
          <p:cNvPr id="28" name="TextBox 27"/>
          <p:cNvSpPr txBox="1"/>
          <p:nvPr/>
        </p:nvSpPr>
        <p:spPr>
          <a:xfrm>
            <a:off x="8595360" y="2432304"/>
            <a:ext cx="822960" cy="292608"/>
          </a:xfrm>
          <a:prstGeom prst="rect">
            <a:avLst/>
          </a:prstGeom>
          <a:noFill/>
        </p:spPr>
        <p:txBody>
          <a:bodyPr wrap="square">
            <a:spAutoFit/>
          </a:bodyPr>
          <a:lstStyle/>
          <a:p>
            <a:pPr algn="l"/>
            <a:r>
              <a:rPr sz="1000" b="0">
                <a:solidFill>
                  <a:srgbClr val="2E7D32"/>
                </a:solidFill>
              </a:rPr>
              <a:t>46 s</a:t>
            </a:r>
          </a:p>
        </p:txBody>
      </p:sp>
      <p:sp>
        <p:nvSpPr>
          <p:cNvPr id="29" name="TextBox 28"/>
          <p:cNvSpPr txBox="1"/>
          <p:nvPr/>
        </p:nvSpPr>
        <p:spPr>
          <a:xfrm>
            <a:off x="9418320" y="2432304"/>
            <a:ext cx="777240" cy="292608"/>
          </a:xfrm>
          <a:prstGeom prst="rect">
            <a:avLst/>
          </a:prstGeom>
          <a:noFill/>
        </p:spPr>
        <p:txBody>
          <a:bodyPr wrap="square">
            <a:spAutoFit/>
          </a:bodyPr>
          <a:lstStyle/>
          <a:p>
            <a:pPr algn="l"/>
            <a:r>
              <a:rPr sz="1000" b="0">
                <a:solidFill>
                  <a:srgbClr val="2E7D32"/>
                </a:solidFill>
              </a:rPr>
              <a:t>2.8×</a:t>
            </a:r>
          </a:p>
        </p:txBody>
      </p:sp>
      <p:sp>
        <p:nvSpPr>
          <p:cNvPr id="30" name="Rectangle 29"/>
          <p:cNvSpPr/>
          <p:nvPr/>
        </p:nvSpPr>
        <p:spPr>
          <a:xfrm>
            <a:off x="6126480" y="2734056"/>
            <a:ext cx="4114800" cy="347472"/>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72200" y="2779776"/>
            <a:ext cx="1417320" cy="292608"/>
          </a:xfrm>
          <a:prstGeom prst="rect">
            <a:avLst/>
          </a:prstGeom>
          <a:noFill/>
        </p:spPr>
        <p:txBody>
          <a:bodyPr wrap="square">
            <a:spAutoFit/>
          </a:bodyPr>
          <a:lstStyle/>
          <a:p>
            <a:pPr algn="l"/>
            <a:r>
              <a:rPr sz="1000" b="1">
                <a:solidFill>
                  <a:srgbClr val="444444"/>
                </a:solidFill>
              </a:rPr>
              <a:t>Warm 1000 ep</a:t>
            </a:r>
          </a:p>
        </p:txBody>
      </p:sp>
      <p:sp>
        <p:nvSpPr>
          <p:cNvPr id="32" name="TextBox 31"/>
          <p:cNvSpPr txBox="1"/>
          <p:nvPr/>
        </p:nvSpPr>
        <p:spPr>
          <a:xfrm>
            <a:off x="7589520" y="2779776"/>
            <a:ext cx="1005840" cy="292608"/>
          </a:xfrm>
          <a:prstGeom prst="rect">
            <a:avLst/>
          </a:prstGeom>
          <a:noFill/>
        </p:spPr>
        <p:txBody>
          <a:bodyPr wrap="square">
            <a:spAutoFit/>
          </a:bodyPr>
          <a:lstStyle/>
          <a:p>
            <a:pPr algn="l"/>
            <a:r>
              <a:rPr sz="1000" b="0">
                <a:solidFill>
                  <a:srgbClr val="444444"/>
                </a:solidFill>
              </a:rPr>
              <a:t>5.81°C</a:t>
            </a:r>
          </a:p>
        </p:txBody>
      </p:sp>
      <p:sp>
        <p:nvSpPr>
          <p:cNvPr id="33" name="TextBox 32"/>
          <p:cNvSpPr txBox="1"/>
          <p:nvPr/>
        </p:nvSpPr>
        <p:spPr>
          <a:xfrm>
            <a:off x="8595360" y="2779776"/>
            <a:ext cx="822960" cy="292608"/>
          </a:xfrm>
          <a:prstGeom prst="rect">
            <a:avLst/>
          </a:prstGeom>
          <a:noFill/>
        </p:spPr>
        <p:txBody>
          <a:bodyPr wrap="square">
            <a:spAutoFit/>
          </a:bodyPr>
          <a:lstStyle/>
          <a:p>
            <a:pPr algn="l"/>
            <a:r>
              <a:rPr sz="1000" b="0">
                <a:solidFill>
                  <a:srgbClr val="444444"/>
                </a:solidFill>
              </a:rPr>
              <a:t>76 s</a:t>
            </a:r>
          </a:p>
        </p:txBody>
      </p:sp>
      <p:sp>
        <p:nvSpPr>
          <p:cNvPr id="34" name="TextBox 33"/>
          <p:cNvSpPr txBox="1"/>
          <p:nvPr/>
        </p:nvSpPr>
        <p:spPr>
          <a:xfrm>
            <a:off x="9418320" y="2779776"/>
            <a:ext cx="777240" cy="292608"/>
          </a:xfrm>
          <a:prstGeom prst="rect">
            <a:avLst/>
          </a:prstGeom>
          <a:noFill/>
        </p:spPr>
        <p:txBody>
          <a:bodyPr wrap="square">
            <a:spAutoFit/>
          </a:bodyPr>
          <a:lstStyle/>
          <a:p>
            <a:pPr algn="l"/>
            <a:r>
              <a:rPr sz="1000" b="0">
                <a:solidFill>
                  <a:srgbClr val="444444"/>
                </a:solidFill>
              </a:rPr>
              <a:t>1.7×</a:t>
            </a:r>
          </a:p>
        </p:txBody>
      </p:sp>
      <p:sp>
        <p:nvSpPr>
          <p:cNvPr id="35" name="Rectangle 34"/>
          <p:cNvSpPr/>
          <p:nvPr/>
        </p:nvSpPr>
        <p:spPr>
          <a:xfrm>
            <a:off x="6126480" y="3081528"/>
            <a:ext cx="4114800" cy="34747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72200" y="3127248"/>
            <a:ext cx="1417320" cy="292608"/>
          </a:xfrm>
          <a:prstGeom prst="rect">
            <a:avLst/>
          </a:prstGeom>
          <a:noFill/>
        </p:spPr>
        <p:txBody>
          <a:bodyPr wrap="square">
            <a:spAutoFit/>
          </a:bodyPr>
          <a:lstStyle/>
          <a:p>
            <a:pPr algn="l"/>
            <a:r>
              <a:rPr sz="1000" b="1">
                <a:solidFill>
                  <a:srgbClr val="444444"/>
                </a:solidFill>
              </a:rPr>
              <a:t>Warm 2000 ep</a:t>
            </a:r>
          </a:p>
        </p:txBody>
      </p:sp>
      <p:sp>
        <p:nvSpPr>
          <p:cNvPr id="37" name="TextBox 36"/>
          <p:cNvSpPr txBox="1"/>
          <p:nvPr/>
        </p:nvSpPr>
        <p:spPr>
          <a:xfrm>
            <a:off x="7589520" y="3127248"/>
            <a:ext cx="1005840" cy="292608"/>
          </a:xfrm>
          <a:prstGeom prst="rect">
            <a:avLst/>
          </a:prstGeom>
          <a:noFill/>
        </p:spPr>
        <p:txBody>
          <a:bodyPr wrap="square">
            <a:spAutoFit/>
          </a:bodyPr>
          <a:lstStyle/>
          <a:p>
            <a:pPr algn="l"/>
            <a:r>
              <a:rPr sz="1000" b="0">
                <a:solidFill>
                  <a:srgbClr val="444444"/>
                </a:solidFill>
              </a:rPr>
              <a:t>5.54°C</a:t>
            </a:r>
          </a:p>
        </p:txBody>
      </p:sp>
      <p:sp>
        <p:nvSpPr>
          <p:cNvPr id="38" name="TextBox 37"/>
          <p:cNvSpPr txBox="1"/>
          <p:nvPr/>
        </p:nvSpPr>
        <p:spPr>
          <a:xfrm>
            <a:off x="8595360" y="3127248"/>
            <a:ext cx="822960" cy="292608"/>
          </a:xfrm>
          <a:prstGeom prst="rect">
            <a:avLst/>
          </a:prstGeom>
          <a:noFill/>
        </p:spPr>
        <p:txBody>
          <a:bodyPr wrap="square">
            <a:spAutoFit/>
          </a:bodyPr>
          <a:lstStyle/>
          <a:p>
            <a:pPr algn="l"/>
            <a:r>
              <a:rPr sz="1000" b="0">
                <a:solidFill>
                  <a:srgbClr val="444444"/>
                </a:solidFill>
              </a:rPr>
              <a:t>141 s</a:t>
            </a:r>
          </a:p>
        </p:txBody>
      </p:sp>
      <p:sp>
        <p:nvSpPr>
          <p:cNvPr id="39" name="TextBox 38"/>
          <p:cNvSpPr txBox="1"/>
          <p:nvPr/>
        </p:nvSpPr>
        <p:spPr>
          <a:xfrm>
            <a:off x="9418320" y="3127248"/>
            <a:ext cx="777240" cy="292608"/>
          </a:xfrm>
          <a:prstGeom prst="rect">
            <a:avLst/>
          </a:prstGeom>
          <a:noFill/>
        </p:spPr>
        <p:txBody>
          <a:bodyPr wrap="square">
            <a:spAutoFit/>
          </a:bodyPr>
          <a:lstStyle/>
          <a:p>
            <a:pPr algn="l"/>
            <a:r>
              <a:rPr sz="1000" b="0">
                <a:solidFill>
                  <a:srgbClr val="444444"/>
                </a:solidFill>
              </a:rPr>
              <a:t>0.9×</a:t>
            </a:r>
          </a:p>
        </p:txBody>
      </p:sp>
      <p:sp>
        <p:nvSpPr>
          <p:cNvPr id="40" name="TextBox 39"/>
          <p:cNvSpPr txBox="1"/>
          <p:nvPr/>
        </p:nvSpPr>
        <p:spPr>
          <a:xfrm>
            <a:off x="6126480" y="3483864"/>
            <a:ext cx="5029200" cy="320040"/>
          </a:xfrm>
          <a:prstGeom prst="rect">
            <a:avLst/>
          </a:prstGeom>
          <a:noFill/>
        </p:spPr>
        <p:txBody>
          <a:bodyPr wrap="square">
            <a:spAutoFit/>
          </a:bodyPr>
          <a:lstStyle/>
          <a:p>
            <a:pPr algn="l"/>
            <a:r>
              <a:rPr sz="1050" b="1">
                <a:solidFill>
                  <a:srgbClr val="2E7D32"/>
                </a:solidFill>
              </a:rPr>
              <a:t>★ ws_500ep: best accuracy/speed balance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Warm-Start: MAE vs k (Cold / v2 / Warm)</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Mean MAE across domains — cold-start (800 ep) vs v2 (Fourier+SA) vs warm-start (500 ep)</a:t>
            </a:r>
          </a:p>
        </p:txBody>
      </p:sp>
      <p:pic>
        <p:nvPicPr>
          <p:cNvPr id="6" name="Picture 5" descr="fig_ws_mae_comparison_3d.png"/>
          <p:cNvPicPr>
            <a:picLocks noChangeAspect="1"/>
          </p:cNvPicPr>
          <p:nvPr/>
        </p:nvPicPr>
        <p:blipFill>
          <a:blip r:embed="rId2"/>
          <a:stretch>
            <a:fillRect/>
          </a:stretch>
        </p:blipFill>
        <p:spPr>
          <a:xfrm>
            <a:off x="6217920" y="914400"/>
            <a:ext cx="5577840" cy="1204461"/>
          </a:xfrm>
          <a:prstGeom prst="rect">
            <a:avLst/>
          </a:prstGeom>
        </p:spPr>
      </p:pic>
      <p:sp>
        <p:nvSpPr>
          <p:cNvPr id="7" name="TextBox 6"/>
          <p:cNvSpPr txBox="1"/>
          <p:nvPr/>
        </p:nvSpPr>
        <p:spPr>
          <a:xfrm>
            <a:off x="274320" y="5897880"/>
            <a:ext cx="5577840" cy="320040"/>
          </a:xfrm>
          <a:prstGeom prst="rect">
            <a:avLst/>
          </a:prstGeom>
          <a:noFill/>
        </p:spPr>
        <p:txBody>
          <a:bodyPr wrap="square">
            <a:spAutoFit/>
          </a:bodyPr>
          <a:lstStyle/>
          <a:p>
            <a:pPr algn="ctr"/>
            <a:r>
              <a:rPr sz="1100" b="1">
                <a:solidFill>
                  <a:srgbClr val="1C3557"/>
                </a:solidFill>
              </a:rPr>
              <a:t>2D Domains</a:t>
            </a:r>
          </a:p>
        </p:txBody>
      </p:sp>
      <p:sp>
        <p:nvSpPr>
          <p:cNvPr id="8" name="TextBox 7"/>
          <p:cNvSpPr txBox="1"/>
          <p:nvPr/>
        </p:nvSpPr>
        <p:spPr>
          <a:xfrm>
            <a:off x="6217920" y="5897880"/>
            <a:ext cx="5577840" cy="320040"/>
          </a:xfrm>
          <a:prstGeom prst="rect">
            <a:avLst/>
          </a:prstGeom>
          <a:noFill/>
        </p:spPr>
        <p:txBody>
          <a:bodyPr wrap="square">
            <a:spAutoFit/>
          </a:bodyPr>
          <a:lstStyle/>
          <a:p>
            <a:pPr algn="ctr"/>
            <a:r>
              <a:rPr sz="1100" b="1">
                <a:solidFill>
                  <a:srgbClr val="1C3557"/>
                </a:solidFill>
              </a:rPr>
              <a:t>3D Domains</a:t>
            </a:r>
          </a:p>
        </p:txBody>
      </p:sp>
      <p:sp>
        <p:nvSpPr>
          <p:cNvPr id="9" name="TextBox 8"/>
          <p:cNvSpPr txBox="1"/>
          <p:nvPr/>
        </p:nvSpPr>
        <p:spPr>
          <a:xfrm>
            <a:off x="274320" y="6263640"/>
            <a:ext cx="11612880" cy="411480"/>
          </a:xfrm>
          <a:prstGeom prst="rect">
            <a:avLst/>
          </a:prstGeom>
          <a:noFill/>
        </p:spPr>
        <p:txBody>
          <a:bodyPr wrap="square">
            <a:spAutoFit/>
          </a:bodyPr>
          <a:lstStyle/>
          <a:p>
            <a:pPr algn="ctr"/>
            <a:r>
              <a:rPr sz="1000" b="0" i="1">
                <a:solidFill>
                  <a:srgbClr val="444444"/>
                </a:solidFill>
              </a:rPr>
              <a:t>Bayesian v2 (Fourier+SA): consistent improvement over cold.  Warm-start (500 ep) matches or exceeds cold (800 ep) at 38% fewer epochs.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400" b="1">
                <a:solidFill>
                  <a:srgbClr val="FFFFFF"/>
                </a:solidFill>
              </a:rPr>
              <a:t>Warm-Start: Summary &amp; Recommendation</a:t>
            </a:r>
          </a:p>
        </p:txBody>
      </p:sp>
      <p:sp>
        <p:nvSpPr>
          <p:cNvPr id="5" name="TextBox 4"/>
          <p:cNvSpPr txBox="1"/>
          <p:nvPr/>
        </p:nvSpPr>
        <p:spPr>
          <a:xfrm>
            <a:off x="365760" y="594360"/>
            <a:ext cx="11430000" cy="347472"/>
          </a:xfrm>
          <a:prstGeom prst="rect">
            <a:avLst/>
          </a:prstGeom>
          <a:noFill/>
        </p:spPr>
        <p:txBody>
          <a:bodyPr wrap="square">
            <a:spAutoFit/>
          </a:bodyPr>
          <a:lstStyle/>
          <a:p>
            <a:pPr algn="l"/>
            <a:r>
              <a:rPr sz="1300" b="0">
                <a:solidFill>
                  <a:srgbClr val="CCD1D9"/>
                </a:solidFill>
              </a:rPr>
              <a:t>Numeric summary table and colour-coded recommendation per (arch, domain)</a:t>
            </a:r>
          </a:p>
        </p:txBody>
      </p:sp>
      <p:sp>
        <p:nvSpPr>
          <p:cNvPr id="6" name="TextBox 5"/>
          <p:cNvSpPr txBox="1"/>
          <p:nvPr/>
        </p:nvSpPr>
        <p:spPr>
          <a:xfrm>
            <a:off x="182880" y="5989320"/>
            <a:ext cx="5760720" cy="320040"/>
          </a:xfrm>
          <a:prstGeom prst="rect">
            <a:avLst/>
          </a:prstGeom>
          <a:noFill/>
        </p:spPr>
        <p:txBody>
          <a:bodyPr wrap="square">
            <a:spAutoFit/>
          </a:bodyPr>
          <a:lstStyle/>
          <a:p>
            <a:pPr algn="ctr"/>
            <a:r>
              <a:rPr sz="1100" b="1">
                <a:solidFill>
                  <a:srgbClr val="1C3557"/>
                </a:solidFill>
              </a:rPr>
              <a:t>Summary Table (2D)</a:t>
            </a:r>
          </a:p>
        </p:txBody>
      </p:sp>
      <p:sp>
        <p:nvSpPr>
          <p:cNvPr id="7" name="TextBox 6"/>
          <p:cNvSpPr txBox="1"/>
          <p:nvPr/>
        </p:nvSpPr>
        <p:spPr>
          <a:xfrm>
            <a:off x="6126480" y="5989320"/>
            <a:ext cx="5760720" cy="320040"/>
          </a:xfrm>
          <a:prstGeom prst="rect">
            <a:avLst/>
          </a:prstGeom>
          <a:noFill/>
        </p:spPr>
        <p:txBody>
          <a:bodyPr wrap="square">
            <a:spAutoFit/>
          </a:bodyPr>
          <a:lstStyle/>
          <a:p>
            <a:pPr algn="ctr"/>
            <a:r>
              <a:rPr sz="1100" b="1">
                <a:solidFill>
                  <a:srgbClr val="1C3557"/>
                </a:solidFill>
              </a:rPr>
              <a:t>Recommendation Matrix (2D)</a:t>
            </a:r>
          </a:p>
        </p:txBody>
      </p:sp>
      <p:sp>
        <p:nvSpPr>
          <p:cNvPr id="8" name="TextBox 7"/>
          <p:cNvSpPr txBox="1"/>
          <p:nvPr/>
        </p:nvSpPr>
        <p:spPr>
          <a:xfrm>
            <a:off x="182880" y="6309360"/>
            <a:ext cx="11795760" cy="365760"/>
          </a:xfrm>
          <a:prstGeom prst="rect">
            <a:avLst/>
          </a:prstGeom>
          <a:noFill/>
        </p:spPr>
        <p:txBody>
          <a:bodyPr wrap="square">
            <a:spAutoFit/>
          </a:bodyPr>
          <a:lstStyle/>
          <a:p>
            <a:pPr algn="ctr"/>
            <a:r>
              <a:rPr sz="1000" b="0" i="1">
                <a:solidFill>
                  <a:srgbClr val="444444"/>
                </a:solidFill>
              </a:rPr>
              <a:t>Green = warm-start recommended  |  Yellow = marginal  |  Red = cold-start preferred.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Warm-Start Heatmap — Rectangle 2D  (Bayesian)</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ayesian_rectangle_2d_k1_ws.png"/>
          <p:cNvPicPr>
            <a:picLocks noChangeAspect="1"/>
          </p:cNvPicPr>
          <p:nvPr/>
        </p:nvPicPr>
        <p:blipFill>
          <a:blip r:embed="rId2"/>
          <a:stretch>
            <a:fillRect/>
          </a:stretch>
        </p:blipFill>
        <p:spPr>
          <a:xfrm>
            <a:off x="228600" y="731520"/>
            <a:ext cx="11731752" cy="10296014"/>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Bayesian  |  k=1  |  Row1=Reference  Row2=Cold(800ep)  Row3=Warm(500ep)  Row4/5=Error</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Cold = 800 ep  |  Warm = 500 ep, lr=1e-3  |  Lower error = better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Warm-Start Heatmap — Rectangle 2D  (NSGA-II)</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sga2_rectangle_2d_k1_ws.png"/>
          <p:cNvPicPr>
            <a:picLocks noChangeAspect="1"/>
          </p:cNvPicPr>
          <p:nvPr/>
        </p:nvPicPr>
        <p:blipFill>
          <a:blip r:embed="rId2"/>
          <a:stretch>
            <a:fillRect/>
          </a:stretch>
        </p:blipFill>
        <p:spPr>
          <a:xfrm>
            <a:off x="228600" y="731520"/>
            <a:ext cx="11731752" cy="10296014"/>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NSGA-II  |  k=1  |  Row1=Reference  Row2=Cold  Row3=Warm  Row4/5=|Error|</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Cold = 800 ep  |  Warm = 500 ep, lr=1e-3  |  Lower error = better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8"/>
          </a:solidFill>
          <a:ln>
            <a:solidFill>
              <a:srgbClr val="F4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9436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11430000" cy="502920"/>
          </a:xfrm>
          <a:prstGeom prst="rect">
            <a:avLst/>
          </a:prstGeom>
          <a:noFill/>
        </p:spPr>
        <p:txBody>
          <a:bodyPr wrap="square">
            <a:spAutoFit/>
          </a:bodyPr>
          <a:lstStyle/>
          <a:p>
            <a:pPr algn="l"/>
            <a:r>
              <a:rPr sz="2200" b="1">
                <a:solidFill>
                  <a:srgbClr val="FFFFFF"/>
                </a:solidFill>
              </a:rPr>
              <a:t>Warm-Start Heatmap — Rectangle 2D  (NSGA-III)</a:t>
            </a:r>
          </a:p>
        </p:txBody>
      </p:sp>
      <p:sp>
        <p:nvSpPr>
          <p:cNvPr id="5" name="Rectangle 4"/>
          <p:cNvSpPr/>
          <p:nvPr/>
        </p:nvSpPr>
        <p:spPr>
          <a:xfrm>
            <a:off x="182880" y="685800"/>
            <a:ext cx="11823192" cy="534924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sga3_rectangle_2d_k1_ws.png"/>
          <p:cNvPicPr>
            <a:picLocks noChangeAspect="1"/>
          </p:cNvPicPr>
          <p:nvPr/>
        </p:nvPicPr>
        <p:blipFill>
          <a:blip r:embed="rId2"/>
          <a:stretch>
            <a:fillRect/>
          </a:stretch>
        </p:blipFill>
        <p:spPr>
          <a:xfrm>
            <a:off x="228600" y="731520"/>
            <a:ext cx="11731752" cy="10296014"/>
          </a:xfrm>
          <a:prstGeom prst="rect">
            <a:avLst/>
          </a:prstGeom>
        </p:spPr>
      </p:pic>
      <p:sp>
        <p:nvSpPr>
          <p:cNvPr id="7" name="Rectangle 6"/>
          <p:cNvSpPr/>
          <p:nvPr/>
        </p:nvSpPr>
        <p:spPr>
          <a:xfrm>
            <a:off x="182880" y="6080760"/>
            <a:ext cx="11823192" cy="457200"/>
          </a:xfrm>
          <a:prstGeom prst="rect">
            <a:avLst/>
          </a:prstGeom>
          <a:solidFill>
            <a:srgbClr val="E8F0FE"/>
          </a:solidFill>
          <a:ln>
            <a:solidFill>
              <a:srgbClr val="E8F0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126480"/>
            <a:ext cx="11430000" cy="365760"/>
          </a:xfrm>
          <a:prstGeom prst="rect">
            <a:avLst/>
          </a:prstGeom>
          <a:noFill/>
        </p:spPr>
        <p:txBody>
          <a:bodyPr wrap="square">
            <a:spAutoFit/>
          </a:bodyPr>
          <a:lstStyle/>
          <a:p>
            <a:pPr algn="ctr"/>
            <a:r>
              <a:rPr sz="1200" b="1">
                <a:solidFill>
                  <a:srgbClr val="1C3557"/>
                </a:solidFill>
              </a:rPr>
              <a:t>NSGA-III  |  k=1  |  Row1=Reference  Row2=Cold  Row3=Warm  Row4/5=|Error|</a:t>
            </a:r>
          </a:p>
        </p:txBody>
      </p:sp>
      <p:sp>
        <p:nvSpPr>
          <p:cNvPr id="9" name="Rectangle 8"/>
          <p:cNvSpPr/>
          <p:nvPr/>
        </p:nvSpPr>
        <p:spPr>
          <a:xfrm>
            <a:off x="0" y="6565392"/>
            <a:ext cx="12188952" cy="292608"/>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92824"/>
            <a:ext cx="11247120" cy="237744"/>
          </a:xfrm>
          <a:prstGeom prst="rect">
            <a:avLst/>
          </a:prstGeom>
          <a:noFill/>
        </p:spPr>
        <p:txBody>
          <a:bodyPr wrap="square">
            <a:spAutoFit/>
          </a:bodyPr>
          <a:lstStyle/>
          <a:p>
            <a:pPr algn="ctr"/>
            <a:r>
              <a:rPr sz="1000" b="0">
                <a:solidFill>
                  <a:srgbClr val="FFFFFF"/>
                </a:solidFill>
              </a:rPr>
              <a:t>Cold = 800 ep  |  Warm = 500 ep, lr=1e-3  |  Lower error = better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C3557"/>
          </a:solidFill>
          <a:ln>
            <a:solidFill>
              <a:srgbClr val="1C35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257800"/>
            <a:ext cx="12188952" cy="73152"/>
          </a:xfrm>
          <a:prstGeom prst="rect">
            <a:avLst/>
          </a:prstGeom>
          <a:solidFill>
            <a:srgbClr val="00BCD4"/>
          </a:solidFill>
          <a:ln>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11064240" cy="594360"/>
          </a:xfrm>
          <a:prstGeom prst="rect">
            <a:avLst/>
          </a:prstGeom>
          <a:noFill/>
        </p:spPr>
        <p:txBody>
          <a:bodyPr wrap="square">
            <a:spAutoFit/>
          </a:bodyPr>
          <a:lstStyle/>
          <a:p>
            <a:pPr algn="ctr"/>
            <a:r>
              <a:rPr sz="3200" b="1">
                <a:solidFill>
                  <a:srgbClr val="FFFFFF"/>
                </a:solidFill>
              </a:rPr>
              <a:t>Conclusions &amp; References</a:t>
            </a:r>
          </a:p>
        </p:txBody>
      </p:sp>
      <p:sp>
        <p:nvSpPr>
          <p:cNvPr id="5" name="TextBox 4"/>
          <p:cNvSpPr txBox="1"/>
          <p:nvPr/>
        </p:nvSpPr>
        <p:spPr>
          <a:xfrm>
            <a:off x="548640" y="960120"/>
            <a:ext cx="10881360" cy="3886200"/>
          </a:xfrm>
          <a:prstGeom prst="rect">
            <a:avLst/>
          </a:prstGeom>
          <a:noFill/>
        </p:spPr>
        <p:txBody>
          <a:bodyPr wrap="square">
            <a:spAutoFit/>
          </a:bodyPr>
          <a:lstStyle/>
          <a:p>
            <a:pPr>
              <a:spcBef>
                <a:spcPts val="500"/>
              </a:spcBef>
              <a:defRPr sz="1350">
                <a:solidFill>
                  <a:srgbClr val="FFFFFF"/>
                </a:solidFill>
              </a:defRPr>
            </a:pPr>
            <a:r>
              <a:t>✔  2D performance: most L2 &lt; 3%; best = 0.83% (L-shape, NSGA-III, k=1)</a:t>
            </a:r>
          </a:p>
          <a:p>
            <a:pPr>
              <a:spcBef>
                <a:spcPts val="500"/>
              </a:spcBef>
              <a:defRPr sz="1350">
                <a:solidFill>
                  <a:srgbClr val="FFFFFF"/>
                </a:solidFill>
              </a:defRPr>
            </a:pPr>
            <a:r>
              <a:t>✔  3D performance: most L2 &lt; 6%; best = 0.91% (L-shape 3D, NSGA-III, k=1)</a:t>
            </a:r>
          </a:p>
          <a:p>
            <a:pPr>
              <a:spcBef>
                <a:spcPts val="500"/>
              </a:spcBef>
              <a:defRPr sz="1350">
                <a:solidFill>
                  <a:srgbClr val="FFFFFF"/>
                </a:solidFill>
              </a:defRPr>
            </a:pPr>
            <a:r>
              <a:t>✔  FEM call reduction: up to 5× with Bayesian on Rectangular and Stacked 3D</a:t>
            </a:r>
          </a:p>
          <a:p>
            <a:pPr>
              <a:spcBef>
                <a:spcPts val="500"/>
              </a:spcBef>
              <a:defRPr sz="1350">
                <a:solidFill>
                  <a:srgbClr val="FFFFFF"/>
                </a:solidFill>
              </a:defRPr>
            </a:pPr>
            <a:r>
              <a:t>✔  Bayesian: fastest convergence, best FEM reduction with acceptable accuracy</a:t>
            </a:r>
          </a:p>
          <a:p>
            <a:pPr>
              <a:spcBef>
                <a:spcPts val="500"/>
              </a:spcBef>
              <a:defRPr sz="1350">
                <a:solidFill>
                  <a:srgbClr val="FFFFFF"/>
                </a:solidFill>
              </a:defRPr>
            </a:pPr>
            <a:r>
              <a:t>✔  NSGA-II / III: higher accuracy but more FEM calls; best suited for precision tasks</a:t>
            </a:r>
          </a:p>
          <a:p>
            <a:pPr>
              <a:spcBef>
                <a:spcPts val="500"/>
              </a:spcBef>
              <a:defRPr sz="1350">
                <a:solidFill>
                  <a:srgbClr val="FFFFFF"/>
                </a:solidFill>
              </a:defRPr>
            </a:pPr>
            <a:r>
              <a:t>✔  IC-consistent output + Fourier features + SA weights: robust across all geometries</a:t>
            </a:r>
          </a:p>
          <a:p>
            <a:pPr>
              <a:spcBef>
                <a:spcPts val="500"/>
              </a:spcBef>
              <a:defRPr sz="1350">
                <a:solidFill>
                  <a:srgbClr val="FFFFFF"/>
                </a:solidFill>
              </a:defRPr>
            </a:pPr>
            <a:r>
              <a:t>✔  1500-ep retrain (NSGA-II/III) improves absolute accuracy by ~0.2–0.5% L2</a:t>
            </a:r>
          </a:p>
        </p:txBody>
      </p:sp>
      <p:sp>
        <p:nvSpPr>
          <p:cNvPr id="6" name="TextBox 5"/>
          <p:cNvSpPr txBox="1"/>
          <p:nvPr/>
        </p:nvSpPr>
        <p:spPr>
          <a:xfrm>
            <a:off x="548640" y="4892040"/>
            <a:ext cx="11064240" cy="320040"/>
          </a:xfrm>
          <a:prstGeom prst="rect">
            <a:avLst/>
          </a:prstGeom>
          <a:noFill/>
        </p:spPr>
        <p:txBody>
          <a:bodyPr wrap="square">
            <a:spAutoFit/>
          </a:bodyPr>
          <a:lstStyle/>
          <a:p>
            <a:pPr algn="l"/>
            <a:r>
              <a:rPr sz="1400" b="1">
                <a:solidFill>
                  <a:srgbClr val="00BCD4"/>
                </a:solidFill>
              </a:rPr>
              <a:t>References</a:t>
            </a:r>
          </a:p>
        </p:txBody>
      </p:sp>
      <p:sp>
        <p:nvSpPr>
          <p:cNvPr id="7" name="TextBox 6"/>
          <p:cNvSpPr txBox="1"/>
          <p:nvPr/>
        </p:nvSpPr>
        <p:spPr>
          <a:xfrm>
            <a:off x="548640" y="5239512"/>
            <a:ext cx="11064240" cy="731520"/>
          </a:xfrm>
          <a:prstGeom prst="rect">
            <a:avLst/>
          </a:prstGeom>
          <a:noFill/>
        </p:spPr>
        <p:txBody>
          <a:bodyPr wrap="square">
            <a:spAutoFit/>
          </a:bodyPr>
          <a:lstStyle/>
          <a:p>
            <a:pPr algn="l"/>
            <a:r>
              <a:rPr sz="1000" b="0" i="1">
                <a:solidFill>
                  <a:srgbClr val="CCD1D9"/>
                </a:solidFill>
              </a:rPr>
              <a:t>[1] Mortensen D., Noorsumar G., Fjær H.G., Babaei R., Drønen P.E. (2026). Modelling of distortions on large aluminium automotive subframes during casting, heat treatment and quenching. Int. J. Adv. Manuf. Technol. https://doi.org/10.1007/s00170-026-17515-w    [2] Wang &amp; Zhong (2023). NAS-PINN: Neural Architecture Search-guided PINN. arXiv:2305.10127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