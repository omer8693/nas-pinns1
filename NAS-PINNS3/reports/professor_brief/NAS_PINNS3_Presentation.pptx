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NAS-MCO-PINNs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BCCFF"/>
                </a:solidFill>
              </a:rPr>
              <a:t>Neural Architecture Search with Multi-Loss Consistency
Optimization and Skip Operator for 3D Thermal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BBDD"/>
                </a:solidFill>
              </a:rPr>
              <a:t>Project Progress Report  — 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37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AACC"/>
                </a:solidFill>
              </a:rPr>
              <a:t>A356 Aluminum Water Quenching  •  48 Training Runs  •  4 Domains  •  3 NAS Optimizers  •  4 Skip Values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251960"/>
            <a:ext cx="1737360" cy="13716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361688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0292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CCFF"/>
                </a:solidFill>
              </a:rPr>
              <a:t>3D Domains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4251960"/>
            <a:ext cx="1737360" cy="13716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4361688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50292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CCFF"/>
                </a:solidFill>
              </a:rPr>
              <a:t>NAS Optimizers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4251960"/>
            <a:ext cx="1737360" cy="13716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4361688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50292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CCFF"/>
                </a:solidFill>
              </a:rPr>
              <a:t>Skip Values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251960"/>
            <a:ext cx="1737360" cy="13716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361688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0292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CCFF"/>
                </a:solidFill>
              </a:rPr>
              <a:t>Total Runs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4251960"/>
            <a:ext cx="1737360" cy="13716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4361688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81%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50292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CCFF"/>
                </a:solidFill>
              </a:rPr>
              <a:t>Max FEM
Savings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04120" y="4251960"/>
            <a:ext cx="1737360" cy="13716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04120" y="4361688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2.19°C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20" y="50292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CCFF"/>
                </a:solidFill>
              </a:rPr>
              <a:t>Best MAE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Motivation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</a:rPr>
              <a:t>Why do we need a Skip Operator for PINNs?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394960" cy="521208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1A237E"/>
                </a:solidFill>
              </a:rPr>
              <a:t>Standard PINN Approach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555555"/>
                </a:solidFill>
              </a:rPr>
              <a:t>  •  One PINN training run per FEM time step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555555"/>
                </a:solidFill>
              </a:rPr>
              <a:t>  •  21 FEM steps → 21 separate PINN trainings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555555"/>
                </a:solidFill>
              </a:rPr>
              <a:t>  •  Heavy computational cost per simulation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555555"/>
                </a:solidFill>
              </a:rPr>
              <a:t>  •  No reuse of learned structure across windows</a:t>
            </a:r>
          </a:p>
          <a:p>
            <a:pPr algn="l">
              <a:spcBef>
                <a:spcPts val="200"/>
              </a:spcBef>
            </a:pPr>
            <a:r>
              <a:rPr sz="800" b="0" i="0">
                <a:solidFill>
                  <a:srgbClr val="555555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700" b="1" i="0">
                <a:solidFill>
                  <a:srgbClr val="2E7D32"/>
                </a:solidFill>
              </a:rPr>
              <a:t>Our Approach: Skip Operator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555555"/>
                </a:solidFill>
              </a:rPr>
              <a:t>  •  One PINN predicts s steps ahead at once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555555"/>
                </a:solidFill>
              </a:rPr>
              <a:t>  •  FEM calls reduced to ⌈N/s⌉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2E7D32"/>
                </a:solidFill>
              </a:rPr>
              <a:t>  •  s=2: 52% savings  |  s=6: 81% savings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555555"/>
                </a:solidFill>
              </a:rPr>
              <a:t>  •  NAS finds best architecture automatically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555555"/>
                </a:solidFill>
              </a:rPr>
              <a:t>  •  MCO handles adaptive loss weighting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234440"/>
            <a:ext cx="5852160" cy="521208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3258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37E"/>
                </a:solidFill>
              </a:rPr>
              <a:t>FEM Computation Savings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80760" y="1783080"/>
          <a:ext cx="5669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463040"/>
                <a:gridCol w="1097280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Skip 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FEM Steps Saved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Reduction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PINN Runs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s = 1  (baseline)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0 steps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21 runs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D47A1"/>
                          </a:solidFill>
                        </a:rPr>
                        <a:t>s = 2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D47A1"/>
                          </a:solidFill>
                        </a:rPr>
                        <a:t>10 steps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D47A1"/>
                          </a:solidFill>
                        </a:rPr>
                        <a:t>52%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D47A1"/>
                          </a:solidFill>
                        </a:rPr>
                        <a:t>11 runs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5E20"/>
                          </a:solidFill>
                        </a:rPr>
                        <a:t>s = 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5E20"/>
                          </a:solidFill>
                        </a:rPr>
                        <a:t>15 steps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5E20"/>
                          </a:solidFill>
                        </a:rPr>
                        <a:t>71%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5E20"/>
                          </a:solidFill>
                        </a:rPr>
                        <a:t>6 runs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148C"/>
                          </a:solidFill>
                        </a:rPr>
                        <a:t>s = 6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148C"/>
                          </a:solidFill>
                        </a:rPr>
                        <a:t>17 steps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148C"/>
                          </a:solidFill>
                        </a:rPr>
                        <a:t>81%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148C"/>
                          </a:solidFill>
                        </a:rPr>
                        <a:t>4 runs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80760" y="43891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237E"/>
                </a:solidFill>
              </a:rPr>
              <a:t>θ̂(t + s·Δt)  =  θ_IC  +  τ · f_θ(x, y, z, τ, θ_IC)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48463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Residual skip formula — guarantees IC at τ=0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Method: NAS Search + MCO Loss Weighting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</a:rPr>
              <a:t>Automated architecture search with adaptive loss balancing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486400" cy="521208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1A237E"/>
                </a:solidFill>
              </a:rPr>
              <a:t>Neural Architecture Search (NAS)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0D47A1"/>
                </a:solidFill>
              </a:rPr>
              <a:t>Search Space: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555555"/>
                </a:solidFill>
              </a:rPr>
              <a:t>  •  Depth: 2 – 6 hidden layers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555555"/>
                </a:solidFill>
              </a:rPr>
              <a:t>  •  Width: 32 – 256 neurons per layer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555555"/>
                </a:solidFill>
              </a:rPr>
              <a:t>  •  Activations: Tanh / GELU / SiLU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555555"/>
                </a:solidFill>
              </a:rPr>
              <a:t>  •  Skip connections: optional</a:t>
            </a:r>
          </a:p>
          <a:p>
            <a:pPr algn="l">
              <a:spcBef>
                <a:spcPts val="200"/>
              </a:spcBef>
            </a:pPr>
            <a:r>
              <a:rPr sz="600" b="0" i="0">
                <a:solidFill>
                  <a:srgbClr val="555555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0D47A1"/>
                </a:solidFill>
              </a:rPr>
              <a:t>Optimizers (500 candidates each):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555555"/>
                </a:solidFill>
              </a:rPr>
              <a:t>  •  Bayesian Optimization — surrogate model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555555"/>
                </a:solidFill>
              </a:rPr>
              <a:t>  •  NSGA-II — multi-obj. genetic algorithm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555555"/>
                </a:solidFill>
              </a:rPr>
              <a:t>  •  NSGA-III — reference-point based NSGA</a:t>
            </a:r>
          </a:p>
          <a:p>
            <a:pPr algn="l">
              <a:spcBef>
                <a:spcPts val="200"/>
              </a:spcBef>
            </a:pPr>
            <a:r>
              <a:rPr sz="600" b="0" i="0">
                <a:solidFill>
                  <a:srgbClr val="555555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555555"/>
                </a:solidFill>
              </a:rPr>
              <a:t>Training: AdamW, 2000 epochs per window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234440"/>
            <a:ext cx="5760720" cy="521208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3258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1A237E"/>
                </a:solidFill>
              </a:rPr>
              <a:t>Multi-Loss Consistency Optimization (MCO)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0D47A1"/>
                </a:solidFill>
              </a:rPr>
              <a:t>Adaptive loss function:</a:t>
            </a:r>
          </a:p>
          <a:p>
            <a:pPr algn="l">
              <a:spcBef>
                <a:spcPts val="600"/>
              </a:spcBef>
            </a:pPr>
            <a:r>
              <a:rPr sz="1300" b="0" i="1">
                <a:solidFill>
                  <a:srgbClr val="1A237E"/>
                </a:solidFill>
              </a:rPr>
              <a:t>  ℒ = w_target·ℒ_target + 0.05·w_PDE·ℒ_PDE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555555"/>
                </a:solidFill>
              </a:rPr>
              <a:t>  w_i = 1 / σ_i²   (running std per loss term)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2E7D32"/>
                </a:solidFill>
              </a:rPr>
              <a:t>  → no manual weight tuning needed</a:t>
            </a:r>
          </a:p>
          <a:p>
            <a:pPr algn="l">
              <a:spcBef>
                <a:spcPts val="200"/>
              </a:spcBef>
            </a:pPr>
            <a:r>
              <a:rPr sz="600" b="0" i="0">
                <a:solidFill>
                  <a:srgbClr val="555555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0D47A1"/>
                </a:solidFill>
              </a:rPr>
              <a:t>Physical Parameters (A356 Aluminum):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555555"/>
                </a:solidFill>
              </a:rPr>
              <a:t>  •  ρ = 2670 kg/m³,  c_p = 963 J/(kg·K)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555555"/>
                </a:solidFill>
              </a:rPr>
              <a:t>  •  k = 151 W/(m·K)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555555"/>
                </a:solidFill>
              </a:rPr>
              <a:t>  •  h = 2000 W/(m²·K),  T_∞ = 20°C,  T_0 = 540°C</a:t>
            </a:r>
          </a:p>
          <a:p>
            <a:pPr algn="l">
              <a:spcBef>
                <a:spcPts val="600"/>
              </a:spcBef>
            </a:pPr>
            <a:r>
              <a:rPr sz="1300" b="0" i="1">
                <a:solidFill>
                  <a:srgbClr val="1A237E"/>
                </a:solidFill>
              </a:rPr>
              <a:t>  •  PDE: ρ·c_p·∂T/∂t = ∇·(k·∇T)</a:t>
            </a:r>
          </a:p>
          <a:p>
            <a:pPr algn="l">
              <a:spcBef>
                <a:spcPts val="200"/>
              </a:spcBef>
            </a:pPr>
            <a:r>
              <a:rPr sz="600" b="0" i="0">
                <a:solidFill>
                  <a:srgbClr val="555555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555555"/>
                </a:solidFill>
              </a:rPr>
              <a:t>Water quenching: 21 FEM time steps total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Four 3D Thermal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</a:rPr>
              <a:t>A356 aluminum water quenching — different geometric complexities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651760" cy="14630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07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A1"/>
                </a:solidFill>
              </a:rPr>
              <a:t>Rectangular Prism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45920"/>
            <a:ext cx="2468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1.3 × 0.6 × 0.4 m
Simple cuboid — baseline geometry
Uniform convective cooling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7832" y="1234440"/>
            <a:ext cx="2651760" cy="1463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307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1645920"/>
            <a:ext cx="2468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R = 0.25 m,  H = 0.6 m
Axisymmetric — curved surfaces
Radial heat flux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35624" y="1234440"/>
            <a:ext cx="2651760" cy="1463040"/>
          </a:xfrm>
          <a:prstGeom prst="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7064" y="1307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F360C"/>
                </a:solidFill>
              </a:rPr>
              <a:t>Stacked Cubes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7064" y="1645920"/>
            <a:ext cx="2468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2 × 0.5 m stacked
Geometric interface effect
Multi-region cooling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43416" y="1234440"/>
            <a:ext cx="2651760" cy="146304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1307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148C"/>
                </a:solidFill>
              </a:rPr>
              <a:t>L-Shape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1645920"/>
            <a:ext cx="2468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0.8 × 0.8 × 0.4 m
Concave corner — complex geometry
Numerical FD reference</a:t>
            </a:r>
          </a:p>
        </p:txBody>
      </p:sp>
      <p:pic>
        <p:nvPicPr>
          <p:cNvPr id="18" name="Picture 17" descr="fig1_thermal_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834640"/>
            <a:ext cx="11521440" cy="3657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Figure: Predicted temperature fields on z-midplane (Turbo colormap: blue=20°C, yellow=540°C) | skip=2, Bayesian NAS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MAE Summary — All 48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</a:rPr>
              <a:t>MAE (°C) per domain, optimizer, and skip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Color coding:   dark green = best per row   |   light green &lt; 8°C   |   yellow 8-15°C   |   red &gt; 15°C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417320"/>
          <a:ext cx="1179576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148840"/>
                <a:gridCol w="2148840"/>
                <a:gridCol w="2148840"/>
                <a:gridCol w="2148840"/>
              </a:tblGrid>
              <a:tr h="400929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Optimizer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skip=1  (0%)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skip=2  (52%)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skip=4  (71%)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skip=6  (81%)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Rectangular Prism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Bayesian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B5E20"/>
                          </a:solidFill>
                        </a:rPr>
                        <a:t>5.53</a:t>
                      </a:r>
                    </a:p>
                  </a:txBody>
                  <a:tcPr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827717"/>
                          </a:solidFill>
                        </a:rPr>
                        <a:t>10.31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</a:rPr>
                        <a:t>21.39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</a:rPr>
                        <a:t>15.65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Rectangular Prism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NSGA-II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B5E20"/>
                          </a:solidFill>
                        </a:rPr>
                        <a:t>5.41</a:t>
                      </a:r>
                    </a:p>
                  </a:txBody>
                  <a:tcPr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827717"/>
                          </a:solidFill>
                        </a:rPr>
                        <a:t>10.39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</a:rPr>
                        <a:t>20.99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</a:rPr>
                        <a:t>25.86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Rectangular Prism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NSGA-III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B5E20"/>
                          </a:solidFill>
                        </a:rPr>
                        <a:t>5.41</a:t>
                      </a:r>
                    </a:p>
                  </a:txBody>
                  <a:tcPr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827717"/>
                          </a:solidFill>
                        </a:rPr>
                        <a:t>10.50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</a:rPr>
                        <a:t>21.00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</a:rPr>
                        <a:t>25.90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Cylinder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Bayesian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B5E20"/>
                          </a:solidFill>
                        </a:rPr>
                        <a:t>5.33</a:t>
                      </a:r>
                    </a:p>
                  </a:txBody>
                  <a:tcPr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827717"/>
                          </a:solidFill>
                        </a:rPr>
                        <a:t>10.69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827717"/>
                          </a:solidFill>
                        </a:rPr>
                        <a:t>11.54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827717"/>
                          </a:solidFill>
                        </a:rPr>
                        <a:t>10.23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Cylinder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NSGA-II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B5E20"/>
                          </a:solidFill>
                        </a:rPr>
                        <a:t>4.23</a:t>
                      </a:r>
                    </a:p>
                  </a:txBody>
                  <a:tcPr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827717"/>
                          </a:solidFill>
                        </a:rPr>
                        <a:t>8.69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</a:rPr>
                        <a:t>18.93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</a:rPr>
                        <a:t>25.38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Cylinder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NSGA-III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B5E20"/>
                          </a:solidFill>
                        </a:rPr>
                        <a:t>4.20</a:t>
                      </a:r>
                    </a:p>
                  </a:txBody>
                  <a:tcPr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827717"/>
                          </a:solidFill>
                        </a:rPr>
                        <a:t>9.14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</a:rPr>
                        <a:t>16.24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</a:rPr>
                        <a:t>22.54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Stacked Cubes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Bayesian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B5E20"/>
                          </a:solidFill>
                        </a:rPr>
                        <a:t>4.95</a:t>
                      </a:r>
                    </a:p>
                  </a:txBody>
                  <a:tcPr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827717"/>
                          </a:solidFill>
                        </a:rPr>
                        <a:t>9.80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</a:rPr>
                        <a:t>21.64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</a:rPr>
                        <a:t>17.18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Stacked Cubes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NSGA-II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B5E20"/>
                          </a:solidFill>
                        </a:rPr>
                        <a:t>5.32</a:t>
                      </a:r>
                    </a:p>
                  </a:txBody>
                  <a:tcPr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827717"/>
                          </a:solidFill>
                        </a:rPr>
                        <a:t>10.20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</a:rPr>
                        <a:t>19.60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</a:rPr>
                        <a:t>25.69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Stacked Cubes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NSGA-III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B5E20"/>
                          </a:solidFill>
                        </a:rPr>
                        <a:t>5.12</a:t>
                      </a:r>
                    </a:p>
                  </a:txBody>
                  <a:tcPr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827717"/>
                          </a:solidFill>
                        </a:rPr>
                        <a:t>10.27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</a:rPr>
                        <a:t>19.77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</a:rPr>
                        <a:t>25.51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L-Shape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Bayesian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B5E20"/>
                          </a:solidFill>
                        </a:rPr>
                        <a:t>5.60</a:t>
                      </a:r>
                    </a:p>
                  </a:txBody>
                  <a:tcPr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7D32"/>
                          </a:solidFill>
                        </a:rPr>
                        <a:t>6.19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7D32"/>
                          </a:solidFill>
                        </a:rPr>
                        <a:t>5.61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7D32"/>
                          </a:solidFill>
                        </a:rPr>
                        <a:t>5.60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L-Shape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NSGA-II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B5E20"/>
                          </a:solidFill>
                        </a:rPr>
                        <a:t>2.19</a:t>
                      </a:r>
                    </a:p>
                  </a:txBody>
                  <a:tcPr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7D32"/>
                          </a:solidFill>
                        </a:rPr>
                        <a:t>5.74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</a:rPr>
                        <a:t>15.45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</a:rPr>
                        <a:t>22.53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40093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L-Shape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NSGA-III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B5E20"/>
                          </a:solidFill>
                        </a:rPr>
                        <a:t>2.19</a:t>
                      </a:r>
                    </a:p>
                  </a:txBody>
                  <a:tcPr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7D32"/>
                          </a:solidFill>
                        </a:rPr>
                        <a:t>5.72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</a:rPr>
                        <a:t>15.51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C62828"/>
                          </a:solidFill>
                        </a:rPr>
                        <a:t>22.73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Best MAE per Domain &amp; Skip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</a:rPr>
              <a:t>Minimum over three NAS optimizers (Bayesian, NSGA-II, NSGA-III)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mae_ba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Skip Operator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</a:rPr>
              <a:t>MAE per time window — accuracy-efficiency trade-off across all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timelin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11430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3D Thermal Fields — All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</a:rPr>
              <a:t>Predicted temperature on z-midplane | Turbo colormap: blue=20°C, yellow=540°C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_thermal_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1152144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3D Results: NAS Optimizer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</a:rPr>
              <a:t>MAE comparison across Bayesian / NSGA-II / NSGA-III for all domains and skip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6_v2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43000"/>
            <a:ext cx="1179576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3D Feasibility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</a:rPr>
              <a:t>FEM savings vs. accuracy trade-off — practical operating ranges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8_3d_fea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1152144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Findings &amp; 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50" b="1">
                <a:solidFill>
                  <a:srgbClr val="1A237E"/>
                </a:solidFill>
              </a:rPr>
              <a:t>  ▶  Best accuracy (skip=1):  </a:t>
            </a:r>
            <a:r>
              <a:rPr sz="1350" b="0">
                <a:solidFill>
                  <a:srgbClr val="555555"/>
                </a:solidFill>
              </a:rPr>
              <a:t>2.19°C MAE on L-Shape with NSGA-II/III.  All domains achieve &lt; 5.6°C.</a:t>
            </a:r>
          </a:p>
          <a:p>
            <a:pPr>
              <a:spcBef>
                <a:spcPts val="800"/>
              </a:spcBef>
            </a:pPr>
            <a:r>
              <a:rPr sz="1450" b="1">
                <a:solidFill>
                  <a:srgbClr val="1A237E"/>
                </a:solidFill>
              </a:rPr>
              <a:t>  ▶  Practical optimum (skip=2):  </a:t>
            </a:r>
            <a:r>
              <a:rPr sz="1350" b="0">
                <a:solidFill>
                  <a:srgbClr val="555555"/>
                </a:solidFill>
              </a:rPr>
              <a:t>52% FEM savings while keeping MAE &lt; 11°C for all domains.  Recommended default.</a:t>
            </a:r>
          </a:p>
          <a:p>
            <a:pPr>
              <a:spcBef>
                <a:spcPts val="800"/>
              </a:spcBef>
            </a:pPr>
            <a:r>
              <a:rPr sz="1450" b="1">
                <a:solidFill>
                  <a:srgbClr val="1A237E"/>
                </a:solidFill>
              </a:rPr>
              <a:t>  ▶  Fast screening (skip=6):  </a:t>
            </a:r>
            <a:r>
              <a:rPr sz="1350" b="0">
                <a:solidFill>
                  <a:srgbClr val="555555"/>
                </a:solidFill>
              </a:rPr>
              <a:t>81% FEM reduction.  MAE 5.6–22.5°C — suitable for rapid feasibility checks.</a:t>
            </a:r>
          </a:p>
          <a:p>
            <a:pPr>
              <a:spcBef>
                <a:spcPts val="800"/>
              </a:spcBef>
            </a:pPr>
            <a:r>
              <a:rPr sz="1450" b="1">
                <a:solidFill>
                  <a:srgbClr val="1A237E"/>
                </a:solidFill>
              </a:rPr>
              <a:t>  ▶  NAS optimizer comparison:  </a:t>
            </a:r>
            <a:r>
              <a:rPr sz="1350" b="0">
                <a:solidFill>
                  <a:srgbClr val="555555"/>
                </a:solidFill>
              </a:rPr>
              <a:t>Bayesian best on simple geometries (Rectangular, Stacked).  NSGA-II/III superior on complex L-Shape.</a:t>
            </a:r>
          </a:p>
          <a:p>
            <a:pPr>
              <a:spcBef>
                <a:spcPts val="800"/>
              </a:spcBef>
            </a:pPr>
            <a:r>
              <a:rPr sz="1450" b="1">
                <a:solidFill>
                  <a:srgbClr val="1A237E"/>
                </a:solidFill>
              </a:rPr>
              <a:t>  ▶  MCO adaptive weighting:  </a:t>
            </a:r>
            <a:r>
              <a:rPr sz="1350" b="0">
                <a:solidFill>
                  <a:srgbClr val="555555"/>
                </a:solidFill>
              </a:rPr>
              <a:t>w_i = 1/σ_i² eliminates manual loss tuning across all four geometries.</a:t>
            </a:r>
          </a:p>
          <a:p>
            <a:pPr>
              <a:spcBef>
                <a:spcPts val="800"/>
              </a:spcBef>
            </a:pPr>
            <a:r>
              <a:rPr sz="1450" b="1">
                <a:solidFill>
                  <a:srgbClr val="1A237E"/>
                </a:solidFill>
              </a:rPr>
              <a:t>  ▶  L-Shape domain:  </a:t>
            </a:r>
            <a:r>
              <a:rPr sz="1350" b="0">
                <a:solidFill>
                  <a:srgbClr val="555555"/>
                </a:solidFill>
              </a:rPr>
              <a:t>Concave-corner geometry validated against numerical FD reference.  Skip=1/2 achieves excellent accuracy.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CCFF"/>
                </a:solidFill>
              </a:rPr>
              <a:t>NAS-MCO-PINNs: Skip Operator for 3D Thermal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DD"/>
                </a:solidFill>
              </a:rPr>
              <a:t>4 Domains  •  3 NAS Optimizers  •  4 Skip Values  •  48 Total Runs
Best MAE: 2.19°C  •  Max FEM Savings: 81%  •  Practical Optimum: skip=2 (52% savings, &lt;11°C)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