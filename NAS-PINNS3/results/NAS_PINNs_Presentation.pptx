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the NAS-PINNs framework: a 7-level system that applies Neural Architecture Search to Physics-Informed Neural Networks. The goal is to accelerate finite element simulation of A356 aluminum water quenching. Three NAS optimizers are compared: Bayesian (TPE), NSGA-II, and NSGA-III. The core innovation is the temporal skip operator: PINN replaces intermediate FEM time steps, reducing computation cost.</a:t>
            </a:r>
          </a:p>
          <a:p/>
          <a:p>
            <a:r>
              <a:t>— Türkçe —</a:t>
            </a:r>
          </a:p>
          <a:p>
            <a:r>
              <a:t>Bu sunum, NAS-PINNs çerçevesini kapsamaktadır: Nöral Mimari Arama'nın Fiziğe Dayalı Sinir Ağlarına uygulandığı 7 aşamalı bir sistemdir. Amaç, A356 alüminyum su söndürme simülasyonunu hızlandırmaktır. Üç NAS optimizörü karşılaştırılmaktadır: Bayesian, NSGA-II ve NSGA-III. Temel yenilik, PINN'in ara FEM zaman adımlarını değiştirdiği zamansal atlama operatörüdür.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has 7 levels. Levels 1-4 build the core pipeline: single-shot PINN, temporal skip operator, hybrid FEM/PINN routing, and distortion mechanics. Levels 5-7 extend and validate: Level 5 improves accuracy with extended training, Level 6 tests a Poisson auxiliary loss, and Level 7 covers temporal analysis and multi-domain NAS across 5 different geometries.</a:t>
            </a:r>
          </a:p>
          <a:p/>
          <a:p>
            <a:r>
              <a:t>— Türkçe —</a:t>
            </a:r>
          </a:p>
          <a:p>
            <a:r>
              <a:t>Çerçeve 7 seviyeden oluşmaktadır. 1-4. seviyeler temel hattı oluşturur: tek adımlı PINN, zamansal atlama operatörü, hibrit FEM/PINN yönlendirme ve distorsiyon mekaniği. 5-7. seviyeler genişletme ve doğrulamadır: 5. seviye uzun eğitimle doğruluğu artırır, 6. seviye Poisson yardımcı kaybını test eder, 7. seviye ise 5 farklı geometride çoklu etki alanı NAS'ını kapsar.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A356 aluminum water quenching. A 1.3×0.6 m 2D cross-section starts at 540°C and is immersed in 20°C water. The heat equation with nonlinear Robin BC governs cooling. The heat transfer coefficient h(T) varies by boiling regime — this nonlinearity makes the problem interesting and challenging. FEM solves 20 time steps sequentially, each requiring a full matrix assembly. Our PINN learns to predict T_next given T_prev, replacing FEM at intermediate steps. The analytical reference T(t) = 20+520·exp(−1.75e-3·t) is derived from the Robin BC fundamental mode using paper parameters.</a:t>
            </a:r>
          </a:p>
          <a:p/>
          <a:p>
            <a:r>
              <a:t>— Türkçe —</a:t>
            </a:r>
          </a:p>
          <a:p>
            <a:r>
              <a:t>Problem: A356 alüminyum su söndürmesidir. 1.3×0.6 m'lik 2B kesit 540°C'den 20°C'lik suya daldırılır. Robin sınır koşullu ısı denklemi kullanılır. h(T) ısı transfer katsayısı kaynama rejimine göre değişir. FEM 20 zaman adımını sırayla çözer. PINN, T_prev verilen T_next'i tahmin etmeyi öğrenir ve ara FEM adımlarını değiştirir.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optimizers search the same space: 5 choices of depth, 8 choices of width, and 3 activation functions — roughly 120 architecture candidates. Bayesian TPE builds a probabilistic model to pick the next candidate. NSGA-II and NSGA-III treat this as a multi-objective problem: minimise L2 AND minimise parameter count. This is why they tend to find smaller networks. Each candidate is trained for a short proxy (1000 epochs) to estimate L2.</a:t>
            </a:r>
          </a:p>
          <a:p/>
          <a:p>
            <a:r>
              <a:t>— Türkçe —</a:t>
            </a:r>
          </a:p>
          <a:p>
            <a:r>
              <a:t>Tüm üç optimizör aynı alanı arar: 5 derinlik seçeneği, 8 genişlik seçeneği ve 3 aktivasyon fonksiyonu — yaklaşık 120 mimari adayı. Bayesian TPE, sonraki adayı seçmek için olasılıksal bir model oluşturur. NSGA-II ve NSGA-III bunu çok amaçlı bir problem olarak ele alır: hem L2'yi hem de parametre sayısını minimize et. Bu nedenle daha küçük ağlar bulmaya eğilimlidirler.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 trains a global PINN: given (t, x, y) it predicts temperature T. Adam with cosine LR schedule, 20 000 epochs. Bayesian NAS finds the best architecture (5 layers × 151 neurons, relu activation, 92 564 parameters) and achieves L2=0.076 — the only one meeting the &lt;0.10 target. NSGA-II finds a more compact network (3×153 tanh, 47 890 params) but L2=0.252. NSGA-III is smallest (3×75 tanh, 11 776 params) with L2=0.513. Architecture capacity directly determines accuracy.</a:t>
            </a:r>
          </a:p>
          <a:p/>
          <a:p>
            <a:r>
              <a:t>— Türkçe —</a:t>
            </a:r>
          </a:p>
          <a:p>
            <a:r>
              <a:t>Seviye 1, global bir PINN eğitir: (t,x,y) verildiğinde T sıcaklığını tahmin eder. Adam 20 000 epoch. Bayesian NAS en iyi mimariyi bulur (5×151 relu, 92 564 parametre) ve L2=0.076 elde eder — sadece bu hedefi karşılar. NSGA-II daha kompakt (3×153 tanh) ama L2=0.252. NSGA-III en küçük (3×75 tanh) ve L2=0.513.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cooling curves show temperature versus time at the domain centre. The dashed reference line is the analytical FEM solution. Bayesian PINN follows it closely (MAE 39°C). NSGA-II overshoots significantly. NSGA-III, with only 11 776 parameters, cannot represent the spatial complexity and gives MAE 270°C. This plot demonstrates why architecture quality matters: a 8× larger network (Bayesian) achieves 7× lower MAE.</a:t>
            </a:r>
          </a:p>
          <a:p/>
          <a:p>
            <a:r>
              <a:t>— Türkçe —</a:t>
            </a:r>
          </a:p>
          <a:p>
            <a:r>
              <a:t>Soğuma eğrileri, domain merkezindeki sıcaklık-zaman grafiğini gösterir. Kesikli referans çizgisi analitik FEM çözümüdür. Bayesian PINN'i yakından takip eder (MAE 39°C). NSGA-II önemli ölçüde aşıyor. Sadece 11 776 parametreli NSGA-III, uzamsal karmaşıklığı temsil edemez ve MAE 270°C verir.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 operator is the core innovation. Instead of a global PINN, a window-based network takes [x, y, t_local, T_prev] and predicts T_next. FEM runs at anchor points only. With skip=2, only 11 of 21 steps need FEM. An interesting observation: Bayesian at skip=2 achieves MAE=33.2°C, which is BETTER than skip=1 (43.6°C). This is because FEM also accumulates numerical errors over 21 steps, while PINN makes a direct prediction. The convergence threshold is 1.5× the skip=1 MAE.</a:t>
            </a:r>
          </a:p>
          <a:p/>
          <a:p>
            <a:r>
              <a:t>— Türkçe —</a:t>
            </a:r>
          </a:p>
          <a:p>
            <a:r>
              <a:t>Atlama operatörü temel yeniliktir. Global bir PINN yerine, pencere tabanlı bir ağ [x, y, t_local, T_prev] alır ve T_next'i tahmin eder. FEM yalnızca çapa noktalarda çalışır. skip=2 ile 21 adımın yalnızca 11'i FEM'e ihtiyaç duyar. İlginç bir gözlem: Bayesian skip=2'de MAE=33.2°C elde eder, bu skip=1'den (43.6°C) DAHA İYİDİR. Bunun nedeni FEM'in de 21 adımda sayısal hata biriktirmesidir.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500 epochs, the corrected results show: Bayesian converges at skip=2 (ratio 0.76×, MAE actually improves!) and skip=4 (ratio 1.32×). NSGA-II converges at skip=2 with ratio 1.47× — just under the 1.5× threshold. This was incorrectly shown as diverged in the previous version. NSGA-III fails at skip=2 (ratio 1.70×). Ratios above 1.5 are too inaccurate.</a:t>
            </a:r>
          </a:p>
          <a:p/>
          <a:p>
            <a:r>
              <a:t>— Türkçe —</a:t>
            </a:r>
          </a:p>
          <a:p>
            <a:r>
              <a:t>500 epochta düzeltilmiş sonuçlar: Bayesian skip=2'de (oran 0.76×, MAE aslında iyileşiyor!) ve skip=4'te (1.32×) yakınsar. NSGA-II, oran 1.47× ile skip=2'de yakınsar — 1.5× eşiğinin hemen altında. Bu önceki sürümde yanlışlıkla ıraksak olarak gösterilmişti. NSGA-III skip=2'de başarısız olur (oran 1.70×).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 comparison plot shows temperature fields at the domain probe point for different skip values. Skip=2 with Bayesian gives the best result — smoother than skip=1 because PINN avoids FEM's sequential accumulation. Skip=4 is still within tolerance. Skip=6 diverges significantly.</a:t>
            </a:r>
          </a:p>
          <a:p/>
          <a:p>
            <a:r>
              <a:t>— Türkçe —</a:t>
            </a:r>
          </a:p>
          <a:p>
            <a:r>
              <a:t>Atlama karşılaştırma grafiği, farklı atlama değerleri için domain prob noktasındaki sıcaklık alanlarını gösterir. Bayesian ile skip=2 en iyi sonucu verir — PINN, FEM'in sıralı birikimini önlediğinden skip=1'den daha düzgündür. Skip=4 hâlâ tolerans içindedir. Skip=6 önemli ölçüde ıraksak.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2000-epoch run answers: is NSGA-II/III skip=2 failure due to architecture or insufficient training? Result: both converge with 2000 epochs. NSGA-II ratio=0.98× (skip=2 MAE better than 500-epoch skip=1 reference!). NSGA-III ratio=0.99×. The bottleneck was epoch count, not model capacity. Bayesian converges faster because its larger network (5×151) learns the temporal dynamics more efficiently.</a:t>
            </a:r>
          </a:p>
          <a:p/>
          <a:p>
            <a:r>
              <a:t>— Türkçe —</a:t>
            </a:r>
          </a:p>
          <a:p>
            <a:r>
              <a:t>2000 epochluk çalıştırma şunu yanıtlar: NSGA-II/III skip=2 başarısızlığı mimariden mi yoksa yetersiz eğitimden mi? Sonuç: her ikisi de 2000 epochla yakınsar. NSGA-II oranı=0.98×. NSGA-III oranı=0.99×. Darboğaz epoch sayısıydı, model kapasitesi değildi.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3 adds adaptive intelligence. Instead of a fixed skip factor, the system decides at each step whether to call FEM based on the PDE residual. If residual &gt; 0.1 → FEM for accuracy. If ≤ 0.1 → PINN. Config A (max_skip=4): 4 FEM calls, 16 PINN = 80% skip. Config B (max_skip=20): only 1 FEM call, 19 PINN = 95% skip. The residual check prevents error accumulation automatically. All three optimizers achieve 80% skip in Config A.</a:t>
            </a:r>
          </a:p>
          <a:p/>
          <a:p>
            <a:r>
              <a:t>— Türkçe —</a:t>
            </a:r>
          </a:p>
          <a:p>
            <a:r>
              <a:t>Seviye 3 adaptif zeka ekler. Sabit bir atlama faktörü yerine, sistem her adımda PDE artığına göre FEM çağrısı yapıp yapmayacağına karar verir. Artık &gt; 0.1 → doğruluk için FEM. ≤ 0.1 → PINN. Konfigürasyon A: 4 FEM çağrısı, 16 PINN = %80 atlama. Konfigürasyon B: yalnızca 1 FEM çağrısı, 19 PINN = %95 atlama.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residual trace shows r(t) over the 20 time steps. FEM is triggered at step 1 (initial anchor), step 6, step 11, and step 16 — every 5 steps. Between FEM calls, the residual stays below 0.1. The PINN accumulates some error by step 5, triggering FEM, which resets the residual. This pattern repeats throughout the simulation, giving 4 FEM + 16 PINN = 80% efficiency.</a:t>
            </a:r>
          </a:p>
          <a:p/>
          <a:p>
            <a:r>
              <a:t>— Türkçe —</a:t>
            </a:r>
          </a:p>
          <a:p>
            <a:r>
              <a:t>Artık izi, 20 zaman adımı boyunca r(t)'yi gösterir. FEM, adım 1 (başlangıç çapası), adım 6, adım 11 ve adım 16'da tetiklenir — her 5 adımda bir. FEM çağrıları arasında artık 0.1'in altında kalır. PINN'in hatası birikir ve FEM'i tetikler, bu da artığı sıfırlar. Bu model boyunca tekrar eder.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bridges thermal simulation and structural mechanics. The PINN temperature at t=30s drives a plane-stress FEM for thermal distortion. Results compared to CMM measurements and paper FEM. Paper FEM achieves 0.75mm (very close to measured 0.78mm). Our Bayesian PINN gives 1.67mm — 2× worse than paper but reasonable given it uses a neural approximation. NSGA-III gives 4.74mm — corresponding to its large temperature error (L2=0.513, 270°C MAE). The direct correlation: PINN thermal accuracy → distortion accuracy.</a:t>
            </a:r>
          </a:p>
          <a:p/>
          <a:p>
            <a:r>
              <a:t>— Türkçe —</a:t>
            </a:r>
          </a:p>
          <a:p>
            <a:r>
              <a:t>Seviye 4, termal simülasyon ile yapısal mekanik arasında köprü kurar. t=30s'deki PINN sıcaklığı, termal distorsiyon için bir düzlem gerilim FEM'i yönlendirir. Sonuçlar CMM ölçümleri ve paper FEM ile karşılaştırılır. Paper FEM 0.75mm (ölçülen 0.78mm'ye çok yakın). Bayesian PINN'imiz 1.67mm veriyor — paper'dan 2× daha kötü ama makul.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signed distortion at each CMM point. The paper FEM (orange) follows the measured values (grey) closely. Bayesian PINN (blue) captures the general trend but with larger deviations. The discrepancy is mainly from temperature error propagation. Improving the PINN temperature accuracy (as done in Level 5) would directly reduce distortion error.</a:t>
            </a:r>
          </a:p>
          <a:p/>
          <a:p>
            <a:r>
              <a:t>— Türkçe —</a:t>
            </a:r>
          </a:p>
          <a:p>
            <a:r>
              <a:t>Bu slayt her CMM noktasındaki işaretli distorsiyonu gösterir. Paper FEM (turuncu), ölçülen değerleri (gri) yakından takip eder. Bayesian PINN (mavi) genel trendi yakalar ancak daha büyük sapmalar vardır. Tutarsızlık, ağırlıklı olarak sıcaklık hata yayılımından kaynaklanmaktadır.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5 re-trains the Level 1 architectures with a longer cosine LR schedule. The key finding: NSGA-II improves the most (4.5×), going from L2=0.252 to 0.055 — now meeting the &lt;0.10 target! Bayesian improves from 0.076 to 0.030 (2.6×). NSGA-III shows only 2× improvement and stays at 0.259 — its small capacity (11 776 params) limits accuracy regardless of training length. Note: L-BFGS was attempted but ran 0 iterations, suggesting the Adam minimum was already in a locally flat region.</a:t>
            </a:r>
          </a:p>
          <a:p/>
          <a:p>
            <a:r>
              <a:t>— Türkçe —</a:t>
            </a:r>
          </a:p>
          <a:p>
            <a:r>
              <a:t>Seviye 5, Seviye 1 mimarilerini daha uzun bir kosinüs LR çizelgesiyle yeniden eğitir. Temel bulgu: NSGA-II en çok iyileşiyor (4.5×), L2=0.252'den 0.055'e gidiyor — artık &lt;0.10 hedefini karşılıyor! Bayesian 0.076'dan 0.030'a iyileşiyor (2.6×). NSGA-III yalnızca 2× iyileşme gösteriyor ve 0.259'da kalıyor.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L2 comparison plot from Level 5 shows bar charts for each optimizer before (lighter) and after (darker) extended training. The most striking result is NSGA-II: despite being a 3-layer 153-neuron network, 20 000 epochs with cosine LR brings it from L2=0.252 to 0.055 — a 4.5× improvement. This confirms the architecture has sufficient capacity; it just needed more training time.</a:t>
            </a:r>
          </a:p>
          <a:p/>
          <a:p>
            <a:r>
              <a:t>— Türkçe —</a:t>
            </a:r>
          </a:p>
          <a:p>
            <a:r>
              <a:t>Seviye 5'teki L2 karşılaştırma grafiği, uzatılmış eğitim öncesi (daha açık) ve sonrası (daha koyu) her optimizör için çubuk grafikleri gösteriyor. En çarpıcı sonuç NSGA-II: 3 katmanlı 153-nöronlu ağ olmasına rağmen kosinüs LR ile 20 000 epoch, onu L2=0.252'den 0.055'e getiriyor — 4.5× iyileşme.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6 tests whether adding Poisson-type auxiliary physics loss can improve the quenching PINN. The gains are marginal: Bayesian improves 17.5%, NSGA-II 6.2%, NSGA-III only 2.5%. This suggests the Poisson auxiliary loss acts as a regulariser but the dominant accuracy constraint is the network architecture capacity and main PDE training. Level 7B takes a different approach: full NAS on actual Poisson problems with different geometries, achieving much stronger results.</a:t>
            </a:r>
          </a:p>
          <a:p/>
          <a:p>
            <a:r>
              <a:t>— Türkçe —</a:t>
            </a:r>
          </a:p>
          <a:p>
            <a:r>
              <a:t>Seviye 6, Poisson tipli yardımcı fizik kaybı eklemenin söndürme PINN'ini iyileştirip iyileştiremeyeceğini test eder. Kazanımlar marjinaldir: Bayesian %17.5, NSGA-II %6.2, NSGA-III yalnızca %2.5 iyileşir. Bu, Poisson yardımcı kaybının bir düzenleyici olarak işlev gördüğünü ama temel doğruluk kısıtının mimari kapasite olduğunu düşündürür.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7B tests whether NAS can find good architectures for Poisson problems across very different geometries. The bottom row shows the 5 domains with their reference solutions (YlGnBu colormap). The circle and annulus have exact analytical solutions. The L-shape and flower are solved with FDM as reference. NAS runs independently for each geometry × optimizer combination (15 NAS runs total).</a:t>
            </a:r>
          </a:p>
          <a:p/>
          <a:p>
            <a:r>
              <a:t>— Türkçe —</a:t>
            </a:r>
          </a:p>
          <a:p>
            <a:r>
              <a:t>Seviye 7B, NAS'ın çok farklı geometriler genelinde Poisson problemleri için iyi mimariler bulup bulamayacağını test eder. Alt satır, referans çözümleriyle birlikte 5 domaini gösterir. Daire ve halka için analitik çözümler mevcuttur. L-şekil ve çiçek için FDM referans olarak kullanılır.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Multi-domain results show strong variation by geometry. Circle is easiest: smooth boundary, analytical exact solution, all optimizers converge easily. Best: Bayesian 5×40 gelu with L2=0.00014. L-shape is medium difficulty. Flower is hardest: the 5-petal boundary creates sharp corners, none of the optimizers converge well (L2≈0.17). This shows that geometry complexity significantly impacts PINN performance and NAS benefits.</a:t>
            </a:r>
          </a:p>
          <a:p/>
          <a:p>
            <a:r>
              <a:t>— Türkçe —</a:t>
            </a:r>
          </a:p>
          <a:p>
            <a:r>
              <a:t>Çoklu domain sonuçları geometriye göre güçlü varyasyon gösteriyor. Daire en kolaydır: pürüzsüz sınır, analitik tam çözüm. En iyi: Bayesian 5×40 gelu, L2=0.00014. L-şekil orta güçlüktedir. Çiçek en zordur: 5 yapraklı sınır keskin köşeler oluşturur, hiçbir optimizör iyi yakınsamaz (L2≈0.17).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cross-level chart shows L2 improvement from L1 through L6. Level 5 extended training delivers the largest single improvement. Bayesian starts best and stays best. NSGA-II shows the most dramatic improvement. NSGA-III's small architecture limits its ceiling. The skip results (L2) are the per-window timestepper L2, not the global L2 — different scale but same trend.</a:t>
            </a:r>
          </a:p>
          <a:p/>
          <a:p>
            <a:r>
              <a:t>— Türkçe —</a:t>
            </a:r>
          </a:p>
          <a:p>
            <a:r>
              <a:t>Çapraz seviye grafiği, L1'den L6'ya L2 iyileşmesini gösteriyor. Seviye 5 uzatılmış eğitimi en büyük tekil iyileşmeyi sağlar. Bayesian en iyi başlar ve en iyi kalır. NSGA-II en dramatik iyileşmeyi gösterir. NSGA-III'ün küçük mimarisi tavanını sınırlar.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key results: (1) Temporal skip operator works — PINN can replace FEM steps with 2× speedup. (2) Architecture matters — Bayesian 5×151 relu is best for skip; smaller models need more training time. (3) Extended training (L5) is highly effective — NSGA-II improves 4.5×. (4) Hybrid FEM+PINN with residual routing achieves 80-95% FEM step reduction. (5) Epoch count was the bottleneck for NSGA-II/III skip convergence, not architecture. (6) Multi-domain Poisson NAS works well on simple geometries (circle: L2=0.00014) but struggles on complex shapes (flower: L2=0.17). Future work: higher skip rates for NSGA-II/III; 3D extension; real FEM coupling.</a:t>
            </a:r>
          </a:p>
          <a:p/>
          <a:p>
            <a:r>
              <a:t>— Türkçe —</a:t>
            </a:r>
          </a:p>
          <a:p>
            <a:r>
              <a:t>Temel sonuçların özeti: (1) Zamansal atlama operatörü çalışıyor — PINN, 2× hızlanmayla FEM adımlarını değiştirebilir. (2) Mimari önemlidir — Bayesian 5×151 relu atlamak için en iyisidir. (3) Uzatılmış eğitim (L5) son derece etkilidir — NSGA-II 4.5× iyileşir. (4) Artık yönlendirmeli hibrit FEM+PINN, %80-95 FEM adım azaltımı sağlar. (5) NSGA-II/III atlama yakınsaması için darboğaz epoch sayısıydı, mimari değil. (6) Çoklu domain Poisson NAS, basit geometrilerde iyi çalışır (daire: L2=0.00014) ama karmaşık şekillerde zorlanır (çiçek: L2=0.17). Gelecek çalışma: NSGA-II/III için daha yüksek atlama oranları; 3B uzantı; gerçek FEM bağlantısı.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1737360"/>
            <a:ext cx="12188952" cy="31089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3736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74519"/>
            <a:ext cx="10515600" cy="1005840"/>
          </a:xfrm>
          <a:prstGeom prst="rect">
            <a:avLst/>
          </a:prstGeom>
          <a:noFill/>
        </p:spPr>
        <p:txBody>
          <a:bodyPr wrap="square">
            <a:spAutoFit/>
          </a:bodyPr>
          <a:lstStyle/>
          <a:p>
            <a:pPr algn="ctr"/>
            <a:r>
              <a:rPr sz="5800" b="1" i="0">
                <a:solidFill>
                  <a:srgbClr val="FFFFFF"/>
                </a:solidFill>
              </a:rPr>
              <a:t>NAS-PINNs</a:t>
            </a:r>
          </a:p>
        </p:txBody>
      </p:sp>
      <p:sp>
        <p:nvSpPr>
          <p:cNvPr id="5" name="TextBox 4"/>
          <p:cNvSpPr txBox="1"/>
          <p:nvPr/>
        </p:nvSpPr>
        <p:spPr>
          <a:xfrm>
            <a:off x="731520" y="2926080"/>
            <a:ext cx="10515600" cy="475488"/>
          </a:xfrm>
          <a:prstGeom prst="rect">
            <a:avLst/>
          </a:prstGeom>
          <a:noFill/>
        </p:spPr>
        <p:txBody>
          <a:bodyPr wrap="square">
            <a:spAutoFit/>
          </a:bodyPr>
          <a:lstStyle/>
          <a:p>
            <a:pPr algn="ctr"/>
            <a:r>
              <a:rPr sz="2000" b="0" i="0">
                <a:solidFill>
                  <a:srgbClr val="BBDEFB"/>
                </a:solidFill>
              </a:rPr>
              <a:t>Neural Architecture Search for Physics-Informed Neural Networks</a:t>
            </a:r>
          </a:p>
        </p:txBody>
      </p:sp>
      <p:sp>
        <p:nvSpPr>
          <p:cNvPr id="6" name="TextBox 5"/>
          <p:cNvSpPr txBox="1"/>
          <p:nvPr/>
        </p:nvSpPr>
        <p:spPr>
          <a:xfrm>
            <a:off x="731520" y="3429000"/>
            <a:ext cx="10515600" cy="384048"/>
          </a:xfrm>
          <a:prstGeom prst="rect">
            <a:avLst/>
          </a:prstGeom>
          <a:noFill/>
        </p:spPr>
        <p:txBody>
          <a:bodyPr wrap="square">
            <a:spAutoFit/>
          </a:bodyPr>
          <a:lstStyle/>
          <a:p>
            <a:pPr algn="ctr"/>
            <a:r>
              <a:rPr sz="1400" b="0" i="1">
                <a:solidFill>
                  <a:srgbClr val="90CAF9"/>
                </a:solidFill>
              </a:rPr>
              <a:t>Accelerating FEM Simulation of A356 Aluminum Water Quenching</a:t>
            </a:r>
          </a:p>
        </p:txBody>
      </p:sp>
      <p:sp>
        <p:nvSpPr>
          <p:cNvPr id="7" name="Rectangle 6"/>
          <p:cNvSpPr/>
          <p:nvPr/>
        </p:nvSpPr>
        <p:spPr>
          <a:xfrm>
            <a:off x="320040"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 y="4636008"/>
            <a:ext cx="1261872" cy="713232"/>
          </a:xfrm>
          <a:prstGeom prst="rect">
            <a:avLst/>
          </a:prstGeom>
          <a:noFill/>
        </p:spPr>
        <p:txBody>
          <a:bodyPr wrap="square">
            <a:spAutoFit/>
          </a:bodyPr>
          <a:lstStyle/>
          <a:p>
            <a:pPr algn="ctr"/>
            <a:r>
              <a:rPr sz="1000" b="1" i="0">
                <a:solidFill>
                  <a:srgbClr val="FFFFFF"/>
                </a:solidFill>
              </a:rPr>
              <a:t>L1
Single-Shot</a:t>
            </a:r>
          </a:p>
        </p:txBody>
      </p:sp>
      <p:sp>
        <p:nvSpPr>
          <p:cNvPr id="9" name="Rectangle 8"/>
          <p:cNvSpPr/>
          <p:nvPr/>
        </p:nvSpPr>
        <p:spPr>
          <a:xfrm>
            <a:off x="1746504"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83080" y="4636008"/>
            <a:ext cx="1261872" cy="713232"/>
          </a:xfrm>
          <a:prstGeom prst="rect">
            <a:avLst/>
          </a:prstGeom>
          <a:noFill/>
        </p:spPr>
        <p:txBody>
          <a:bodyPr wrap="square">
            <a:spAutoFit/>
          </a:bodyPr>
          <a:lstStyle/>
          <a:p>
            <a:pPr algn="ctr"/>
            <a:r>
              <a:rPr sz="1000" b="1" i="0">
                <a:solidFill>
                  <a:srgbClr val="FFFFFF"/>
                </a:solidFill>
              </a:rPr>
              <a:t>L2
Skip Op.</a:t>
            </a:r>
          </a:p>
        </p:txBody>
      </p:sp>
      <p:sp>
        <p:nvSpPr>
          <p:cNvPr id="11" name="Rectangle 10"/>
          <p:cNvSpPr/>
          <p:nvPr/>
        </p:nvSpPr>
        <p:spPr>
          <a:xfrm>
            <a:off x="3172968"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9544" y="4636008"/>
            <a:ext cx="1261872" cy="713232"/>
          </a:xfrm>
          <a:prstGeom prst="rect">
            <a:avLst/>
          </a:prstGeom>
          <a:noFill/>
        </p:spPr>
        <p:txBody>
          <a:bodyPr wrap="square">
            <a:spAutoFit/>
          </a:bodyPr>
          <a:lstStyle/>
          <a:p>
            <a:pPr algn="ctr"/>
            <a:r>
              <a:rPr sz="1000" b="1" i="0">
                <a:solidFill>
                  <a:srgbClr val="FFFFFF"/>
                </a:solidFill>
              </a:rPr>
              <a:t>L3
Hybrid</a:t>
            </a:r>
          </a:p>
        </p:txBody>
      </p:sp>
      <p:sp>
        <p:nvSpPr>
          <p:cNvPr id="13" name="Rectangle 12"/>
          <p:cNvSpPr/>
          <p:nvPr/>
        </p:nvSpPr>
        <p:spPr>
          <a:xfrm>
            <a:off x="4599432"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8" y="4636008"/>
            <a:ext cx="1261872" cy="713232"/>
          </a:xfrm>
          <a:prstGeom prst="rect">
            <a:avLst/>
          </a:prstGeom>
          <a:noFill/>
        </p:spPr>
        <p:txBody>
          <a:bodyPr wrap="square">
            <a:spAutoFit/>
          </a:bodyPr>
          <a:lstStyle/>
          <a:p>
            <a:pPr algn="ctr"/>
            <a:r>
              <a:rPr sz="1000" b="1" i="0">
                <a:solidFill>
                  <a:srgbClr val="FFFFFF"/>
                </a:solidFill>
              </a:rPr>
              <a:t>L4
Distortion</a:t>
            </a:r>
          </a:p>
        </p:txBody>
      </p:sp>
      <p:sp>
        <p:nvSpPr>
          <p:cNvPr id="15" name="Rectangle 14"/>
          <p:cNvSpPr/>
          <p:nvPr/>
        </p:nvSpPr>
        <p:spPr>
          <a:xfrm>
            <a:off x="6025896"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62472" y="4636008"/>
            <a:ext cx="1261872" cy="713232"/>
          </a:xfrm>
          <a:prstGeom prst="rect">
            <a:avLst/>
          </a:prstGeom>
          <a:noFill/>
        </p:spPr>
        <p:txBody>
          <a:bodyPr wrap="square">
            <a:spAutoFit/>
          </a:bodyPr>
          <a:lstStyle/>
          <a:p>
            <a:pPr algn="ctr"/>
            <a:r>
              <a:rPr sz="1000" b="1" i="0">
                <a:solidFill>
                  <a:srgbClr val="FFFFFF"/>
                </a:solidFill>
              </a:rPr>
              <a:t>L5
Refine</a:t>
            </a:r>
          </a:p>
        </p:txBody>
      </p:sp>
      <p:sp>
        <p:nvSpPr>
          <p:cNvPr id="17" name="Rectangle 16"/>
          <p:cNvSpPr/>
          <p:nvPr/>
        </p:nvSpPr>
        <p:spPr>
          <a:xfrm>
            <a:off x="7452360"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4636008"/>
            <a:ext cx="1261872" cy="713232"/>
          </a:xfrm>
          <a:prstGeom prst="rect">
            <a:avLst/>
          </a:prstGeom>
          <a:noFill/>
        </p:spPr>
        <p:txBody>
          <a:bodyPr wrap="square">
            <a:spAutoFit/>
          </a:bodyPr>
          <a:lstStyle/>
          <a:p>
            <a:pPr algn="ctr"/>
            <a:r>
              <a:rPr sz="1000" b="1" i="0">
                <a:solidFill>
                  <a:srgbClr val="FFFFFF"/>
                </a:solidFill>
              </a:rPr>
              <a:t>L6
Poisson</a:t>
            </a:r>
          </a:p>
        </p:txBody>
      </p:sp>
      <p:sp>
        <p:nvSpPr>
          <p:cNvPr id="19" name="Rectangle 18"/>
          <p:cNvSpPr/>
          <p:nvPr/>
        </p:nvSpPr>
        <p:spPr>
          <a:xfrm>
            <a:off x="8878824"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15400" y="4636008"/>
            <a:ext cx="1261872" cy="713232"/>
          </a:xfrm>
          <a:prstGeom prst="rect">
            <a:avLst/>
          </a:prstGeom>
          <a:noFill/>
        </p:spPr>
        <p:txBody>
          <a:bodyPr wrap="square">
            <a:spAutoFit/>
          </a:bodyPr>
          <a:lstStyle/>
          <a:p>
            <a:pPr algn="ctr"/>
            <a:r>
              <a:rPr sz="1000" b="1" i="0">
                <a:solidFill>
                  <a:srgbClr val="FFFFFF"/>
                </a:solidFill>
              </a:rPr>
              <a:t>L7
Multi-Dom.</a:t>
            </a:r>
          </a:p>
        </p:txBody>
      </p:sp>
      <p:sp>
        <p:nvSpPr>
          <p:cNvPr id="21" name="TextBox 20"/>
          <p:cNvSpPr txBox="1"/>
          <p:nvPr/>
        </p:nvSpPr>
        <p:spPr>
          <a:xfrm>
            <a:off x="457200" y="6217920"/>
            <a:ext cx="11155680" cy="347472"/>
          </a:xfrm>
          <a:prstGeom prst="rect">
            <a:avLst/>
          </a:prstGeom>
          <a:noFill/>
        </p:spPr>
        <p:txBody>
          <a:bodyPr wrap="square">
            <a:spAutoFit/>
          </a:bodyPr>
          <a:lstStyle/>
          <a:p>
            <a:pPr algn="ctr"/>
            <a:r>
              <a:rPr sz="1000" b="0" i="0">
                <a:solidFill>
                  <a:srgbClr val="64B5F6"/>
                </a:solidFill>
              </a:rPr>
              <a:t>Mortensen et al. 2026  ·  PyTorch  ·  A356 Aluminum  ·  FEM + PINN Hybrid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Project Overview</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Seven-level progressive NAS-PINN framework</a:t>
            </a:r>
          </a:p>
        </p:txBody>
      </p:sp>
      <p:sp>
        <p:nvSpPr>
          <p:cNvPr id="6" name="Rectangle 5"/>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8" name="Rectangle 7"/>
          <p:cNvSpPr/>
          <p:nvPr/>
        </p:nvSpPr>
        <p:spPr>
          <a:xfrm>
            <a:off x="274320" y="114300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197864"/>
            <a:ext cx="594360" cy="438912"/>
          </a:xfrm>
          <a:prstGeom prst="rect">
            <a:avLst/>
          </a:prstGeom>
          <a:noFill/>
        </p:spPr>
        <p:txBody>
          <a:bodyPr wrap="square">
            <a:spAutoFit/>
          </a:bodyPr>
          <a:lstStyle/>
          <a:p>
            <a:pPr algn="ctr"/>
            <a:r>
              <a:rPr sz="1300" b="1" i="0">
                <a:solidFill>
                  <a:srgbClr val="FFFFFF"/>
                </a:solidFill>
              </a:rPr>
              <a:t>L1</a:t>
            </a:r>
          </a:p>
        </p:txBody>
      </p:sp>
      <p:sp>
        <p:nvSpPr>
          <p:cNvPr id="10" name="TextBox 9"/>
          <p:cNvSpPr txBox="1"/>
          <p:nvPr/>
        </p:nvSpPr>
        <p:spPr>
          <a:xfrm>
            <a:off x="960120" y="1179576"/>
            <a:ext cx="2560320" cy="457200"/>
          </a:xfrm>
          <a:prstGeom prst="rect">
            <a:avLst/>
          </a:prstGeom>
          <a:noFill/>
        </p:spPr>
        <p:txBody>
          <a:bodyPr wrap="square">
            <a:spAutoFit/>
          </a:bodyPr>
          <a:lstStyle/>
          <a:p>
            <a:pPr algn="l"/>
            <a:r>
              <a:rPr sz="1200" b="1" i="0">
                <a:solidFill>
                  <a:srgbClr val="1A237E"/>
                </a:solidFill>
              </a:rPr>
              <a:t>Single-Shot PINN</a:t>
            </a:r>
          </a:p>
        </p:txBody>
      </p:sp>
      <p:sp>
        <p:nvSpPr>
          <p:cNvPr id="11" name="TextBox 10"/>
          <p:cNvSpPr txBox="1"/>
          <p:nvPr/>
        </p:nvSpPr>
        <p:spPr>
          <a:xfrm>
            <a:off x="3566160" y="1216152"/>
            <a:ext cx="8229600" cy="420624"/>
          </a:xfrm>
          <a:prstGeom prst="rect">
            <a:avLst/>
          </a:prstGeom>
          <a:noFill/>
        </p:spPr>
        <p:txBody>
          <a:bodyPr wrap="square">
            <a:spAutoFit/>
          </a:bodyPr>
          <a:lstStyle/>
          <a:p>
            <a:pPr algn="l"/>
            <a:r>
              <a:rPr sz="1100" b="0" i="0">
                <a:solidFill>
                  <a:srgbClr val="424242"/>
                </a:solidFill>
              </a:rPr>
              <a:t>Global T(t,x,y) prediction — NAS finds best architecture</a:t>
            </a:r>
          </a:p>
        </p:txBody>
      </p:sp>
      <p:sp>
        <p:nvSpPr>
          <p:cNvPr id="12" name="Rectangle 11"/>
          <p:cNvSpPr/>
          <p:nvPr/>
        </p:nvSpPr>
        <p:spPr>
          <a:xfrm>
            <a:off x="274320" y="169164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78308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837944"/>
            <a:ext cx="594360" cy="438912"/>
          </a:xfrm>
          <a:prstGeom prst="rect">
            <a:avLst/>
          </a:prstGeom>
          <a:noFill/>
        </p:spPr>
        <p:txBody>
          <a:bodyPr wrap="square">
            <a:spAutoFit/>
          </a:bodyPr>
          <a:lstStyle/>
          <a:p>
            <a:pPr algn="ctr"/>
            <a:r>
              <a:rPr sz="1300" b="1" i="0">
                <a:solidFill>
                  <a:srgbClr val="FFFFFF"/>
                </a:solidFill>
              </a:rPr>
              <a:t>L2</a:t>
            </a:r>
          </a:p>
        </p:txBody>
      </p:sp>
      <p:sp>
        <p:nvSpPr>
          <p:cNvPr id="15" name="TextBox 14"/>
          <p:cNvSpPr txBox="1"/>
          <p:nvPr/>
        </p:nvSpPr>
        <p:spPr>
          <a:xfrm>
            <a:off x="960120" y="1819656"/>
            <a:ext cx="2560320" cy="457200"/>
          </a:xfrm>
          <a:prstGeom prst="rect">
            <a:avLst/>
          </a:prstGeom>
          <a:noFill/>
        </p:spPr>
        <p:txBody>
          <a:bodyPr wrap="square">
            <a:spAutoFit/>
          </a:bodyPr>
          <a:lstStyle/>
          <a:p>
            <a:pPr algn="l"/>
            <a:r>
              <a:rPr sz="1200" b="1" i="0">
                <a:solidFill>
                  <a:srgbClr val="1A237E"/>
                </a:solidFill>
              </a:rPr>
              <a:t>Skip Operator</a:t>
            </a:r>
          </a:p>
        </p:txBody>
      </p:sp>
      <p:sp>
        <p:nvSpPr>
          <p:cNvPr id="16" name="TextBox 15"/>
          <p:cNvSpPr txBox="1"/>
          <p:nvPr/>
        </p:nvSpPr>
        <p:spPr>
          <a:xfrm>
            <a:off x="3566160" y="1856232"/>
            <a:ext cx="8229600" cy="420624"/>
          </a:xfrm>
          <a:prstGeom prst="rect">
            <a:avLst/>
          </a:prstGeom>
          <a:noFill/>
        </p:spPr>
        <p:txBody>
          <a:bodyPr wrap="square">
            <a:spAutoFit/>
          </a:bodyPr>
          <a:lstStyle/>
          <a:p>
            <a:pPr algn="l"/>
            <a:r>
              <a:rPr sz="1100" b="0" i="0">
                <a:solidFill>
                  <a:srgbClr val="424242"/>
                </a:solidFill>
              </a:rPr>
              <a:t>FEM at anchor points, PINN fills skipped time steps</a:t>
            </a:r>
          </a:p>
        </p:txBody>
      </p:sp>
      <p:sp>
        <p:nvSpPr>
          <p:cNvPr id="17" name="Rectangle 16"/>
          <p:cNvSpPr/>
          <p:nvPr/>
        </p:nvSpPr>
        <p:spPr>
          <a:xfrm>
            <a:off x="274320" y="233172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242316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2478024"/>
            <a:ext cx="594360" cy="438912"/>
          </a:xfrm>
          <a:prstGeom prst="rect">
            <a:avLst/>
          </a:prstGeom>
          <a:noFill/>
        </p:spPr>
        <p:txBody>
          <a:bodyPr wrap="square">
            <a:spAutoFit/>
          </a:bodyPr>
          <a:lstStyle/>
          <a:p>
            <a:pPr algn="ctr"/>
            <a:r>
              <a:rPr sz="1300" b="1" i="0">
                <a:solidFill>
                  <a:srgbClr val="FFFFFF"/>
                </a:solidFill>
              </a:rPr>
              <a:t>L3</a:t>
            </a:r>
          </a:p>
        </p:txBody>
      </p:sp>
      <p:sp>
        <p:nvSpPr>
          <p:cNvPr id="20" name="TextBox 19"/>
          <p:cNvSpPr txBox="1"/>
          <p:nvPr/>
        </p:nvSpPr>
        <p:spPr>
          <a:xfrm>
            <a:off x="960120" y="2459736"/>
            <a:ext cx="2560320" cy="457200"/>
          </a:xfrm>
          <a:prstGeom prst="rect">
            <a:avLst/>
          </a:prstGeom>
          <a:noFill/>
        </p:spPr>
        <p:txBody>
          <a:bodyPr wrap="square">
            <a:spAutoFit/>
          </a:bodyPr>
          <a:lstStyle/>
          <a:p>
            <a:pPr algn="l"/>
            <a:r>
              <a:rPr sz="1200" b="1" i="0">
                <a:solidFill>
                  <a:srgbClr val="1A237E"/>
                </a:solidFill>
              </a:rPr>
              <a:t>Hybrid FEM + PINN</a:t>
            </a:r>
          </a:p>
        </p:txBody>
      </p:sp>
      <p:sp>
        <p:nvSpPr>
          <p:cNvPr id="21" name="TextBox 20"/>
          <p:cNvSpPr txBox="1"/>
          <p:nvPr/>
        </p:nvSpPr>
        <p:spPr>
          <a:xfrm>
            <a:off x="3566160" y="2496312"/>
            <a:ext cx="8229600" cy="420624"/>
          </a:xfrm>
          <a:prstGeom prst="rect">
            <a:avLst/>
          </a:prstGeom>
          <a:noFill/>
        </p:spPr>
        <p:txBody>
          <a:bodyPr wrap="square">
            <a:spAutoFit/>
          </a:bodyPr>
          <a:lstStyle/>
          <a:p>
            <a:pPr algn="l"/>
            <a:r>
              <a:rPr sz="1100" b="0" i="0">
                <a:solidFill>
                  <a:srgbClr val="424242"/>
                </a:solidFill>
              </a:rPr>
              <a:t>Adaptive routing: PDE residual decides FEM vs PINN</a:t>
            </a:r>
          </a:p>
        </p:txBody>
      </p:sp>
      <p:sp>
        <p:nvSpPr>
          <p:cNvPr id="22" name="Rectangle 21"/>
          <p:cNvSpPr/>
          <p:nvPr/>
        </p:nvSpPr>
        <p:spPr>
          <a:xfrm>
            <a:off x="274320" y="297180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6324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118104"/>
            <a:ext cx="594360" cy="438912"/>
          </a:xfrm>
          <a:prstGeom prst="rect">
            <a:avLst/>
          </a:prstGeom>
          <a:noFill/>
        </p:spPr>
        <p:txBody>
          <a:bodyPr wrap="square">
            <a:spAutoFit/>
          </a:bodyPr>
          <a:lstStyle/>
          <a:p>
            <a:pPr algn="ctr"/>
            <a:r>
              <a:rPr sz="1300" b="1" i="0">
                <a:solidFill>
                  <a:srgbClr val="FFFFFF"/>
                </a:solidFill>
              </a:rPr>
              <a:t>L4</a:t>
            </a:r>
          </a:p>
        </p:txBody>
      </p:sp>
      <p:sp>
        <p:nvSpPr>
          <p:cNvPr id="25" name="TextBox 24"/>
          <p:cNvSpPr txBox="1"/>
          <p:nvPr/>
        </p:nvSpPr>
        <p:spPr>
          <a:xfrm>
            <a:off x="960120" y="3099816"/>
            <a:ext cx="2560320" cy="457200"/>
          </a:xfrm>
          <a:prstGeom prst="rect">
            <a:avLst/>
          </a:prstGeom>
          <a:noFill/>
        </p:spPr>
        <p:txBody>
          <a:bodyPr wrap="square">
            <a:spAutoFit/>
          </a:bodyPr>
          <a:lstStyle/>
          <a:p>
            <a:pPr algn="l"/>
            <a:r>
              <a:rPr sz="1200" b="1" i="0">
                <a:solidFill>
                  <a:srgbClr val="1A237E"/>
                </a:solidFill>
              </a:rPr>
              <a:t>Distortion Mechanics</a:t>
            </a:r>
          </a:p>
        </p:txBody>
      </p:sp>
      <p:sp>
        <p:nvSpPr>
          <p:cNvPr id="26" name="TextBox 25"/>
          <p:cNvSpPr txBox="1"/>
          <p:nvPr/>
        </p:nvSpPr>
        <p:spPr>
          <a:xfrm>
            <a:off x="3566160" y="3136392"/>
            <a:ext cx="8229600" cy="420624"/>
          </a:xfrm>
          <a:prstGeom prst="rect">
            <a:avLst/>
          </a:prstGeom>
          <a:noFill/>
        </p:spPr>
        <p:txBody>
          <a:bodyPr wrap="square">
            <a:spAutoFit/>
          </a:bodyPr>
          <a:lstStyle/>
          <a:p>
            <a:pPr algn="l"/>
            <a:r>
              <a:rPr sz="1100" b="0" i="0">
                <a:solidFill>
                  <a:srgbClr val="424242"/>
                </a:solidFill>
              </a:rPr>
              <a:t>PINN temperature field → plane-stress → CMM distortion</a:t>
            </a:r>
          </a:p>
        </p:txBody>
      </p:sp>
      <p:sp>
        <p:nvSpPr>
          <p:cNvPr id="27" name="Rectangle 26"/>
          <p:cNvSpPr/>
          <p:nvPr/>
        </p:nvSpPr>
        <p:spPr>
          <a:xfrm>
            <a:off x="274320" y="361188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703320"/>
            <a:ext cx="59436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3758184"/>
            <a:ext cx="594360" cy="438912"/>
          </a:xfrm>
          <a:prstGeom prst="rect">
            <a:avLst/>
          </a:prstGeom>
          <a:noFill/>
        </p:spPr>
        <p:txBody>
          <a:bodyPr wrap="square">
            <a:spAutoFit/>
          </a:bodyPr>
          <a:lstStyle/>
          <a:p>
            <a:pPr algn="ctr"/>
            <a:r>
              <a:rPr sz="1300" b="1" i="0">
                <a:solidFill>
                  <a:srgbClr val="FFFFFF"/>
                </a:solidFill>
              </a:rPr>
              <a:t>L5</a:t>
            </a:r>
          </a:p>
        </p:txBody>
      </p:sp>
      <p:sp>
        <p:nvSpPr>
          <p:cNvPr id="30" name="TextBox 29"/>
          <p:cNvSpPr txBox="1"/>
          <p:nvPr/>
        </p:nvSpPr>
        <p:spPr>
          <a:xfrm>
            <a:off x="960120" y="3739896"/>
            <a:ext cx="2560320" cy="457200"/>
          </a:xfrm>
          <a:prstGeom prst="rect">
            <a:avLst/>
          </a:prstGeom>
          <a:noFill/>
        </p:spPr>
        <p:txBody>
          <a:bodyPr wrap="square">
            <a:spAutoFit/>
          </a:bodyPr>
          <a:lstStyle/>
          <a:p>
            <a:pPr algn="l"/>
            <a:r>
              <a:rPr sz="1200" b="1" i="0">
                <a:solidFill>
                  <a:srgbClr val="1A237E"/>
                </a:solidFill>
              </a:rPr>
              <a:t>Extended Training</a:t>
            </a:r>
          </a:p>
        </p:txBody>
      </p:sp>
      <p:sp>
        <p:nvSpPr>
          <p:cNvPr id="31" name="TextBox 30"/>
          <p:cNvSpPr txBox="1"/>
          <p:nvPr/>
        </p:nvSpPr>
        <p:spPr>
          <a:xfrm>
            <a:off x="3566160" y="3776472"/>
            <a:ext cx="8229600" cy="420624"/>
          </a:xfrm>
          <a:prstGeom prst="rect">
            <a:avLst/>
          </a:prstGeom>
          <a:noFill/>
        </p:spPr>
        <p:txBody>
          <a:bodyPr wrap="square">
            <a:spAutoFit/>
          </a:bodyPr>
          <a:lstStyle/>
          <a:p>
            <a:pPr algn="l"/>
            <a:r>
              <a:rPr sz="1100" b="0" i="0">
                <a:solidFill>
                  <a:srgbClr val="424242"/>
                </a:solidFill>
              </a:rPr>
              <a:t>Longer Adam + cosine LR: significant L2 improvement</a:t>
            </a:r>
          </a:p>
        </p:txBody>
      </p:sp>
      <p:sp>
        <p:nvSpPr>
          <p:cNvPr id="32" name="Rectangle 31"/>
          <p:cNvSpPr/>
          <p:nvPr/>
        </p:nvSpPr>
        <p:spPr>
          <a:xfrm>
            <a:off x="274320" y="425196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343400"/>
            <a:ext cx="59436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398264"/>
            <a:ext cx="594360" cy="438912"/>
          </a:xfrm>
          <a:prstGeom prst="rect">
            <a:avLst/>
          </a:prstGeom>
          <a:noFill/>
        </p:spPr>
        <p:txBody>
          <a:bodyPr wrap="square">
            <a:spAutoFit/>
          </a:bodyPr>
          <a:lstStyle/>
          <a:p>
            <a:pPr algn="ctr"/>
            <a:r>
              <a:rPr sz="1300" b="1" i="0">
                <a:solidFill>
                  <a:srgbClr val="FFFFFF"/>
                </a:solidFill>
              </a:rPr>
              <a:t>L6</a:t>
            </a:r>
          </a:p>
        </p:txBody>
      </p:sp>
      <p:sp>
        <p:nvSpPr>
          <p:cNvPr id="35" name="TextBox 34"/>
          <p:cNvSpPr txBox="1"/>
          <p:nvPr/>
        </p:nvSpPr>
        <p:spPr>
          <a:xfrm>
            <a:off x="960120" y="4379976"/>
            <a:ext cx="2560320" cy="457200"/>
          </a:xfrm>
          <a:prstGeom prst="rect">
            <a:avLst/>
          </a:prstGeom>
          <a:noFill/>
        </p:spPr>
        <p:txBody>
          <a:bodyPr wrap="square">
            <a:spAutoFit/>
          </a:bodyPr>
          <a:lstStyle/>
          <a:p>
            <a:pPr algn="l"/>
            <a:r>
              <a:rPr sz="1200" b="1" i="0">
                <a:solidFill>
                  <a:srgbClr val="1A237E"/>
                </a:solidFill>
              </a:rPr>
              <a:t>Poisson Fine-Tuning</a:t>
            </a:r>
          </a:p>
        </p:txBody>
      </p:sp>
      <p:sp>
        <p:nvSpPr>
          <p:cNvPr id="36" name="TextBox 35"/>
          <p:cNvSpPr txBox="1"/>
          <p:nvPr/>
        </p:nvSpPr>
        <p:spPr>
          <a:xfrm>
            <a:off x="3566160" y="4416552"/>
            <a:ext cx="8229600" cy="420624"/>
          </a:xfrm>
          <a:prstGeom prst="rect">
            <a:avLst/>
          </a:prstGeom>
          <a:noFill/>
        </p:spPr>
        <p:txBody>
          <a:bodyPr wrap="square">
            <a:spAutoFit/>
          </a:bodyPr>
          <a:lstStyle/>
          <a:p>
            <a:pPr algn="l"/>
            <a:r>
              <a:rPr sz="1100" b="0" i="0">
                <a:solidFill>
                  <a:srgbClr val="424242"/>
                </a:solidFill>
              </a:rPr>
              <a:t>Auxiliary Poisson loss: tests cross-PDE generalisation</a:t>
            </a:r>
          </a:p>
        </p:txBody>
      </p:sp>
      <p:sp>
        <p:nvSpPr>
          <p:cNvPr id="37" name="Rectangle 36"/>
          <p:cNvSpPr/>
          <p:nvPr/>
        </p:nvSpPr>
        <p:spPr>
          <a:xfrm>
            <a:off x="274320" y="489204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4320" y="4983480"/>
            <a:ext cx="594360" cy="5029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5038344"/>
            <a:ext cx="594360" cy="438912"/>
          </a:xfrm>
          <a:prstGeom prst="rect">
            <a:avLst/>
          </a:prstGeom>
          <a:noFill/>
        </p:spPr>
        <p:txBody>
          <a:bodyPr wrap="square">
            <a:spAutoFit/>
          </a:bodyPr>
          <a:lstStyle/>
          <a:p>
            <a:pPr algn="ctr"/>
            <a:r>
              <a:rPr sz="1300" b="1" i="0">
                <a:solidFill>
                  <a:srgbClr val="FFFFFF"/>
                </a:solidFill>
              </a:rPr>
              <a:t>L7</a:t>
            </a:r>
          </a:p>
        </p:txBody>
      </p:sp>
      <p:sp>
        <p:nvSpPr>
          <p:cNvPr id="40" name="TextBox 39"/>
          <p:cNvSpPr txBox="1"/>
          <p:nvPr/>
        </p:nvSpPr>
        <p:spPr>
          <a:xfrm>
            <a:off x="960120" y="5020056"/>
            <a:ext cx="2560320" cy="457200"/>
          </a:xfrm>
          <a:prstGeom prst="rect">
            <a:avLst/>
          </a:prstGeom>
          <a:noFill/>
        </p:spPr>
        <p:txBody>
          <a:bodyPr wrap="square">
            <a:spAutoFit/>
          </a:bodyPr>
          <a:lstStyle/>
          <a:p>
            <a:pPr algn="l"/>
            <a:r>
              <a:rPr sz="1200" b="1" i="0">
                <a:solidFill>
                  <a:srgbClr val="1A237E"/>
                </a:solidFill>
              </a:rPr>
              <a:t>Multi-Domain</a:t>
            </a:r>
          </a:p>
        </p:txBody>
      </p:sp>
      <p:sp>
        <p:nvSpPr>
          <p:cNvPr id="41" name="TextBox 40"/>
          <p:cNvSpPr txBox="1"/>
          <p:nvPr/>
        </p:nvSpPr>
        <p:spPr>
          <a:xfrm>
            <a:off x="3566160" y="5056632"/>
            <a:ext cx="8229600" cy="420624"/>
          </a:xfrm>
          <a:prstGeom prst="rect">
            <a:avLst/>
          </a:prstGeom>
          <a:noFill/>
        </p:spPr>
        <p:txBody>
          <a:bodyPr wrap="square">
            <a:spAutoFit/>
          </a:bodyPr>
          <a:lstStyle/>
          <a:p>
            <a:pPr algn="l"/>
            <a:r>
              <a:rPr sz="1100" b="0" i="0">
                <a:solidFill>
                  <a:srgbClr val="424242"/>
                </a:solidFill>
              </a:rPr>
              <a:t>5 geometries: Square · Circle · Annulus · L-Shape · Flower</a:t>
            </a:r>
          </a:p>
        </p:txBody>
      </p:sp>
      <p:sp>
        <p:nvSpPr>
          <p:cNvPr id="42" name="Rectangle 41"/>
          <p:cNvSpPr/>
          <p:nvPr/>
        </p:nvSpPr>
        <p:spPr>
          <a:xfrm>
            <a:off x="274320" y="5989320"/>
            <a:ext cx="11612880" cy="548640"/>
          </a:xfrm>
          <a:prstGeom prst="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016752"/>
            <a:ext cx="11338560" cy="493776"/>
          </a:xfrm>
          <a:prstGeom prst="rect">
            <a:avLst/>
          </a:prstGeom>
          <a:noFill/>
        </p:spPr>
        <p:txBody>
          <a:bodyPr wrap="square">
            <a:spAutoFit/>
          </a:bodyPr>
          <a:lstStyle/>
          <a:p>
            <a:pPr algn="ctr"/>
            <a:r>
              <a:rPr sz="1200" b="1" i="0">
                <a:solidFill>
                  <a:srgbClr val="E65100"/>
                </a:solidFill>
              </a:rPr>
              <a:t>Core Thesis:  PINN with NAS-optimised architecture can replace sequential FEM steps — fewer solver calls, same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Problem Statement</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A356 Aluminum Water Quenching — Why PINN?</a:t>
            </a:r>
          </a:p>
        </p:txBody>
      </p:sp>
      <p:sp>
        <p:nvSpPr>
          <p:cNvPr id="6" name="Rectangle 5"/>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8" name="TextBox 7"/>
          <p:cNvSpPr txBox="1"/>
          <p:nvPr/>
        </p:nvSpPr>
        <p:spPr>
          <a:xfrm>
            <a:off x="365760" y="1170432"/>
            <a:ext cx="5669280" cy="292608"/>
          </a:xfrm>
          <a:prstGeom prst="rect">
            <a:avLst/>
          </a:prstGeom>
          <a:noFill/>
        </p:spPr>
        <p:txBody>
          <a:bodyPr wrap="square">
            <a:spAutoFit/>
          </a:bodyPr>
          <a:lstStyle/>
          <a:p>
            <a:pPr algn="l"/>
            <a:r>
              <a:rPr sz="1200" b="1" i="0">
                <a:solidFill>
                  <a:srgbClr val="1565C0"/>
                </a:solidFill>
              </a:rPr>
              <a:t>Physical Setup</a:t>
            </a:r>
          </a:p>
        </p:txBody>
      </p:sp>
      <p:sp>
        <p:nvSpPr>
          <p:cNvPr id="9" name="TextBox 8"/>
          <p:cNvSpPr txBox="1"/>
          <p:nvPr/>
        </p:nvSpPr>
        <p:spPr>
          <a:xfrm>
            <a:off x="365760" y="1490472"/>
            <a:ext cx="5669280" cy="4800600"/>
          </a:xfrm>
          <a:prstGeom prst="rect">
            <a:avLst/>
          </a:prstGeom>
          <a:noFill/>
        </p:spPr>
        <p:txBody>
          <a:bodyPr wrap="square">
            <a:spAutoFit/>
          </a:bodyPr>
          <a:lstStyle/>
          <a:p>
            <a:pPr>
              <a:spcBef>
                <a:spcPts val="400"/>
              </a:spcBef>
              <a:defRPr sz="1200">
                <a:solidFill>
                  <a:srgbClr val="424242"/>
                </a:solidFill>
              </a:defRPr>
            </a:pPr>
            <a:r>
              <a:t>▸  Part: A356 cast aluminium alloy  (domain: 1.3 m × 0.6 m, 2D cross-section)</a:t>
            </a:r>
          </a:p>
          <a:p>
            <a:pPr>
              <a:spcBef>
                <a:spcPts val="400"/>
              </a:spcBef>
              <a:defRPr sz="1200">
                <a:solidFill>
                  <a:srgbClr val="424242"/>
                </a:solidFill>
              </a:defRPr>
            </a:pPr>
            <a:r>
              <a:t>▸  Initial condition: T₀ = 540°C  (solution anneal temperature)</a:t>
            </a:r>
          </a:p>
          <a:p>
            <a:pPr>
              <a:spcBef>
                <a:spcPts val="400"/>
              </a:spcBef>
              <a:defRPr sz="1200">
                <a:solidFill>
                  <a:srgbClr val="424242"/>
                </a:solidFill>
              </a:defRPr>
            </a:pPr>
            <a:r>
              <a:t>▸  Cooling: immersed in water bath, T_water = 20°C</a:t>
            </a:r>
          </a:p>
          <a:p>
            <a:pPr>
              <a:spcBef>
                <a:spcPts val="400"/>
              </a:spcBef>
              <a:defRPr sz="1200">
                <a:solidFill>
                  <a:srgbClr val="424242"/>
                </a:solidFill>
              </a:defRPr>
            </a:pPr>
            <a:r>
              <a:t>▸  PDE: ρCₚ · ∂T/∂t = K · ∇²T   with nonlinear Robin BC</a:t>
            </a:r>
          </a:p>
          <a:p>
            <a:pPr>
              <a:spcBef>
                <a:spcPts val="400"/>
              </a:spcBef>
              <a:defRPr sz="1200">
                <a:solidFill>
                  <a:srgbClr val="424242"/>
                </a:solidFill>
              </a:defRPr>
            </a:pPr>
            <a:r>
              <a:t>▸  HTC h(T): film boiling → nucleate boiling → forced convection regimes</a:t>
            </a:r>
          </a:p>
          <a:p>
            <a:pPr>
              <a:spcBef>
                <a:spcPts val="400"/>
              </a:spcBef>
              <a:defRPr sz="1200">
                <a:solidFill>
                  <a:srgbClr val="424242"/>
                </a:solidFill>
              </a:defRPr>
            </a:pPr>
            <a:r>
              <a:t>▸  Goal: predict T(x,y,t) accurately over 0-30 s at all mesh points</a:t>
            </a:r>
          </a:p>
          <a:p>
            <a:pPr>
              <a:spcBef>
                <a:spcPts val="400"/>
              </a:spcBef>
              <a:defRPr sz="1200">
                <a:solidFill>
                  <a:srgbClr val="424242"/>
                </a:solidFill>
              </a:defRPr>
            </a:pPr>
          </a:p>
          <a:p>
            <a:pPr>
              <a:spcBef>
                <a:spcPts val="400"/>
              </a:spcBef>
              <a:defRPr sz="1200">
                <a:solidFill>
                  <a:srgbClr val="424242"/>
                </a:solidFill>
              </a:defRPr>
            </a:pPr>
            <a:r>
              <a:t>FEM Bottleneck:</a:t>
            </a:r>
          </a:p>
          <a:p>
            <a:pPr>
              <a:spcBef>
                <a:spcPts val="400"/>
              </a:spcBef>
              <a:defRPr sz="1200">
                <a:solidFill>
                  <a:srgbClr val="424242"/>
                </a:solidFill>
              </a:defRPr>
            </a:pPr>
            <a:r>
              <a:t>▸  Requires 20+ sequential time steps (Δt = 1.5 s each)</a:t>
            </a:r>
          </a:p>
          <a:p>
            <a:pPr>
              <a:spcBef>
                <a:spcPts val="400"/>
              </a:spcBef>
              <a:defRPr sz="1200">
                <a:solidFill>
                  <a:srgbClr val="424242"/>
                </a:solidFill>
              </a:defRPr>
            </a:pPr>
            <a:r>
              <a:t>▸  Each step: full K-matrix assembly + linear solve → expensive</a:t>
            </a:r>
          </a:p>
          <a:p>
            <a:pPr>
              <a:spcBef>
                <a:spcPts val="400"/>
              </a:spcBef>
              <a:defRPr sz="1200">
                <a:solidFill>
                  <a:srgbClr val="424242"/>
                </a:solidFill>
              </a:defRPr>
            </a:pPr>
            <a:r>
              <a:t>▸  PINN opportunity: learn mapping  T_prev → T_next  and skip FEM calls</a:t>
            </a:r>
          </a:p>
        </p:txBody>
      </p:sp>
      <p:sp>
        <p:nvSpPr>
          <p:cNvPr id="10" name="Rectangle 9"/>
          <p:cNvSpPr/>
          <p:nvPr/>
        </p:nvSpPr>
        <p:spPr>
          <a:xfrm>
            <a:off x="6309360" y="1170432"/>
            <a:ext cx="5577840" cy="53949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98448"/>
            <a:ext cx="5212080" cy="329184"/>
          </a:xfrm>
          <a:prstGeom prst="rect">
            <a:avLst/>
          </a:prstGeom>
          <a:noFill/>
        </p:spPr>
        <p:txBody>
          <a:bodyPr wrap="square">
            <a:spAutoFit/>
          </a:bodyPr>
          <a:lstStyle/>
          <a:p>
            <a:pPr algn="l"/>
            <a:r>
              <a:rPr sz="1300" b="1" i="0">
                <a:solidFill>
                  <a:srgbClr val="1B5E20"/>
                </a:solidFill>
              </a:rPr>
              <a:t>Key Numbers</a:t>
            </a:r>
          </a:p>
        </p:txBody>
      </p:sp>
      <p:sp>
        <p:nvSpPr>
          <p:cNvPr id="12" name="TextBox 11"/>
          <p:cNvSpPr txBox="1"/>
          <p:nvPr/>
        </p:nvSpPr>
        <p:spPr>
          <a:xfrm>
            <a:off x="6400800" y="1691640"/>
            <a:ext cx="5394960" cy="274320"/>
          </a:xfrm>
          <a:prstGeom prst="rect">
            <a:avLst/>
          </a:prstGeom>
          <a:noFill/>
        </p:spPr>
        <p:txBody>
          <a:bodyPr wrap="square">
            <a:spAutoFit/>
          </a:bodyPr>
          <a:lstStyle/>
          <a:p>
            <a:pPr algn="l"/>
            <a:r>
              <a:rPr sz="1000" b="1" i="0">
                <a:solidFill>
                  <a:srgbClr val="1A237E"/>
                </a:solidFill>
              </a:rPr>
              <a:t>Analytical reference (Robin BC fundamental mode):</a:t>
            </a:r>
          </a:p>
        </p:txBody>
      </p:sp>
      <p:sp>
        <p:nvSpPr>
          <p:cNvPr id="13" name="TextBox 12"/>
          <p:cNvSpPr txBox="1"/>
          <p:nvPr/>
        </p:nvSpPr>
        <p:spPr>
          <a:xfrm>
            <a:off x="6400800" y="1993392"/>
            <a:ext cx="5394960" cy="329184"/>
          </a:xfrm>
          <a:prstGeom prst="rect">
            <a:avLst/>
          </a:prstGeom>
          <a:noFill/>
        </p:spPr>
        <p:txBody>
          <a:bodyPr wrap="square">
            <a:spAutoFit/>
          </a:bodyPr>
          <a:lstStyle/>
          <a:p>
            <a:pPr algn="ctr"/>
            <a:r>
              <a:rPr sz="1200" b="1" i="0">
                <a:solidFill>
                  <a:srgbClr val="1565C0"/>
                </a:solidFill>
              </a:rPr>
              <a:t>T(t) = 20 + 520 · exp(−1.75×10⁻³ · t)</a:t>
            </a:r>
          </a:p>
        </p:txBody>
      </p:sp>
      <p:sp>
        <p:nvSpPr>
          <p:cNvPr id="14" name="Rectangle 13"/>
          <p:cNvSpPr/>
          <p:nvPr/>
        </p:nvSpPr>
        <p:spPr>
          <a:xfrm>
            <a:off x="6492240" y="2423160"/>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2478024"/>
            <a:ext cx="1883664" cy="420624"/>
          </a:xfrm>
          <a:prstGeom prst="rect">
            <a:avLst/>
          </a:prstGeom>
          <a:noFill/>
        </p:spPr>
        <p:txBody>
          <a:bodyPr wrap="square">
            <a:spAutoFit/>
          </a:bodyPr>
          <a:lstStyle/>
          <a:p>
            <a:pPr algn="ctr"/>
            <a:r>
              <a:rPr sz="1100" b="1" i="0">
                <a:solidFill>
                  <a:srgbClr val="FFFFFF"/>
                </a:solidFill>
              </a:rPr>
              <a:t>540°C → 20°C</a:t>
            </a:r>
          </a:p>
        </p:txBody>
      </p:sp>
      <p:sp>
        <p:nvSpPr>
          <p:cNvPr id="16" name="TextBox 15"/>
          <p:cNvSpPr txBox="1"/>
          <p:nvPr/>
        </p:nvSpPr>
        <p:spPr>
          <a:xfrm>
            <a:off x="8503920" y="2514600"/>
            <a:ext cx="3246120" cy="365760"/>
          </a:xfrm>
          <a:prstGeom prst="rect">
            <a:avLst/>
          </a:prstGeom>
          <a:noFill/>
        </p:spPr>
        <p:txBody>
          <a:bodyPr wrap="square">
            <a:spAutoFit/>
          </a:bodyPr>
          <a:lstStyle/>
          <a:p>
            <a:pPr algn="l"/>
            <a:r>
              <a:rPr sz="1100" b="0" i="0">
                <a:solidFill>
                  <a:srgbClr val="424242"/>
                </a:solidFill>
              </a:rPr>
              <a:t>Temperature range (ΔT = 520°C)</a:t>
            </a:r>
          </a:p>
        </p:txBody>
      </p:sp>
      <p:sp>
        <p:nvSpPr>
          <p:cNvPr id="17" name="Rectangle 16"/>
          <p:cNvSpPr/>
          <p:nvPr/>
        </p:nvSpPr>
        <p:spPr>
          <a:xfrm>
            <a:off x="6492240" y="3072384"/>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0528" y="3127248"/>
            <a:ext cx="1883664" cy="420624"/>
          </a:xfrm>
          <a:prstGeom prst="rect">
            <a:avLst/>
          </a:prstGeom>
          <a:noFill/>
        </p:spPr>
        <p:txBody>
          <a:bodyPr wrap="square">
            <a:spAutoFit/>
          </a:bodyPr>
          <a:lstStyle/>
          <a:p>
            <a:pPr algn="ctr"/>
            <a:r>
              <a:rPr sz="1100" b="1" i="0">
                <a:solidFill>
                  <a:srgbClr val="FFFFFF"/>
                </a:solidFill>
              </a:rPr>
              <a:t>30 seconds</a:t>
            </a:r>
          </a:p>
        </p:txBody>
      </p:sp>
      <p:sp>
        <p:nvSpPr>
          <p:cNvPr id="19" name="TextBox 18"/>
          <p:cNvSpPr txBox="1"/>
          <p:nvPr/>
        </p:nvSpPr>
        <p:spPr>
          <a:xfrm>
            <a:off x="8503920" y="3163824"/>
            <a:ext cx="3246120" cy="365760"/>
          </a:xfrm>
          <a:prstGeom prst="rect">
            <a:avLst/>
          </a:prstGeom>
          <a:noFill/>
        </p:spPr>
        <p:txBody>
          <a:bodyPr wrap="square">
            <a:spAutoFit/>
          </a:bodyPr>
          <a:lstStyle/>
          <a:p>
            <a:pPr algn="l"/>
            <a:r>
              <a:rPr sz="1100" b="0" i="0">
                <a:solidFill>
                  <a:srgbClr val="424242"/>
                </a:solidFill>
              </a:rPr>
              <a:t>Total quench duration</a:t>
            </a:r>
          </a:p>
        </p:txBody>
      </p:sp>
      <p:sp>
        <p:nvSpPr>
          <p:cNvPr id="20" name="Rectangle 19"/>
          <p:cNvSpPr/>
          <p:nvPr/>
        </p:nvSpPr>
        <p:spPr>
          <a:xfrm>
            <a:off x="6492240" y="3721608"/>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3776472"/>
            <a:ext cx="1883664" cy="420624"/>
          </a:xfrm>
          <a:prstGeom prst="rect">
            <a:avLst/>
          </a:prstGeom>
          <a:noFill/>
        </p:spPr>
        <p:txBody>
          <a:bodyPr wrap="square">
            <a:spAutoFit/>
          </a:bodyPr>
          <a:lstStyle/>
          <a:p>
            <a:pPr algn="ctr"/>
            <a:r>
              <a:rPr sz="1100" b="1" i="0">
                <a:solidFill>
                  <a:srgbClr val="FFFFFF"/>
                </a:solidFill>
              </a:rPr>
              <a:t>20 FEM steps</a:t>
            </a:r>
          </a:p>
        </p:txBody>
      </p:sp>
      <p:sp>
        <p:nvSpPr>
          <p:cNvPr id="22" name="TextBox 21"/>
          <p:cNvSpPr txBox="1"/>
          <p:nvPr/>
        </p:nvSpPr>
        <p:spPr>
          <a:xfrm>
            <a:off x="8503920" y="3813048"/>
            <a:ext cx="3246120" cy="365760"/>
          </a:xfrm>
          <a:prstGeom prst="rect">
            <a:avLst/>
          </a:prstGeom>
          <a:noFill/>
        </p:spPr>
        <p:txBody>
          <a:bodyPr wrap="square">
            <a:spAutoFit/>
          </a:bodyPr>
          <a:lstStyle/>
          <a:p>
            <a:pPr algn="l"/>
            <a:r>
              <a:rPr sz="1100" b="0" i="0">
                <a:solidFill>
                  <a:srgbClr val="424242"/>
                </a:solidFill>
              </a:rPr>
              <a:t>Sequential time-step solves</a:t>
            </a:r>
          </a:p>
        </p:txBody>
      </p:sp>
      <p:sp>
        <p:nvSpPr>
          <p:cNvPr id="23" name="Rectangle 22"/>
          <p:cNvSpPr/>
          <p:nvPr/>
        </p:nvSpPr>
        <p:spPr>
          <a:xfrm>
            <a:off x="6492240" y="4370832"/>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4425696"/>
            <a:ext cx="1883664" cy="420624"/>
          </a:xfrm>
          <a:prstGeom prst="rect">
            <a:avLst/>
          </a:prstGeom>
          <a:noFill/>
        </p:spPr>
        <p:txBody>
          <a:bodyPr wrap="square">
            <a:spAutoFit/>
          </a:bodyPr>
          <a:lstStyle/>
          <a:p>
            <a:pPr algn="ctr"/>
            <a:r>
              <a:rPr sz="1100" b="1" i="0">
                <a:solidFill>
                  <a:srgbClr val="FFFFFF"/>
                </a:solidFill>
              </a:rPr>
              <a:t>K = 150 W/mK</a:t>
            </a:r>
          </a:p>
        </p:txBody>
      </p:sp>
      <p:sp>
        <p:nvSpPr>
          <p:cNvPr id="25" name="TextBox 24"/>
          <p:cNvSpPr txBox="1"/>
          <p:nvPr/>
        </p:nvSpPr>
        <p:spPr>
          <a:xfrm>
            <a:off x="8503920" y="4462272"/>
            <a:ext cx="3246120" cy="365760"/>
          </a:xfrm>
          <a:prstGeom prst="rect">
            <a:avLst/>
          </a:prstGeom>
          <a:noFill/>
        </p:spPr>
        <p:txBody>
          <a:bodyPr wrap="square">
            <a:spAutoFit/>
          </a:bodyPr>
          <a:lstStyle/>
          <a:p>
            <a:pPr algn="l"/>
            <a:r>
              <a:rPr sz="1100" b="0" i="0">
                <a:solidFill>
                  <a:srgbClr val="424242"/>
                </a:solidFill>
              </a:rPr>
              <a:t>A356 thermal conductivity</a:t>
            </a:r>
          </a:p>
        </p:txBody>
      </p:sp>
      <p:sp>
        <p:nvSpPr>
          <p:cNvPr id="26" name="Rectangle 25"/>
          <p:cNvSpPr/>
          <p:nvPr/>
        </p:nvSpPr>
        <p:spPr>
          <a:xfrm>
            <a:off x="6492240" y="5020056"/>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5074920"/>
            <a:ext cx="1883664" cy="420624"/>
          </a:xfrm>
          <a:prstGeom prst="rect">
            <a:avLst/>
          </a:prstGeom>
          <a:noFill/>
        </p:spPr>
        <p:txBody>
          <a:bodyPr wrap="square">
            <a:spAutoFit/>
          </a:bodyPr>
          <a:lstStyle/>
          <a:p>
            <a:pPr algn="ctr"/>
            <a:r>
              <a:rPr sz="1100" b="1" i="0">
                <a:solidFill>
                  <a:srgbClr val="FFFFFF"/>
                </a:solidFill>
              </a:rPr>
              <a:t>ρCₚ = 2.4 MJ/m³K</a:t>
            </a:r>
          </a:p>
        </p:txBody>
      </p:sp>
      <p:sp>
        <p:nvSpPr>
          <p:cNvPr id="28" name="TextBox 27"/>
          <p:cNvSpPr txBox="1"/>
          <p:nvPr/>
        </p:nvSpPr>
        <p:spPr>
          <a:xfrm>
            <a:off x="8503920" y="5111496"/>
            <a:ext cx="3246120" cy="365760"/>
          </a:xfrm>
          <a:prstGeom prst="rect">
            <a:avLst/>
          </a:prstGeom>
          <a:noFill/>
        </p:spPr>
        <p:txBody>
          <a:bodyPr wrap="square">
            <a:spAutoFit/>
          </a:bodyPr>
          <a:lstStyle/>
          <a:p>
            <a:pPr algn="l"/>
            <a:r>
              <a:rPr sz="1100" b="0" i="0">
                <a:solidFill>
                  <a:srgbClr val="424242"/>
                </a:solidFill>
              </a:rPr>
              <a:t>Volumetric heat capacity</a:t>
            </a:r>
          </a:p>
        </p:txBody>
      </p:sp>
      <p:sp>
        <p:nvSpPr>
          <p:cNvPr id="29" name="Rectangle 28"/>
          <p:cNvSpPr/>
          <p:nvPr/>
        </p:nvSpPr>
        <p:spPr>
          <a:xfrm>
            <a:off x="6492240" y="5669280"/>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5724144"/>
            <a:ext cx="1883664" cy="420624"/>
          </a:xfrm>
          <a:prstGeom prst="rect">
            <a:avLst/>
          </a:prstGeom>
          <a:noFill/>
        </p:spPr>
        <p:txBody>
          <a:bodyPr wrap="square">
            <a:spAutoFit/>
          </a:bodyPr>
          <a:lstStyle/>
          <a:p>
            <a:pPr algn="ctr"/>
            <a:r>
              <a:rPr sz="1100" b="1" i="0">
                <a:solidFill>
                  <a:srgbClr val="FFFFFF"/>
                </a:solidFill>
              </a:rPr>
              <a:t>3 NAS methods</a:t>
            </a:r>
          </a:p>
        </p:txBody>
      </p:sp>
      <p:sp>
        <p:nvSpPr>
          <p:cNvPr id="31" name="TextBox 30"/>
          <p:cNvSpPr txBox="1"/>
          <p:nvPr/>
        </p:nvSpPr>
        <p:spPr>
          <a:xfrm>
            <a:off x="8503920" y="5760720"/>
            <a:ext cx="3246120" cy="365760"/>
          </a:xfrm>
          <a:prstGeom prst="rect">
            <a:avLst/>
          </a:prstGeom>
          <a:noFill/>
        </p:spPr>
        <p:txBody>
          <a:bodyPr wrap="square">
            <a:spAutoFit/>
          </a:bodyPr>
          <a:lstStyle/>
          <a:p>
            <a:pPr algn="l"/>
            <a:r>
              <a:rPr sz="1100" b="0" i="0">
                <a:solidFill>
                  <a:srgbClr val="424242"/>
                </a:solidFill>
              </a:rPr>
              <a:t>Bayesian · NSGA-II · NSGA-III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Neural Architecture Search — What We Are Searching</a:t>
            </a:r>
          </a:p>
        </p:txBody>
      </p:sp>
      <p:sp>
        <p:nvSpPr>
          <p:cNvPr id="5" name="Rectangle 4"/>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7" name="TextBox 6"/>
          <p:cNvSpPr txBox="1"/>
          <p:nvPr/>
        </p:nvSpPr>
        <p:spPr>
          <a:xfrm>
            <a:off x="365760" y="1170432"/>
            <a:ext cx="5943600" cy="5120640"/>
          </a:xfrm>
          <a:prstGeom prst="rect">
            <a:avLst/>
          </a:prstGeom>
          <a:noFill/>
        </p:spPr>
        <p:txBody>
          <a:bodyPr wrap="square">
            <a:spAutoFit/>
          </a:bodyPr>
          <a:lstStyle/>
          <a:p>
            <a:pPr>
              <a:spcBef>
                <a:spcPts val="400"/>
              </a:spcBef>
              <a:defRPr sz="1200">
                <a:solidFill>
                  <a:srgbClr val="424242"/>
                </a:solidFill>
              </a:defRPr>
            </a:pPr>
            <a:r>
              <a:t>Search Space (same for all 3 optimizers):</a:t>
            </a:r>
          </a:p>
          <a:p>
            <a:pPr>
              <a:spcBef>
                <a:spcPts val="400"/>
              </a:spcBef>
              <a:defRPr sz="1200">
                <a:solidFill>
                  <a:srgbClr val="424242"/>
                </a:solidFill>
              </a:defRPr>
            </a:pPr>
            <a:r>
              <a:t>  ▸  Number of hidden layers: {2, 3, 4, 5, 6}</a:t>
            </a:r>
          </a:p>
          <a:p>
            <a:pPr>
              <a:spcBef>
                <a:spcPts val="400"/>
              </a:spcBef>
              <a:defRPr sz="1200">
                <a:solidFill>
                  <a:srgbClr val="424242"/>
                </a:solidFill>
              </a:defRPr>
            </a:pPr>
            <a:r>
              <a:t>  ▸  Neurons per layer:  32, 48, 64, 96, 128, 160, 192, 256</a:t>
            </a:r>
          </a:p>
          <a:p>
            <a:pPr>
              <a:spcBef>
                <a:spcPts val="400"/>
              </a:spcBef>
              <a:defRPr sz="1200">
                <a:solidFill>
                  <a:srgbClr val="424242"/>
                </a:solidFill>
              </a:defRPr>
            </a:pPr>
            <a:r>
              <a:t>  ▸  Activation function: tanh · relu · swish</a:t>
            </a:r>
          </a:p>
          <a:p>
            <a:pPr>
              <a:spcBef>
                <a:spcPts val="400"/>
              </a:spcBef>
              <a:defRPr sz="1200">
                <a:solidFill>
                  <a:srgbClr val="424242"/>
                </a:solidFill>
              </a:defRPr>
            </a:pPr>
            <a:r>
              <a:t>  ▸  Architecture is uniform (same neurons in all layers)</a:t>
            </a:r>
          </a:p>
          <a:p>
            <a:pPr>
              <a:spcBef>
                <a:spcPts val="400"/>
              </a:spcBef>
              <a:defRPr sz="1200">
                <a:solidFill>
                  <a:srgbClr val="424242"/>
                </a:solidFill>
              </a:defRPr>
            </a:pPr>
          </a:p>
          <a:p>
            <a:pPr>
              <a:spcBef>
                <a:spcPts val="400"/>
              </a:spcBef>
              <a:defRPr sz="1200">
                <a:solidFill>
                  <a:srgbClr val="424242"/>
                </a:solidFill>
              </a:defRPr>
            </a:pPr>
            <a:r>
              <a:t>Evaluation metric (objective to minimise):</a:t>
            </a:r>
          </a:p>
          <a:p>
            <a:pPr>
              <a:spcBef>
                <a:spcPts val="400"/>
              </a:spcBef>
              <a:defRPr sz="1200">
                <a:solidFill>
                  <a:srgbClr val="424242"/>
                </a:solidFill>
              </a:defRPr>
            </a:pPr>
            <a:r>
              <a:t>  ▸  L2_rel = ‖T_pred − T_ref‖₂ / ‖T_ref‖₂  on held-out test set</a:t>
            </a:r>
          </a:p>
          <a:p>
            <a:pPr>
              <a:spcBef>
                <a:spcPts val="400"/>
              </a:spcBef>
              <a:defRPr sz="1200">
                <a:solidFill>
                  <a:srgbClr val="424242"/>
                </a:solidFill>
              </a:defRPr>
            </a:pPr>
          </a:p>
          <a:p>
            <a:pPr>
              <a:spcBef>
                <a:spcPts val="400"/>
              </a:spcBef>
              <a:defRPr sz="1200">
                <a:solidFill>
                  <a:srgbClr val="424242"/>
                </a:solidFill>
              </a:defRPr>
            </a:pPr>
            <a:r>
              <a:t>Optimizers:</a:t>
            </a:r>
          </a:p>
          <a:p>
            <a:pPr>
              <a:spcBef>
                <a:spcPts val="400"/>
              </a:spcBef>
              <a:defRPr sz="1200">
                <a:solidFill>
                  <a:srgbClr val="424242"/>
                </a:solidFill>
              </a:defRPr>
            </a:pPr>
            <a:r>
              <a:t>  ▸  Bayesian (TPE): tree-structured Parzen estimator — single objective</a:t>
            </a:r>
          </a:p>
          <a:p>
            <a:pPr>
              <a:spcBef>
                <a:spcPts val="400"/>
              </a:spcBef>
              <a:defRPr sz="1200">
                <a:solidFill>
                  <a:srgbClr val="424242"/>
                </a:solidFill>
              </a:defRPr>
            </a:pPr>
            <a:r>
              <a:t>  ▸  NSGA-II: multi-objective (L2 + num params) — Pareto front</a:t>
            </a:r>
          </a:p>
          <a:p>
            <a:pPr>
              <a:spcBef>
                <a:spcPts val="400"/>
              </a:spcBef>
              <a:defRPr sz="1200">
                <a:solidFill>
                  <a:srgbClr val="424242"/>
                </a:solidFill>
              </a:defRPr>
            </a:pPr>
            <a:r>
              <a:t>  ▸  NSGA-III: multi-objective with reference-point directions</a:t>
            </a:r>
          </a:p>
        </p:txBody>
      </p:sp>
      <p:pic>
        <p:nvPicPr>
          <p:cNvPr id="8" name="Picture 7" descr="pres_nas_search_space.png"/>
          <p:cNvPicPr>
            <a:picLocks noChangeAspect="1"/>
          </p:cNvPicPr>
          <p:nvPr/>
        </p:nvPicPr>
        <p:blipFill>
          <a:blip r:embed="rId2"/>
          <a:stretch>
            <a:fillRect/>
          </a:stretch>
        </p:blipFill>
        <p:spPr>
          <a:xfrm>
            <a:off x="6217920" y="1170432"/>
            <a:ext cx="5760720"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1 — Single-Shot NAS-PINN</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Global T(t,x,y) predictor — NAS finds best architecture</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L1</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292608"/>
          </a:xfrm>
          <a:prstGeom prst="rect">
            <a:avLst/>
          </a:prstGeom>
          <a:noFill/>
        </p:spPr>
        <p:txBody>
          <a:bodyPr wrap="square">
            <a:spAutoFit/>
          </a:bodyPr>
          <a:lstStyle/>
          <a:p>
            <a:pPr algn="l"/>
            <a:r>
              <a:rPr sz="1200" b="1" i="0">
                <a:solidFill>
                  <a:srgbClr val="1565C0"/>
                </a:solidFill>
              </a:rPr>
              <a:t>Training Setup</a:t>
            </a:r>
          </a:p>
        </p:txBody>
      </p:sp>
      <p:sp>
        <p:nvSpPr>
          <p:cNvPr id="11" name="TextBox 10"/>
          <p:cNvSpPr txBox="1"/>
          <p:nvPr/>
        </p:nvSpPr>
        <p:spPr>
          <a:xfrm>
            <a:off x="365760" y="1490472"/>
            <a:ext cx="5394960" cy="2880360"/>
          </a:xfrm>
          <a:prstGeom prst="rect">
            <a:avLst/>
          </a:prstGeom>
          <a:noFill/>
        </p:spPr>
        <p:txBody>
          <a:bodyPr wrap="square">
            <a:spAutoFit/>
          </a:bodyPr>
          <a:lstStyle/>
          <a:p>
            <a:pPr>
              <a:spcBef>
                <a:spcPts val="400"/>
              </a:spcBef>
              <a:defRPr sz="1200">
                <a:solidFill>
                  <a:srgbClr val="424242"/>
                </a:solidFill>
              </a:defRPr>
            </a:pPr>
            <a:r>
              <a:t>Input:   (t, x, y)  →  T(t,x,y)</a:t>
            </a:r>
          </a:p>
          <a:p>
            <a:pPr>
              <a:spcBef>
                <a:spcPts val="400"/>
              </a:spcBef>
              <a:defRPr sz="1200">
                <a:solidFill>
                  <a:srgbClr val="424242"/>
                </a:solidFill>
              </a:defRPr>
            </a:pPr>
            <a:r>
              <a:t>Training: Adam 20 000 epochs</a:t>
            </a:r>
          </a:p>
          <a:p>
            <a:pPr>
              <a:spcBef>
                <a:spcPts val="400"/>
              </a:spcBef>
              <a:defRPr sz="1200">
                <a:solidFill>
                  <a:srgbClr val="424242"/>
                </a:solidFill>
              </a:defRPr>
            </a:pPr>
            <a:r>
              <a:t>  • Learning rate: 1×10⁻³ → 1×10⁻⁵  (cosine schedule)</a:t>
            </a:r>
          </a:p>
          <a:p>
            <a:pPr>
              <a:spcBef>
                <a:spcPts val="400"/>
              </a:spcBef>
              <a:defRPr sz="1200">
                <a:solidFill>
                  <a:srgbClr val="424242"/>
                </a:solidFill>
              </a:defRPr>
            </a:pPr>
            <a:r>
              <a:t>  • Domain points: 2 000  (random collocation)</a:t>
            </a:r>
          </a:p>
          <a:p>
            <a:pPr>
              <a:spcBef>
                <a:spcPts val="400"/>
              </a:spcBef>
              <a:defRPr sz="1200">
                <a:solidFill>
                  <a:srgbClr val="424242"/>
                </a:solidFill>
              </a:defRPr>
            </a:pPr>
            <a:r>
              <a:t>  • BC points: 200  (boundary sampling)</a:t>
            </a:r>
          </a:p>
          <a:p>
            <a:pPr>
              <a:spcBef>
                <a:spcPts val="400"/>
              </a:spcBef>
              <a:defRPr sz="1200">
                <a:solidFill>
                  <a:srgbClr val="424242"/>
                </a:solidFill>
              </a:defRPr>
            </a:pPr>
            <a:r>
              <a:t>  • Physics loss: PDE residual + BC residual</a:t>
            </a:r>
          </a:p>
          <a:p>
            <a:pPr>
              <a:spcBef>
                <a:spcPts val="400"/>
              </a:spcBef>
              <a:defRPr sz="1200">
                <a:solidFill>
                  <a:srgbClr val="424242"/>
                </a:solidFill>
              </a:defRPr>
            </a:pPr>
          </a:p>
          <a:p>
            <a:pPr>
              <a:spcBef>
                <a:spcPts val="400"/>
              </a:spcBef>
              <a:defRPr sz="1200">
                <a:solidFill>
                  <a:srgbClr val="424242"/>
                </a:solidFill>
              </a:defRPr>
            </a:pPr>
            <a:r>
              <a:t>Reference: T_ref from paper FEM (Mortensen 2026)</a:t>
            </a:r>
          </a:p>
          <a:p>
            <a:pPr>
              <a:spcBef>
                <a:spcPts val="400"/>
              </a:spcBef>
              <a:defRPr sz="1200">
                <a:solidFill>
                  <a:srgbClr val="424242"/>
                </a:solidFill>
              </a:defRPr>
            </a:pPr>
            <a:r>
              <a:t>  • Analytical: T(t) = 20 + 520·exp(−1.75×10⁻³·t)</a:t>
            </a:r>
          </a:p>
        </p:txBody>
      </p:sp>
      <p:sp>
        <p:nvSpPr>
          <p:cNvPr id="12" name="Rectangle 11"/>
          <p:cNvSpPr/>
          <p:nvPr/>
        </p:nvSpPr>
        <p:spPr>
          <a:xfrm>
            <a:off x="365760" y="4526280"/>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581144"/>
            <a:ext cx="1463040" cy="365760"/>
          </a:xfrm>
          <a:prstGeom prst="rect">
            <a:avLst/>
          </a:prstGeom>
          <a:noFill/>
        </p:spPr>
        <p:txBody>
          <a:bodyPr wrap="square">
            <a:spAutoFit/>
          </a:bodyPr>
          <a:lstStyle/>
          <a:p>
            <a:pPr algn="ctr"/>
            <a:r>
              <a:rPr sz="900" b="1" i="0">
                <a:solidFill>
                  <a:srgbClr val="FFFFFF"/>
                </a:solidFill>
              </a:rPr>
              <a:t>Optimizer</a:t>
            </a:r>
          </a:p>
        </p:txBody>
      </p:sp>
      <p:sp>
        <p:nvSpPr>
          <p:cNvPr id="14" name="Rectangle 13"/>
          <p:cNvSpPr/>
          <p:nvPr/>
        </p:nvSpPr>
        <p:spPr>
          <a:xfrm>
            <a:off x="1920240" y="4526280"/>
            <a:ext cx="14356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4581144"/>
            <a:ext cx="1371600" cy="365760"/>
          </a:xfrm>
          <a:prstGeom prst="rect">
            <a:avLst/>
          </a:prstGeom>
          <a:noFill/>
        </p:spPr>
        <p:txBody>
          <a:bodyPr wrap="square">
            <a:spAutoFit/>
          </a:bodyPr>
          <a:lstStyle/>
          <a:p>
            <a:pPr algn="ctr"/>
            <a:r>
              <a:rPr sz="900" b="1" i="0">
                <a:solidFill>
                  <a:srgbClr val="FFFFFF"/>
                </a:solidFill>
              </a:rPr>
              <a:t>Architecture</a:t>
            </a:r>
          </a:p>
        </p:txBody>
      </p:sp>
      <p:sp>
        <p:nvSpPr>
          <p:cNvPr id="16" name="Rectangle 15"/>
          <p:cNvSpPr/>
          <p:nvPr/>
        </p:nvSpPr>
        <p:spPr>
          <a:xfrm>
            <a:off x="3383280" y="4526280"/>
            <a:ext cx="9784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4581144"/>
            <a:ext cx="914400" cy="365760"/>
          </a:xfrm>
          <a:prstGeom prst="rect">
            <a:avLst/>
          </a:prstGeom>
          <a:noFill/>
        </p:spPr>
        <p:txBody>
          <a:bodyPr wrap="square">
            <a:spAutoFit/>
          </a:bodyPr>
          <a:lstStyle/>
          <a:p>
            <a:pPr algn="ctr"/>
            <a:r>
              <a:rPr sz="900" b="1" i="0">
                <a:solidFill>
                  <a:srgbClr val="FFFFFF"/>
                </a:solidFill>
              </a:rPr>
              <a:t>Params</a:t>
            </a:r>
          </a:p>
        </p:txBody>
      </p:sp>
      <p:sp>
        <p:nvSpPr>
          <p:cNvPr id="18" name="Rectangle 17"/>
          <p:cNvSpPr/>
          <p:nvPr/>
        </p:nvSpPr>
        <p:spPr>
          <a:xfrm>
            <a:off x="4389120" y="4526280"/>
            <a:ext cx="9784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81144"/>
            <a:ext cx="914400" cy="365760"/>
          </a:xfrm>
          <a:prstGeom prst="rect">
            <a:avLst/>
          </a:prstGeom>
          <a:noFill/>
        </p:spPr>
        <p:txBody>
          <a:bodyPr wrap="square">
            <a:spAutoFit/>
          </a:bodyPr>
          <a:lstStyle/>
          <a:p>
            <a:pPr algn="ctr"/>
            <a:r>
              <a:rPr sz="900" b="1" i="0">
                <a:solidFill>
                  <a:srgbClr val="FFFFFF"/>
                </a:solidFill>
              </a:rPr>
              <a:t>L2_rel↓</a:t>
            </a:r>
          </a:p>
        </p:txBody>
      </p:sp>
      <p:sp>
        <p:nvSpPr>
          <p:cNvPr id="20" name="Rectangle 19"/>
          <p:cNvSpPr/>
          <p:nvPr/>
        </p:nvSpPr>
        <p:spPr>
          <a:xfrm>
            <a:off x="5394960" y="4526280"/>
            <a:ext cx="12070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40680" y="4581144"/>
            <a:ext cx="1143000" cy="365760"/>
          </a:xfrm>
          <a:prstGeom prst="rect">
            <a:avLst/>
          </a:prstGeom>
          <a:noFill/>
        </p:spPr>
        <p:txBody>
          <a:bodyPr wrap="square">
            <a:spAutoFit/>
          </a:bodyPr>
          <a:lstStyle/>
          <a:p>
            <a:pPr algn="ctr"/>
            <a:r>
              <a:rPr sz="900" b="1" i="0">
                <a:solidFill>
                  <a:srgbClr val="FFFFFF"/>
                </a:solidFill>
              </a:rPr>
              <a:t>MAE (°C)↓</a:t>
            </a:r>
          </a:p>
        </p:txBody>
      </p:sp>
      <p:sp>
        <p:nvSpPr>
          <p:cNvPr id="22" name="Rectangle 21"/>
          <p:cNvSpPr/>
          <p:nvPr/>
        </p:nvSpPr>
        <p:spPr>
          <a:xfrm>
            <a:off x="6629400" y="4526280"/>
            <a:ext cx="14813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581144"/>
            <a:ext cx="1417320" cy="365760"/>
          </a:xfrm>
          <a:prstGeom prst="rect">
            <a:avLst/>
          </a:prstGeom>
          <a:noFill/>
        </p:spPr>
        <p:txBody>
          <a:bodyPr wrap="square">
            <a:spAutoFit/>
          </a:bodyPr>
          <a:lstStyle/>
          <a:p>
            <a:pPr algn="ctr"/>
            <a:r>
              <a:rPr sz="900" b="1" i="0">
                <a:solidFill>
                  <a:srgbClr val="FFFFFF"/>
                </a:solidFill>
              </a:rPr>
              <a:t>Status</a:t>
            </a:r>
          </a:p>
        </p:txBody>
      </p:sp>
      <p:sp>
        <p:nvSpPr>
          <p:cNvPr id="24" name="Rectangle 23"/>
          <p:cNvSpPr/>
          <p:nvPr/>
        </p:nvSpPr>
        <p:spPr>
          <a:xfrm>
            <a:off x="365760" y="4983480"/>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038344"/>
            <a:ext cx="1463040" cy="365760"/>
          </a:xfrm>
          <a:prstGeom prst="rect">
            <a:avLst/>
          </a:prstGeom>
          <a:noFill/>
        </p:spPr>
        <p:txBody>
          <a:bodyPr wrap="square">
            <a:spAutoFit/>
          </a:bodyPr>
          <a:lstStyle/>
          <a:p>
            <a:pPr algn="ctr"/>
            <a:r>
              <a:rPr sz="1000" b="0" i="0">
                <a:solidFill>
                  <a:srgbClr val="424242"/>
                </a:solidFill>
              </a:rPr>
              <a:t>Bayesian ★</a:t>
            </a:r>
          </a:p>
        </p:txBody>
      </p:sp>
      <p:sp>
        <p:nvSpPr>
          <p:cNvPr id="26" name="Rectangle 25"/>
          <p:cNvSpPr/>
          <p:nvPr/>
        </p:nvSpPr>
        <p:spPr>
          <a:xfrm>
            <a:off x="1920240" y="4983480"/>
            <a:ext cx="14356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65960" y="5038344"/>
            <a:ext cx="1371600" cy="365760"/>
          </a:xfrm>
          <a:prstGeom prst="rect">
            <a:avLst/>
          </a:prstGeom>
          <a:noFill/>
        </p:spPr>
        <p:txBody>
          <a:bodyPr wrap="square">
            <a:spAutoFit/>
          </a:bodyPr>
          <a:lstStyle/>
          <a:p>
            <a:pPr algn="ctr"/>
            <a:r>
              <a:rPr sz="1000" b="0" i="0">
                <a:solidFill>
                  <a:srgbClr val="424242"/>
                </a:solidFill>
              </a:rPr>
              <a:t>5×151 relu</a:t>
            </a:r>
          </a:p>
        </p:txBody>
      </p:sp>
      <p:sp>
        <p:nvSpPr>
          <p:cNvPr id="28" name="Rectangle 27"/>
          <p:cNvSpPr/>
          <p:nvPr/>
        </p:nvSpPr>
        <p:spPr>
          <a:xfrm>
            <a:off x="3383280" y="4983480"/>
            <a:ext cx="9784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000" y="5038344"/>
            <a:ext cx="914400" cy="365760"/>
          </a:xfrm>
          <a:prstGeom prst="rect">
            <a:avLst/>
          </a:prstGeom>
          <a:noFill/>
        </p:spPr>
        <p:txBody>
          <a:bodyPr wrap="square">
            <a:spAutoFit/>
          </a:bodyPr>
          <a:lstStyle/>
          <a:p>
            <a:pPr algn="ctr"/>
            <a:r>
              <a:rPr sz="1000" b="0" i="0">
                <a:solidFill>
                  <a:srgbClr val="424242"/>
                </a:solidFill>
              </a:rPr>
              <a:t>92 564</a:t>
            </a:r>
          </a:p>
        </p:txBody>
      </p:sp>
      <p:sp>
        <p:nvSpPr>
          <p:cNvPr id="30" name="Rectangle 29"/>
          <p:cNvSpPr/>
          <p:nvPr/>
        </p:nvSpPr>
        <p:spPr>
          <a:xfrm>
            <a:off x="4389120" y="4983480"/>
            <a:ext cx="9784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34840" y="5038344"/>
            <a:ext cx="914400" cy="365760"/>
          </a:xfrm>
          <a:prstGeom prst="rect">
            <a:avLst/>
          </a:prstGeom>
          <a:noFill/>
        </p:spPr>
        <p:txBody>
          <a:bodyPr wrap="square">
            <a:spAutoFit/>
          </a:bodyPr>
          <a:lstStyle/>
          <a:p>
            <a:pPr algn="ctr"/>
            <a:r>
              <a:rPr sz="1000" b="0" i="0">
                <a:solidFill>
                  <a:srgbClr val="424242"/>
                </a:solidFill>
              </a:rPr>
              <a:t>0.076 ✓</a:t>
            </a:r>
          </a:p>
        </p:txBody>
      </p:sp>
      <p:sp>
        <p:nvSpPr>
          <p:cNvPr id="32" name="Rectangle 31"/>
          <p:cNvSpPr/>
          <p:nvPr/>
        </p:nvSpPr>
        <p:spPr>
          <a:xfrm>
            <a:off x="5394960" y="4983480"/>
            <a:ext cx="12070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40680" y="5038344"/>
            <a:ext cx="1143000" cy="365760"/>
          </a:xfrm>
          <a:prstGeom prst="rect">
            <a:avLst/>
          </a:prstGeom>
          <a:noFill/>
        </p:spPr>
        <p:txBody>
          <a:bodyPr wrap="square">
            <a:spAutoFit/>
          </a:bodyPr>
          <a:lstStyle/>
          <a:p>
            <a:pPr algn="ctr"/>
            <a:r>
              <a:rPr sz="1000" b="0" i="0">
                <a:solidFill>
                  <a:srgbClr val="424242"/>
                </a:solidFill>
              </a:rPr>
              <a:t>39.1°C ✓</a:t>
            </a:r>
          </a:p>
        </p:txBody>
      </p:sp>
      <p:sp>
        <p:nvSpPr>
          <p:cNvPr id="34" name="Rectangle 33"/>
          <p:cNvSpPr/>
          <p:nvPr/>
        </p:nvSpPr>
        <p:spPr>
          <a:xfrm>
            <a:off x="6629400" y="4983480"/>
            <a:ext cx="148132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5038344"/>
            <a:ext cx="1417320" cy="365760"/>
          </a:xfrm>
          <a:prstGeom prst="rect">
            <a:avLst/>
          </a:prstGeom>
          <a:noFill/>
        </p:spPr>
        <p:txBody>
          <a:bodyPr wrap="square">
            <a:spAutoFit/>
          </a:bodyPr>
          <a:lstStyle/>
          <a:p>
            <a:pPr algn="ctr"/>
            <a:r>
              <a:rPr sz="1000" b="0" i="0">
                <a:solidFill>
                  <a:srgbClr val="424242"/>
                </a:solidFill>
              </a:rPr>
              <a:t>Meets target</a:t>
            </a:r>
          </a:p>
        </p:txBody>
      </p:sp>
      <p:sp>
        <p:nvSpPr>
          <p:cNvPr id="36" name="Rectangle 35"/>
          <p:cNvSpPr/>
          <p:nvPr/>
        </p:nvSpPr>
        <p:spPr>
          <a:xfrm>
            <a:off x="365760" y="5440680"/>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5495544"/>
            <a:ext cx="1463040" cy="365760"/>
          </a:xfrm>
          <a:prstGeom prst="rect">
            <a:avLst/>
          </a:prstGeom>
          <a:noFill/>
        </p:spPr>
        <p:txBody>
          <a:bodyPr wrap="square">
            <a:spAutoFit/>
          </a:bodyPr>
          <a:lstStyle/>
          <a:p>
            <a:pPr algn="ctr"/>
            <a:r>
              <a:rPr sz="1000" b="0" i="0">
                <a:solidFill>
                  <a:srgbClr val="424242"/>
                </a:solidFill>
              </a:rPr>
              <a:t>NSGA-II</a:t>
            </a:r>
          </a:p>
        </p:txBody>
      </p:sp>
      <p:sp>
        <p:nvSpPr>
          <p:cNvPr id="38" name="Rectangle 37"/>
          <p:cNvSpPr/>
          <p:nvPr/>
        </p:nvSpPr>
        <p:spPr>
          <a:xfrm>
            <a:off x="1920240" y="5440680"/>
            <a:ext cx="14356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65960" y="5495544"/>
            <a:ext cx="1371600" cy="365760"/>
          </a:xfrm>
          <a:prstGeom prst="rect">
            <a:avLst/>
          </a:prstGeom>
          <a:noFill/>
        </p:spPr>
        <p:txBody>
          <a:bodyPr wrap="square">
            <a:spAutoFit/>
          </a:bodyPr>
          <a:lstStyle/>
          <a:p>
            <a:pPr algn="ctr"/>
            <a:r>
              <a:rPr sz="1000" b="0" i="0">
                <a:solidFill>
                  <a:srgbClr val="424242"/>
                </a:solidFill>
              </a:rPr>
              <a:t>3×153 tanh</a:t>
            </a:r>
          </a:p>
        </p:txBody>
      </p:sp>
      <p:sp>
        <p:nvSpPr>
          <p:cNvPr id="40" name="Rectangle 39"/>
          <p:cNvSpPr/>
          <p:nvPr/>
        </p:nvSpPr>
        <p:spPr>
          <a:xfrm>
            <a:off x="3383280" y="5440680"/>
            <a:ext cx="9784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29000" y="5495544"/>
            <a:ext cx="914400" cy="365760"/>
          </a:xfrm>
          <a:prstGeom prst="rect">
            <a:avLst/>
          </a:prstGeom>
          <a:noFill/>
        </p:spPr>
        <p:txBody>
          <a:bodyPr wrap="square">
            <a:spAutoFit/>
          </a:bodyPr>
          <a:lstStyle/>
          <a:p>
            <a:pPr algn="ctr"/>
            <a:r>
              <a:rPr sz="1000" b="0" i="0">
                <a:solidFill>
                  <a:srgbClr val="424242"/>
                </a:solidFill>
              </a:rPr>
              <a:t>47 890</a:t>
            </a:r>
          </a:p>
        </p:txBody>
      </p:sp>
      <p:sp>
        <p:nvSpPr>
          <p:cNvPr id="42" name="Rectangle 41"/>
          <p:cNvSpPr/>
          <p:nvPr/>
        </p:nvSpPr>
        <p:spPr>
          <a:xfrm>
            <a:off x="4389120" y="5440680"/>
            <a:ext cx="9784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34840" y="5495544"/>
            <a:ext cx="914400" cy="365760"/>
          </a:xfrm>
          <a:prstGeom prst="rect">
            <a:avLst/>
          </a:prstGeom>
          <a:noFill/>
        </p:spPr>
        <p:txBody>
          <a:bodyPr wrap="square">
            <a:spAutoFit/>
          </a:bodyPr>
          <a:lstStyle/>
          <a:p>
            <a:pPr algn="ctr"/>
            <a:r>
              <a:rPr sz="1000" b="0" i="0">
                <a:solidFill>
                  <a:srgbClr val="424242"/>
                </a:solidFill>
              </a:rPr>
              <a:t>0.252</a:t>
            </a:r>
          </a:p>
        </p:txBody>
      </p:sp>
      <p:sp>
        <p:nvSpPr>
          <p:cNvPr id="44" name="Rectangle 43"/>
          <p:cNvSpPr/>
          <p:nvPr/>
        </p:nvSpPr>
        <p:spPr>
          <a:xfrm>
            <a:off x="5394960" y="5440680"/>
            <a:ext cx="12070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0680" y="5495544"/>
            <a:ext cx="1143000" cy="365760"/>
          </a:xfrm>
          <a:prstGeom prst="rect">
            <a:avLst/>
          </a:prstGeom>
          <a:noFill/>
        </p:spPr>
        <p:txBody>
          <a:bodyPr wrap="square">
            <a:spAutoFit/>
          </a:bodyPr>
          <a:lstStyle/>
          <a:p>
            <a:pPr algn="ctr"/>
            <a:r>
              <a:rPr sz="1000" b="0" i="0">
                <a:solidFill>
                  <a:srgbClr val="424242"/>
                </a:solidFill>
              </a:rPr>
              <a:t>132.6°C</a:t>
            </a:r>
          </a:p>
        </p:txBody>
      </p:sp>
      <p:sp>
        <p:nvSpPr>
          <p:cNvPr id="46" name="Rectangle 45"/>
          <p:cNvSpPr/>
          <p:nvPr/>
        </p:nvSpPr>
        <p:spPr>
          <a:xfrm>
            <a:off x="6629400" y="5440680"/>
            <a:ext cx="14813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0" y="5495544"/>
            <a:ext cx="1417320" cy="365760"/>
          </a:xfrm>
          <a:prstGeom prst="rect">
            <a:avLst/>
          </a:prstGeom>
          <a:noFill/>
        </p:spPr>
        <p:txBody>
          <a:bodyPr wrap="square">
            <a:spAutoFit/>
          </a:bodyPr>
          <a:lstStyle/>
          <a:p>
            <a:pPr algn="ctr"/>
            <a:r>
              <a:rPr sz="1000" b="0" i="0">
                <a:solidFill>
                  <a:srgbClr val="424242"/>
                </a:solidFill>
              </a:rPr>
              <a:t>Misses target</a:t>
            </a:r>
          </a:p>
        </p:txBody>
      </p:sp>
      <p:sp>
        <p:nvSpPr>
          <p:cNvPr id="48" name="Rectangle 47"/>
          <p:cNvSpPr/>
          <p:nvPr/>
        </p:nvSpPr>
        <p:spPr>
          <a:xfrm>
            <a:off x="365760" y="5897880"/>
            <a:ext cx="152704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5952744"/>
            <a:ext cx="1463040" cy="365760"/>
          </a:xfrm>
          <a:prstGeom prst="rect">
            <a:avLst/>
          </a:prstGeom>
          <a:noFill/>
        </p:spPr>
        <p:txBody>
          <a:bodyPr wrap="square">
            <a:spAutoFit/>
          </a:bodyPr>
          <a:lstStyle/>
          <a:p>
            <a:pPr algn="ctr"/>
            <a:r>
              <a:rPr sz="1000" b="0" i="0">
                <a:solidFill>
                  <a:srgbClr val="424242"/>
                </a:solidFill>
              </a:rPr>
              <a:t>NSGA-III</a:t>
            </a:r>
          </a:p>
        </p:txBody>
      </p:sp>
      <p:sp>
        <p:nvSpPr>
          <p:cNvPr id="50" name="Rectangle 49"/>
          <p:cNvSpPr/>
          <p:nvPr/>
        </p:nvSpPr>
        <p:spPr>
          <a:xfrm>
            <a:off x="1920240" y="5897880"/>
            <a:ext cx="14356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65960" y="5952744"/>
            <a:ext cx="1371600" cy="365760"/>
          </a:xfrm>
          <a:prstGeom prst="rect">
            <a:avLst/>
          </a:prstGeom>
          <a:noFill/>
        </p:spPr>
        <p:txBody>
          <a:bodyPr wrap="square">
            <a:spAutoFit/>
          </a:bodyPr>
          <a:lstStyle/>
          <a:p>
            <a:pPr algn="ctr"/>
            <a:r>
              <a:rPr sz="1000" b="0" i="0">
                <a:solidFill>
                  <a:srgbClr val="424242"/>
                </a:solidFill>
              </a:rPr>
              <a:t>3×75  tanh</a:t>
            </a:r>
          </a:p>
        </p:txBody>
      </p:sp>
      <p:sp>
        <p:nvSpPr>
          <p:cNvPr id="52" name="Rectangle 51"/>
          <p:cNvSpPr/>
          <p:nvPr/>
        </p:nvSpPr>
        <p:spPr>
          <a:xfrm>
            <a:off x="3383280" y="5897880"/>
            <a:ext cx="9784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29000" y="5952744"/>
            <a:ext cx="914400" cy="365760"/>
          </a:xfrm>
          <a:prstGeom prst="rect">
            <a:avLst/>
          </a:prstGeom>
          <a:noFill/>
        </p:spPr>
        <p:txBody>
          <a:bodyPr wrap="square">
            <a:spAutoFit/>
          </a:bodyPr>
          <a:lstStyle/>
          <a:p>
            <a:pPr algn="ctr"/>
            <a:r>
              <a:rPr sz="1000" b="0" i="0">
                <a:solidFill>
                  <a:srgbClr val="424242"/>
                </a:solidFill>
              </a:rPr>
              <a:t>11 776</a:t>
            </a:r>
          </a:p>
        </p:txBody>
      </p:sp>
      <p:sp>
        <p:nvSpPr>
          <p:cNvPr id="54" name="Rectangle 53"/>
          <p:cNvSpPr/>
          <p:nvPr/>
        </p:nvSpPr>
        <p:spPr>
          <a:xfrm>
            <a:off x="4389120" y="5897880"/>
            <a:ext cx="9784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34840" y="5952744"/>
            <a:ext cx="914400" cy="365760"/>
          </a:xfrm>
          <a:prstGeom prst="rect">
            <a:avLst/>
          </a:prstGeom>
          <a:noFill/>
        </p:spPr>
        <p:txBody>
          <a:bodyPr wrap="square">
            <a:spAutoFit/>
          </a:bodyPr>
          <a:lstStyle/>
          <a:p>
            <a:pPr algn="ctr"/>
            <a:r>
              <a:rPr sz="1000" b="0" i="0">
                <a:solidFill>
                  <a:srgbClr val="424242"/>
                </a:solidFill>
              </a:rPr>
              <a:t>0.513</a:t>
            </a:r>
          </a:p>
        </p:txBody>
      </p:sp>
      <p:sp>
        <p:nvSpPr>
          <p:cNvPr id="56" name="Rectangle 55"/>
          <p:cNvSpPr/>
          <p:nvPr/>
        </p:nvSpPr>
        <p:spPr>
          <a:xfrm>
            <a:off x="5394960" y="5897880"/>
            <a:ext cx="12070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40680" y="5952744"/>
            <a:ext cx="1143000" cy="365760"/>
          </a:xfrm>
          <a:prstGeom prst="rect">
            <a:avLst/>
          </a:prstGeom>
          <a:noFill/>
        </p:spPr>
        <p:txBody>
          <a:bodyPr wrap="square">
            <a:spAutoFit/>
          </a:bodyPr>
          <a:lstStyle/>
          <a:p>
            <a:pPr algn="ctr"/>
            <a:r>
              <a:rPr sz="1000" b="0" i="0">
                <a:solidFill>
                  <a:srgbClr val="424242"/>
                </a:solidFill>
              </a:rPr>
              <a:t>270.3°C</a:t>
            </a:r>
          </a:p>
        </p:txBody>
      </p:sp>
      <p:sp>
        <p:nvSpPr>
          <p:cNvPr id="58" name="Rectangle 57"/>
          <p:cNvSpPr/>
          <p:nvPr/>
        </p:nvSpPr>
        <p:spPr>
          <a:xfrm>
            <a:off x="6629400" y="5897880"/>
            <a:ext cx="148132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5952744"/>
            <a:ext cx="1417320" cy="365760"/>
          </a:xfrm>
          <a:prstGeom prst="rect">
            <a:avLst/>
          </a:prstGeom>
          <a:noFill/>
        </p:spPr>
        <p:txBody>
          <a:bodyPr wrap="square">
            <a:spAutoFit/>
          </a:bodyPr>
          <a:lstStyle/>
          <a:p>
            <a:pPr algn="ctr"/>
            <a:r>
              <a:rPr sz="1000" b="0" i="0">
                <a:solidFill>
                  <a:srgbClr val="424242"/>
                </a:solidFill>
              </a:rPr>
              <a:t>Misses target</a:t>
            </a:r>
          </a:p>
        </p:txBody>
      </p:sp>
      <p:sp>
        <p:nvSpPr>
          <p:cNvPr id="60" name="Rectangle 59"/>
          <p:cNvSpPr/>
          <p:nvPr/>
        </p:nvSpPr>
        <p:spPr>
          <a:xfrm>
            <a:off x="365760" y="6355080"/>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409944"/>
            <a:ext cx="1463040" cy="365760"/>
          </a:xfrm>
          <a:prstGeom prst="rect">
            <a:avLst/>
          </a:prstGeom>
          <a:noFill/>
        </p:spPr>
        <p:txBody>
          <a:bodyPr wrap="square">
            <a:spAutoFit/>
          </a:bodyPr>
          <a:lstStyle/>
          <a:p>
            <a:pPr algn="ctr"/>
            <a:r>
              <a:rPr sz="1000" b="0" i="0">
                <a:solidFill>
                  <a:srgbClr val="1B5E20"/>
                </a:solidFill>
              </a:rPr>
              <a:t>Target</a:t>
            </a:r>
          </a:p>
        </p:txBody>
      </p:sp>
      <p:sp>
        <p:nvSpPr>
          <p:cNvPr id="62" name="Rectangle 61"/>
          <p:cNvSpPr/>
          <p:nvPr/>
        </p:nvSpPr>
        <p:spPr>
          <a:xfrm>
            <a:off x="1920240" y="6355080"/>
            <a:ext cx="14356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65960" y="6409944"/>
            <a:ext cx="1371600" cy="365760"/>
          </a:xfrm>
          <a:prstGeom prst="rect">
            <a:avLst/>
          </a:prstGeom>
          <a:noFill/>
        </p:spPr>
        <p:txBody>
          <a:bodyPr wrap="square">
            <a:spAutoFit/>
          </a:bodyPr>
          <a:lstStyle/>
          <a:p>
            <a:pPr algn="ctr"/>
            <a:r>
              <a:rPr sz="1000" b="0" i="0">
                <a:solidFill>
                  <a:srgbClr val="1B5E20"/>
                </a:solidFill>
              </a:rPr>
              <a:t>—</a:t>
            </a:r>
          </a:p>
        </p:txBody>
      </p:sp>
      <p:sp>
        <p:nvSpPr>
          <p:cNvPr id="64" name="Rectangle 63"/>
          <p:cNvSpPr/>
          <p:nvPr/>
        </p:nvSpPr>
        <p:spPr>
          <a:xfrm>
            <a:off x="3383280" y="6355080"/>
            <a:ext cx="9784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29000" y="6409944"/>
            <a:ext cx="914400" cy="365760"/>
          </a:xfrm>
          <a:prstGeom prst="rect">
            <a:avLst/>
          </a:prstGeom>
          <a:noFill/>
        </p:spPr>
        <p:txBody>
          <a:bodyPr wrap="square">
            <a:spAutoFit/>
          </a:bodyPr>
          <a:lstStyle/>
          <a:p>
            <a:pPr algn="ctr"/>
            <a:r>
              <a:rPr sz="1000" b="0" i="0">
                <a:solidFill>
                  <a:srgbClr val="1B5E20"/>
                </a:solidFill>
              </a:rPr>
              <a:t>—</a:t>
            </a:r>
          </a:p>
        </p:txBody>
      </p:sp>
      <p:sp>
        <p:nvSpPr>
          <p:cNvPr id="66" name="Rectangle 65"/>
          <p:cNvSpPr/>
          <p:nvPr/>
        </p:nvSpPr>
        <p:spPr>
          <a:xfrm>
            <a:off x="4389120" y="6355080"/>
            <a:ext cx="9784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34840" y="6409944"/>
            <a:ext cx="914400" cy="365760"/>
          </a:xfrm>
          <a:prstGeom prst="rect">
            <a:avLst/>
          </a:prstGeom>
          <a:noFill/>
        </p:spPr>
        <p:txBody>
          <a:bodyPr wrap="square">
            <a:spAutoFit/>
          </a:bodyPr>
          <a:lstStyle/>
          <a:p>
            <a:pPr algn="ctr"/>
            <a:r>
              <a:rPr sz="1000" b="0" i="0">
                <a:solidFill>
                  <a:srgbClr val="1B5E20"/>
                </a:solidFill>
              </a:rPr>
              <a:t>&lt; 0.100</a:t>
            </a:r>
          </a:p>
        </p:txBody>
      </p:sp>
      <p:sp>
        <p:nvSpPr>
          <p:cNvPr id="68" name="Rectangle 67"/>
          <p:cNvSpPr/>
          <p:nvPr/>
        </p:nvSpPr>
        <p:spPr>
          <a:xfrm>
            <a:off x="5394960" y="6355080"/>
            <a:ext cx="12070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440680" y="6409944"/>
            <a:ext cx="1143000" cy="365760"/>
          </a:xfrm>
          <a:prstGeom prst="rect">
            <a:avLst/>
          </a:prstGeom>
          <a:noFill/>
        </p:spPr>
        <p:txBody>
          <a:bodyPr wrap="square">
            <a:spAutoFit/>
          </a:bodyPr>
          <a:lstStyle/>
          <a:p>
            <a:pPr algn="ctr"/>
            <a:r>
              <a:rPr sz="1000" b="0" i="0">
                <a:solidFill>
                  <a:srgbClr val="1B5E20"/>
                </a:solidFill>
              </a:rPr>
              <a:t>&lt; 50°C</a:t>
            </a:r>
          </a:p>
        </p:txBody>
      </p:sp>
      <p:sp>
        <p:nvSpPr>
          <p:cNvPr id="70" name="Rectangle 69"/>
          <p:cNvSpPr/>
          <p:nvPr/>
        </p:nvSpPr>
        <p:spPr>
          <a:xfrm>
            <a:off x="6629400" y="6355080"/>
            <a:ext cx="14813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675120" y="6409944"/>
            <a:ext cx="1417320" cy="365760"/>
          </a:xfrm>
          <a:prstGeom prst="rect">
            <a:avLst/>
          </a:prstGeom>
          <a:noFill/>
        </p:spPr>
        <p:txBody>
          <a:bodyPr wrap="square">
            <a:spAutoFit/>
          </a:bodyPr>
          <a:lstStyle/>
          <a:p>
            <a:pPr algn="ctr"/>
            <a:r>
              <a:rPr sz="1000" b="0" i="0">
                <a:solidFill>
                  <a:srgbClr val="1B5E20"/>
                </a:solidFill>
              </a:rPr>
              <a:t>L2 threshold</a:t>
            </a:r>
          </a:p>
        </p:txBody>
      </p:sp>
      <p:sp>
        <p:nvSpPr>
          <p:cNvPr id="72" name="TextBox 71"/>
          <p:cNvSpPr txBox="1"/>
          <p:nvPr/>
        </p:nvSpPr>
        <p:spPr>
          <a:xfrm>
            <a:off x="365760" y="6510528"/>
            <a:ext cx="5394960" cy="292608"/>
          </a:xfrm>
          <a:prstGeom prst="rect">
            <a:avLst/>
          </a:prstGeom>
          <a:noFill/>
        </p:spPr>
        <p:txBody>
          <a:bodyPr wrap="square">
            <a:spAutoFit/>
          </a:bodyPr>
          <a:lstStyle/>
          <a:p>
            <a:pPr algn="l"/>
            <a:r>
              <a:rPr sz="1100" b="1" i="0">
                <a:solidFill>
                  <a:srgbClr val="E65100"/>
                </a:solidFill>
              </a:rPr>
              <a:t>★ Only Bayesian meets L2 &lt; 0.10 at Level 1</a:t>
            </a:r>
          </a:p>
        </p:txBody>
      </p:sp>
      <p:pic>
        <p:nvPicPr>
          <p:cNvPr id="73" name="Picture 72" descr="pres_l1_arch_bars.png"/>
          <p:cNvPicPr>
            <a:picLocks noChangeAspect="1"/>
          </p:cNvPicPr>
          <p:nvPr/>
        </p:nvPicPr>
        <p:blipFill>
          <a:blip r:embed="rId2"/>
          <a:stretch>
            <a:fillRect/>
          </a:stretch>
        </p:blipFill>
        <p:spPr>
          <a:xfrm>
            <a:off x="6035040" y="1170432"/>
            <a:ext cx="5943600" cy="5303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1 — Cooling Curves: PINN vs FEM Reference</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L1</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5120640" cy="2286000"/>
          </a:xfrm>
          <a:prstGeom prst="rect">
            <a:avLst/>
          </a:prstGeom>
          <a:noFill/>
        </p:spPr>
        <p:txBody>
          <a:bodyPr wrap="square">
            <a:spAutoFit/>
          </a:bodyPr>
          <a:lstStyle/>
          <a:p>
            <a:pPr>
              <a:spcBef>
                <a:spcPts val="400"/>
              </a:spcBef>
              <a:defRPr sz="1200">
                <a:solidFill>
                  <a:srgbClr val="424242"/>
                </a:solidFill>
              </a:defRPr>
            </a:pPr>
            <a:r>
              <a:t>Probe point: centre of domain (x=0.65 m, y=0.30 m)</a:t>
            </a:r>
          </a:p>
          <a:p>
            <a:pPr>
              <a:spcBef>
                <a:spcPts val="400"/>
              </a:spcBef>
              <a:defRPr sz="1200">
                <a:solidFill>
                  <a:srgbClr val="424242"/>
                </a:solidFill>
              </a:defRPr>
            </a:pPr>
            <a:r>
              <a:t>Reference: analytical T(t) = 20 + 520·exp(−1.75×10⁻³·t)</a:t>
            </a:r>
          </a:p>
          <a:p>
            <a:pPr>
              <a:spcBef>
                <a:spcPts val="400"/>
              </a:spcBef>
              <a:defRPr sz="1200">
                <a:solidFill>
                  <a:srgbClr val="424242"/>
                </a:solidFill>
              </a:defRPr>
            </a:pPr>
            <a:r>
              <a:t>Bayesian: MAE = 39.1°C  (L2 = 0.076)  — closest to reference</a:t>
            </a:r>
          </a:p>
          <a:p>
            <a:pPr>
              <a:spcBef>
                <a:spcPts val="400"/>
              </a:spcBef>
              <a:defRPr sz="1200">
                <a:solidFill>
                  <a:srgbClr val="424242"/>
                </a:solidFill>
              </a:defRPr>
            </a:pPr>
            <a:r>
              <a:t>NSGA-II:  MAE = 132.6°C — significantly above target</a:t>
            </a:r>
          </a:p>
          <a:p>
            <a:pPr>
              <a:spcBef>
                <a:spcPts val="400"/>
              </a:spcBef>
              <a:defRPr sz="1200">
                <a:solidFill>
                  <a:srgbClr val="424242"/>
                </a:solidFill>
              </a:defRPr>
            </a:pPr>
            <a:r>
              <a:t>NSGA-III: MAE = 270.3°C — largest error, smallest network</a:t>
            </a:r>
          </a:p>
        </p:txBody>
      </p:sp>
      <p:sp>
        <p:nvSpPr>
          <p:cNvPr id="10" name="Rectangle 9"/>
          <p:cNvSpPr/>
          <p:nvPr/>
        </p:nvSpPr>
        <p:spPr>
          <a:xfrm>
            <a:off x="365760" y="3520440"/>
            <a:ext cx="5120640" cy="13716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584448"/>
            <a:ext cx="4846320" cy="256032"/>
          </a:xfrm>
          <a:prstGeom prst="rect">
            <a:avLst/>
          </a:prstGeom>
          <a:noFill/>
        </p:spPr>
        <p:txBody>
          <a:bodyPr wrap="square">
            <a:spAutoFit/>
          </a:bodyPr>
          <a:lstStyle/>
          <a:p>
            <a:pPr algn="l"/>
            <a:r>
              <a:rPr sz="1100" b="1" i="0">
                <a:solidFill>
                  <a:srgbClr val="1A237E"/>
                </a:solidFill>
              </a:rPr>
              <a:t>Interpretation:</a:t>
            </a:r>
          </a:p>
        </p:txBody>
      </p:sp>
      <p:sp>
        <p:nvSpPr>
          <p:cNvPr id="12" name="TextBox 11"/>
          <p:cNvSpPr txBox="1"/>
          <p:nvPr/>
        </p:nvSpPr>
        <p:spPr>
          <a:xfrm>
            <a:off x="502920" y="3858768"/>
            <a:ext cx="4846320" cy="868680"/>
          </a:xfrm>
          <a:prstGeom prst="rect">
            <a:avLst/>
          </a:prstGeom>
          <a:noFill/>
        </p:spPr>
        <p:txBody>
          <a:bodyPr wrap="square">
            <a:spAutoFit/>
          </a:bodyPr>
          <a:lstStyle/>
          <a:p>
            <a:pPr algn="l"/>
            <a:r>
              <a:rPr sz="1100" b="0" i="0">
                <a:solidFill>
                  <a:srgbClr val="424242"/>
                </a:solidFill>
              </a:rPr>
              <a:t>Larger, deeper network (Bayesian 5×151) captures the complex spatiotemporal cooling dynamics better. NSGA optimizers sacrifice accuracy for parameter efficiency.</a:t>
            </a:r>
          </a:p>
        </p:txBody>
      </p:sp>
      <p:pic>
        <p:nvPicPr>
          <p:cNvPr id="13" name="Picture 12" descr="fig1_cooling_curves.png"/>
          <p:cNvPicPr>
            <a:picLocks noChangeAspect="1"/>
          </p:cNvPicPr>
          <p:nvPr/>
        </p:nvPicPr>
        <p:blipFill>
          <a:blip r:embed="rId2"/>
          <a:stretch>
            <a:fillRect/>
          </a:stretch>
        </p:blipFill>
        <p:spPr>
          <a:xfrm>
            <a:off x="5760720" y="1078992"/>
            <a:ext cx="6217920"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Temporal Skip Operator</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PINN learns T_prev → T_next, replacing intermediate FEM solves</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292608"/>
          </a:xfrm>
          <a:prstGeom prst="rect">
            <a:avLst/>
          </a:prstGeom>
          <a:noFill/>
        </p:spPr>
        <p:txBody>
          <a:bodyPr wrap="square">
            <a:spAutoFit/>
          </a:bodyPr>
          <a:lstStyle/>
          <a:p>
            <a:pPr algn="l"/>
            <a:r>
              <a:rPr sz="1200" b="1" i="0">
                <a:solidFill>
                  <a:srgbClr val="1565C0"/>
                </a:solidFill>
              </a:rPr>
              <a:t>How the Skip Operator Works</a:t>
            </a:r>
          </a:p>
        </p:txBody>
      </p:sp>
      <p:sp>
        <p:nvSpPr>
          <p:cNvPr id="11" name="TextBox 10"/>
          <p:cNvSpPr txBox="1"/>
          <p:nvPr/>
        </p:nvSpPr>
        <p:spPr>
          <a:xfrm>
            <a:off x="365760" y="1490472"/>
            <a:ext cx="5394960" cy="4709160"/>
          </a:xfrm>
          <a:prstGeom prst="rect">
            <a:avLst/>
          </a:prstGeom>
          <a:noFill/>
        </p:spPr>
        <p:txBody>
          <a:bodyPr wrap="square">
            <a:spAutoFit/>
          </a:bodyPr>
          <a:lstStyle/>
          <a:p>
            <a:pPr>
              <a:spcBef>
                <a:spcPts val="400"/>
              </a:spcBef>
              <a:defRPr sz="1200">
                <a:solidFill>
                  <a:srgbClr val="424242"/>
                </a:solidFill>
              </a:defRPr>
            </a:pPr>
            <a:r>
              <a:t>Window PINN input:   [x, y, t_local, T_prev(x,y)]  →  T_next(x,y)</a:t>
            </a:r>
          </a:p>
          <a:p>
            <a:pPr>
              <a:spcBef>
                <a:spcPts val="400"/>
              </a:spcBef>
              <a:defRPr sz="1200">
                <a:solidFill>
                  <a:srgbClr val="424242"/>
                </a:solidFill>
              </a:defRPr>
            </a:pPr>
            <a:r>
              <a:t>FEM runs only at anchor points  t[::k]  (every k-th step)</a:t>
            </a:r>
          </a:p>
          <a:p>
            <a:pPr>
              <a:spcBef>
                <a:spcPts val="400"/>
              </a:spcBef>
              <a:defRPr sz="1200">
                <a:solidFill>
                  <a:srgbClr val="424242"/>
                </a:solidFill>
              </a:defRPr>
            </a:pPr>
            <a:r>
              <a:t>PINN predicts the skipped intermediate steps</a:t>
            </a:r>
          </a:p>
          <a:p>
            <a:pPr>
              <a:spcBef>
                <a:spcPts val="400"/>
              </a:spcBef>
              <a:defRPr sz="1200">
                <a:solidFill>
                  <a:srgbClr val="424242"/>
                </a:solidFill>
              </a:defRPr>
            </a:pPr>
            <a:r>
              <a:t>Convergence criterion:  MAE(skip=k) / MAE(skip=1)  &lt; 1.5×</a:t>
            </a:r>
          </a:p>
          <a:p>
            <a:pPr>
              <a:spcBef>
                <a:spcPts val="400"/>
              </a:spcBef>
              <a:defRPr sz="1200">
                <a:solidFill>
                  <a:srgbClr val="424242"/>
                </a:solidFill>
              </a:defRPr>
            </a:pPr>
          </a:p>
          <a:p>
            <a:pPr>
              <a:spcBef>
                <a:spcPts val="400"/>
              </a:spcBef>
              <a:defRPr sz="1200">
                <a:solidFill>
                  <a:srgbClr val="424242"/>
                </a:solidFill>
              </a:defRPr>
            </a:pPr>
            <a:r>
              <a:t>Training parameters:</a:t>
            </a:r>
          </a:p>
          <a:p>
            <a:pPr>
              <a:spcBef>
                <a:spcPts val="400"/>
              </a:spcBef>
              <a:defRPr sz="1200">
                <a:solidFill>
                  <a:srgbClr val="424242"/>
                </a:solidFill>
              </a:defRPr>
            </a:pPr>
            <a:r>
              <a:t>  • 500 Adam epochs per window  (baseline experiment)</a:t>
            </a:r>
          </a:p>
          <a:p>
            <a:pPr>
              <a:spcBef>
                <a:spcPts val="400"/>
              </a:spcBef>
              <a:defRPr sz="1200">
                <a:solidFill>
                  <a:srgbClr val="424242"/>
                </a:solidFill>
              </a:defRPr>
            </a:pPr>
            <a:r>
              <a:t>  • LR: 1×10⁻³ → 1×10⁻⁵  (cosine)</a:t>
            </a:r>
          </a:p>
          <a:p>
            <a:pPr>
              <a:spcBef>
                <a:spcPts val="400"/>
              </a:spcBef>
              <a:defRPr sz="1200">
                <a:solidFill>
                  <a:srgbClr val="424242"/>
                </a:solidFill>
              </a:defRPr>
            </a:pPr>
            <a:r>
              <a:t>  • Domain: 500 collocation pts,  BC: 100 pts</a:t>
            </a:r>
          </a:p>
          <a:p>
            <a:pPr>
              <a:spcBef>
                <a:spcPts val="400"/>
              </a:spcBef>
              <a:defRPr sz="1200">
                <a:solidFill>
                  <a:srgbClr val="424242"/>
                </a:solidFill>
              </a:defRPr>
            </a:pPr>
            <a:r>
              <a:t>  • T_end = 30 s,  N_steps = 20  (Δt = 1.5 s per step)</a:t>
            </a:r>
          </a:p>
        </p:txBody>
      </p:sp>
      <p:sp>
        <p:nvSpPr>
          <p:cNvPr id="12" name="Rectangle 11"/>
          <p:cNvSpPr/>
          <p:nvPr/>
        </p:nvSpPr>
        <p:spPr>
          <a:xfrm>
            <a:off x="6035040" y="1170432"/>
            <a:ext cx="5943600" cy="53949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261872"/>
            <a:ext cx="5577840" cy="292608"/>
          </a:xfrm>
          <a:prstGeom prst="rect">
            <a:avLst/>
          </a:prstGeom>
          <a:noFill/>
        </p:spPr>
        <p:txBody>
          <a:bodyPr wrap="square">
            <a:spAutoFit/>
          </a:bodyPr>
          <a:lstStyle/>
          <a:p>
            <a:pPr algn="l"/>
            <a:r>
              <a:rPr sz="1300" b="1" i="0">
                <a:solidFill>
                  <a:srgbClr val="1B5E20"/>
                </a:solidFill>
              </a:rPr>
              <a:t>Example: skip = 2</a:t>
            </a:r>
          </a:p>
        </p:txBody>
      </p:sp>
      <p:sp>
        <p:nvSpPr>
          <p:cNvPr id="14" name="Rectangle 13"/>
          <p:cNvSpPr/>
          <p:nvPr/>
        </p:nvSpPr>
        <p:spPr>
          <a:xfrm>
            <a:off x="6217920" y="1691640"/>
            <a:ext cx="1005840" cy="4114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6208" y="1728216"/>
            <a:ext cx="969264" cy="365760"/>
          </a:xfrm>
          <a:prstGeom prst="rect">
            <a:avLst/>
          </a:prstGeom>
          <a:noFill/>
        </p:spPr>
        <p:txBody>
          <a:bodyPr wrap="square">
            <a:spAutoFit/>
          </a:bodyPr>
          <a:lstStyle/>
          <a:p>
            <a:pPr algn="ctr"/>
            <a:r>
              <a:rPr sz="1100" b="1" i="0">
                <a:solidFill>
                  <a:srgbClr val="FFFFFF"/>
                </a:solidFill>
              </a:rPr>
              <a:t>FEM only:</a:t>
            </a:r>
          </a:p>
        </p:txBody>
      </p:sp>
      <p:sp>
        <p:nvSpPr>
          <p:cNvPr id="16" name="TextBox 15"/>
          <p:cNvSpPr txBox="1"/>
          <p:nvPr/>
        </p:nvSpPr>
        <p:spPr>
          <a:xfrm>
            <a:off x="7315200" y="1755648"/>
            <a:ext cx="4480560" cy="384048"/>
          </a:xfrm>
          <a:prstGeom prst="rect">
            <a:avLst/>
          </a:prstGeom>
          <a:noFill/>
        </p:spPr>
        <p:txBody>
          <a:bodyPr wrap="square">
            <a:spAutoFit/>
          </a:bodyPr>
          <a:lstStyle/>
          <a:p>
            <a:pPr algn="l"/>
            <a:r>
              <a:rPr sz="1100" b="0" i="0">
                <a:solidFill>
                  <a:srgbClr val="424242"/>
                </a:solidFill>
              </a:rPr>
              <a:t>t=0, 1.5, 3, 4.5 … 30   (21 pts, 20 FEM solves)</a:t>
            </a:r>
          </a:p>
        </p:txBody>
      </p:sp>
      <p:sp>
        <p:nvSpPr>
          <p:cNvPr id="17" name="Rectangle 16"/>
          <p:cNvSpPr/>
          <p:nvPr/>
        </p:nvSpPr>
        <p:spPr>
          <a:xfrm>
            <a:off x="6217920" y="2350008"/>
            <a:ext cx="1005840" cy="41148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2386584"/>
            <a:ext cx="969264" cy="365760"/>
          </a:xfrm>
          <a:prstGeom prst="rect">
            <a:avLst/>
          </a:prstGeom>
          <a:noFill/>
        </p:spPr>
        <p:txBody>
          <a:bodyPr wrap="square">
            <a:spAutoFit/>
          </a:bodyPr>
          <a:lstStyle/>
          <a:p>
            <a:pPr algn="ctr"/>
            <a:r>
              <a:rPr sz="1100" b="1" i="0">
                <a:solidFill>
                  <a:srgbClr val="FFFFFF"/>
                </a:solidFill>
              </a:rPr>
              <a:t>skip=2:</a:t>
            </a:r>
          </a:p>
        </p:txBody>
      </p:sp>
      <p:sp>
        <p:nvSpPr>
          <p:cNvPr id="19" name="TextBox 18"/>
          <p:cNvSpPr txBox="1"/>
          <p:nvPr/>
        </p:nvSpPr>
        <p:spPr>
          <a:xfrm>
            <a:off x="7315200" y="2414016"/>
            <a:ext cx="4480560" cy="384048"/>
          </a:xfrm>
          <a:prstGeom prst="rect">
            <a:avLst/>
          </a:prstGeom>
          <a:noFill/>
        </p:spPr>
        <p:txBody>
          <a:bodyPr wrap="square">
            <a:spAutoFit/>
          </a:bodyPr>
          <a:lstStyle/>
          <a:p>
            <a:pPr algn="l"/>
            <a:r>
              <a:rPr sz="1100" b="0" i="0">
                <a:solidFill>
                  <a:srgbClr val="424242"/>
                </a:solidFill>
              </a:rPr>
              <a:t>FEM at [0, 3, 6 … 30]    (11 FEM solves, 2× faster)</a:t>
            </a:r>
          </a:p>
        </p:txBody>
      </p:sp>
      <p:sp>
        <p:nvSpPr>
          <p:cNvPr id="20" name="TextBox 19"/>
          <p:cNvSpPr txBox="1"/>
          <p:nvPr/>
        </p:nvSpPr>
        <p:spPr>
          <a:xfrm>
            <a:off x="7315200" y="3072384"/>
            <a:ext cx="4480560" cy="384048"/>
          </a:xfrm>
          <a:prstGeom prst="rect">
            <a:avLst/>
          </a:prstGeom>
          <a:noFill/>
        </p:spPr>
        <p:txBody>
          <a:bodyPr wrap="square">
            <a:spAutoFit/>
          </a:bodyPr>
          <a:lstStyle/>
          <a:p>
            <a:pPr algn="l"/>
            <a:r>
              <a:rPr sz="1100" b="0" i="0">
                <a:solidFill>
                  <a:srgbClr val="424242"/>
                </a:solidFill>
              </a:rPr>
              <a:t>PINN at [1.5, 4.5 … 28.5] (10 PINN predictions)</a:t>
            </a:r>
          </a:p>
        </p:txBody>
      </p:sp>
      <p:sp>
        <p:nvSpPr>
          <p:cNvPr id="21" name="Rectangle 20"/>
          <p:cNvSpPr/>
          <p:nvPr/>
        </p:nvSpPr>
        <p:spPr>
          <a:xfrm>
            <a:off x="6217920" y="3666744"/>
            <a:ext cx="1005840" cy="4114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6208" y="3703320"/>
            <a:ext cx="969264" cy="365760"/>
          </a:xfrm>
          <a:prstGeom prst="rect">
            <a:avLst/>
          </a:prstGeom>
          <a:noFill/>
        </p:spPr>
        <p:txBody>
          <a:bodyPr wrap="square">
            <a:spAutoFit/>
          </a:bodyPr>
          <a:lstStyle/>
          <a:p>
            <a:pPr algn="ctr"/>
            <a:r>
              <a:rPr sz="1100" b="1" i="0">
                <a:solidFill>
                  <a:srgbClr val="FFFFFF"/>
                </a:solidFill>
              </a:rPr>
              <a:t>skip=4:</a:t>
            </a:r>
          </a:p>
        </p:txBody>
      </p:sp>
      <p:sp>
        <p:nvSpPr>
          <p:cNvPr id="23" name="TextBox 22"/>
          <p:cNvSpPr txBox="1"/>
          <p:nvPr/>
        </p:nvSpPr>
        <p:spPr>
          <a:xfrm>
            <a:off x="7315200" y="3730752"/>
            <a:ext cx="4480560" cy="384048"/>
          </a:xfrm>
          <a:prstGeom prst="rect">
            <a:avLst/>
          </a:prstGeom>
          <a:noFill/>
        </p:spPr>
        <p:txBody>
          <a:bodyPr wrap="square">
            <a:spAutoFit/>
          </a:bodyPr>
          <a:lstStyle/>
          <a:p>
            <a:pPr algn="l"/>
            <a:r>
              <a:rPr sz="1100" b="0" i="0">
                <a:solidFill>
                  <a:srgbClr val="424242"/>
                </a:solidFill>
              </a:rPr>
              <a:t>FEM at [0, 6, 12 … 30]   (6 FEM solves, 4× faster)</a:t>
            </a:r>
          </a:p>
        </p:txBody>
      </p:sp>
      <p:sp>
        <p:nvSpPr>
          <p:cNvPr id="24" name="TextBox 23"/>
          <p:cNvSpPr txBox="1"/>
          <p:nvPr/>
        </p:nvSpPr>
        <p:spPr>
          <a:xfrm>
            <a:off x="7315200" y="4389120"/>
            <a:ext cx="4480560" cy="384048"/>
          </a:xfrm>
          <a:prstGeom prst="rect">
            <a:avLst/>
          </a:prstGeom>
          <a:noFill/>
        </p:spPr>
        <p:txBody>
          <a:bodyPr wrap="square">
            <a:spAutoFit/>
          </a:bodyPr>
          <a:lstStyle/>
          <a:p>
            <a:pPr algn="l"/>
            <a:r>
              <a:rPr sz="1100" b="0" i="0">
                <a:solidFill>
                  <a:srgbClr val="424242"/>
                </a:solidFill>
              </a:rPr>
              <a:t>PINN fills 15 intermediate steps</a:t>
            </a:r>
          </a:p>
        </p:txBody>
      </p:sp>
      <p:sp>
        <p:nvSpPr>
          <p:cNvPr id="25" name="TextBox 24"/>
          <p:cNvSpPr txBox="1"/>
          <p:nvPr/>
        </p:nvSpPr>
        <p:spPr>
          <a:xfrm>
            <a:off x="6126480" y="4937760"/>
            <a:ext cx="5669280" cy="822960"/>
          </a:xfrm>
          <a:prstGeom prst="rect">
            <a:avLst/>
          </a:prstGeom>
          <a:noFill/>
        </p:spPr>
        <p:txBody>
          <a:bodyPr wrap="square">
            <a:spAutoFit/>
          </a:bodyPr>
          <a:lstStyle/>
          <a:p>
            <a:pPr algn="l"/>
            <a:r>
              <a:rPr sz="1100" b="1" i="0">
                <a:solidFill>
                  <a:srgbClr val="1A237E"/>
                </a:solidFill>
              </a:rPr>
              <a:t>Key benefit: Bayesian skip=2 → MAE actually IMPROVES
(33.2°C vs 43.6°C baseline) — FEM accumulates numerical error!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Skip Results: 500 Adam Epochs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Convergence threshold: MAE(skip=k) / MAE(skip=1) &lt; 1.5×</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Rectangle 9"/>
          <p:cNvSpPr/>
          <p:nvPr/>
        </p:nvSpPr>
        <p:spPr>
          <a:xfrm>
            <a:off x="320040" y="1170432"/>
            <a:ext cx="79552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 y="1234440"/>
            <a:ext cx="749808" cy="384048"/>
          </a:xfrm>
          <a:prstGeom prst="rect">
            <a:avLst/>
          </a:prstGeom>
          <a:noFill/>
        </p:spPr>
        <p:txBody>
          <a:bodyPr wrap="square">
            <a:spAutoFit/>
          </a:bodyPr>
          <a:lstStyle/>
          <a:p>
            <a:pPr algn="ctr"/>
            <a:r>
              <a:rPr sz="800" b="1" i="0">
                <a:solidFill>
                  <a:srgbClr val="FFFFFF"/>
                </a:solidFill>
              </a:rPr>
              <a:t>Skip</a:t>
            </a:r>
          </a:p>
        </p:txBody>
      </p:sp>
      <p:sp>
        <p:nvSpPr>
          <p:cNvPr id="12" name="Rectangle 11"/>
          <p:cNvSpPr/>
          <p:nvPr/>
        </p:nvSpPr>
        <p:spPr>
          <a:xfrm>
            <a:off x="1143000" y="1170432"/>
            <a:ext cx="9784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1234440"/>
            <a:ext cx="932688" cy="384048"/>
          </a:xfrm>
          <a:prstGeom prst="rect">
            <a:avLst/>
          </a:prstGeom>
          <a:noFill/>
        </p:spPr>
        <p:txBody>
          <a:bodyPr wrap="square">
            <a:spAutoFit/>
          </a:bodyPr>
          <a:lstStyle/>
          <a:p>
            <a:pPr algn="ctr"/>
            <a:r>
              <a:rPr sz="800" b="1" i="0">
                <a:solidFill>
                  <a:srgbClr val="FFFFFF"/>
                </a:solidFill>
              </a:rPr>
              <a:t>FEM Steps</a:t>
            </a:r>
          </a:p>
        </p:txBody>
      </p:sp>
      <p:sp>
        <p:nvSpPr>
          <p:cNvPr id="14" name="Rectangle 13"/>
          <p:cNvSpPr/>
          <p:nvPr/>
        </p:nvSpPr>
        <p:spPr>
          <a:xfrm>
            <a:off x="2148840" y="1170432"/>
            <a:ext cx="129844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5416" y="1234440"/>
            <a:ext cx="1252728" cy="384048"/>
          </a:xfrm>
          <a:prstGeom prst="rect">
            <a:avLst/>
          </a:prstGeom>
          <a:noFill/>
        </p:spPr>
        <p:txBody>
          <a:bodyPr wrap="square">
            <a:spAutoFit/>
          </a:bodyPr>
          <a:lstStyle/>
          <a:p>
            <a:pPr algn="ctr"/>
            <a:r>
              <a:rPr sz="800" b="1" i="0">
                <a:solidFill>
                  <a:srgbClr val="FFFFFF"/>
                </a:solidFill>
              </a:rPr>
              <a:t>Bayesian</a:t>
            </a:r>
          </a:p>
        </p:txBody>
      </p:sp>
      <p:sp>
        <p:nvSpPr>
          <p:cNvPr id="16" name="Rectangle 15"/>
          <p:cNvSpPr/>
          <p:nvPr/>
        </p:nvSpPr>
        <p:spPr>
          <a:xfrm>
            <a:off x="347472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11296" y="1234440"/>
            <a:ext cx="704088" cy="384048"/>
          </a:xfrm>
          <a:prstGeom prst="rect">
            <a:avLst/>
          </a:prstGeom>
          <a:noFill/>
        </p:spPr>
        <p:txBody>
          <a:bodyPr wrap="square">
            <a:spAutoFit/>
          </a:bodyPr>
          <a:lstStyle/>
          <a:p>
            <a:pPr algn="ctr"/>
            <a:r>
              <a:rPr sz="800" b="1" i="0">
                <a:solidFill>
                  <a:srgbClr val="FFFFFF"/>
                </a:solidFill>
              </a:rPr>
              <a:t>Ratio</a:t>
            </a:r>
          </a:p>
        </p:txBody>
      </p:sp>
      <p:sp>
        <p:nvSpPr>
          <p:cNvPr id="18" name="Rectangle 17"/>
          <p:cNvSpPr/>
          <p:nvPr/>
        </p:nvSpPr>
        <p:spPr>
          <a:xfrm>
            <a:off x="4251960" y="1170432"/>
            <a:ext cx="129844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88536" y="1234440"/>
            <a:ext cx="1252728" cy="384048"/>
          </a:xfrm>
          <a:prstGeom prst="rect">
            <a:avLst/>
          </a:prstGeom>
          <a:noFill/>
        </p:spPr>
        <p:txBody>
          <a:bodyPr wrap="square">
            <a:spAutoFit/>
          </a:bodyPr>
          <a:lstStyle/>
          <a:p>
            <a:pPr algn="ctr"/>
            <a:r>
              <a:rPr sz="800" b="1" i="0">
                <a:solidFill>
                  <a:srgbClr val="FFFFFF"/>
                </a:solidFill>
              </a:rPr>
              <a:t>NSGA-II</a:t>
            </a:r>
          </a:p>
        </p:txBody>
      </p:sp>
      <p:sp>
        <p:nvSpPr>
          <p:cNvPr id="20" name="Rectangle 19"/>
          <p:cNvSpPr/>
          <p:nvPr/>
        </p:nvSpPr>
        <p:spPr>
          <a:xfrm>
            <a:off x="557784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1234440"/>
            <a:ext cx="704088" cy="384048"/>
          </a:xfrm>
          <a:prstGeom prst="rect">
            <a:avLst/>
          </a:prstGeom>
          <a:noFill/>
        </p:spPr>
        <p:txBody>
          <a:bodyPr wrap="square">
            <a:spAutoFit/>
          </a:bodyPr>
          <a:lstStyle/>
          <a:p>
            <a:pPr algn="ctr"/>
            <a:r>
              <a:rPr sz="800" b="1" i="0">
                <a:solidFill>
                  <a:srgbClr val="FFFFFF"/>
                </a:solidFill>
              </a:rPr>
              <a:t>Ratio</a:t>
            </a:r>
          </a:p>
        </p:txBody>
      </p:sp>
      <p:sp>
        <p:nvSpPr>
          <p:cNvPr id="22" name="Rectangle 21"/>
          <p:cNvSpPr/>
          <p:nvPr/>
        </p:nvSpPr>
        <p:spPr>
          <a:xfrm>
            <a:off x="6355080" y="1170432"/>
            <a:ext cx="138988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6" y="1234440"/>
            <a:ext cx="1344168" cy="384048"/>
          </a:xfrm>
          <a:prstGeom prst="rect">
            <a:avLst/>
          </a:prstGeom>
          <a:noFill/>
        </p:spPr>
        <p:txBody>
          <a:bodyPr wrap="square">
            <a:spAutoFit/>
          </a:bodyPr>
          <a:lstStyle/>
          <a:p>
            <a:pPr algn="ctr"/>
            <a:r>
              <a:rPr sz="800" b="1" i="0">
                <a:solidFill>
                  <a:srgbClr val="FFFFFF"/>
                </a:solidFill>
              </a:rPr>
              <a:t>NSGA-III</a:t>
            </a:r>
          </a:p>
        </p:txBody>
      </p:sp>
      <p:sp>
        <p:nvSpPr>
          <p:cNvPr id="24" name="Rectangle 23"/>
          <p:cNvSpPr/>
          <p:nvPr/>
        </p:nvSpPr>
        <p:spPr>
          <a:xfrm>
            <a:off x="777240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08976" y="1234440"/>
            <a:ext cx="704088" cy="384048"/>
          </a:xfrm>
          <a:prstGeom prst="rect">
            <a:avLst/>
          </a:prstGeom>
          <a:noFill/>
        </p:spPr>
        <p:txBody>
          <a:bodyPr wrap="square">
            <a:spAutoFit/>
          </a:bodyPr>
          <a:lstStyle/>
          <a:p>
            <a:pPr algn="ctr"/>
            <a:r>
              <a:rPr sz="800" b="1" i="0">
                <a:solidFill>
                  <a:srgbClr val="FFFFFF"/>
                </a:solidFill>
              </a:rPr>
              <a:t>Ratio</a:t>
            </a:r>
          </a:p>
        </p:txBody>
      </p:sp>
      <p:sp>
        <p:nvSpPr>
          <p:cNvPr id="26" name="Rectangle 25"/>
          <p:cNvSpPr/>
          <p:nvPr/>
        </p:nvSpPr>
        <p:spPr>
          <a:xfrm>
            <a:off x="320040" y="1645920"/>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6616" y="1709928"/>
            <a:ext cx="749808" cy="384048"/>
          </a:xfrm>
          <a:prstGeom prst="rect">
            <a:avLst/>
          </a:prstGeom>
          <a:noFill/>
        </p:spPr>
        <p:txBody>
          <a:bodyPr wrap="square">
            <a:spAutoFit/>
          </a:bodyPr>
          <a:lstStyle/>
          <a:p>
            <a:pPr algn="ctr"/>
            <a:r>
              <a:rPr sz="900" b="0" i="0">
                <a:solidFill>
                  <a:srgbClr val="424242"/>
                </a:solidFill>
              </a:rPr>
              <a:t>skip=1</a:t>
            </a:r>
          </a:p>
        </p:txBody>
      </p:sp>
      <p:sp>
        <p:nvSpPr>
          <p:cNvPr id="28" name="Rectangle 27"/>
          <p:cNvSpPr/>
          <p:nvPr/>
        </p:nvSpPr>
        <p:spPr>
          <a:xfrm>
            <a:off x="1143000" y="1645920"/>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79576" y="1709928"/>
            <a:ext cx="932688" cy="384048"/>
          </a:xfrm>
          <a:prstGeom prst="rect">
            <a:avLst/>
          </a:prstGeom>
          <a:noFill/>
        </p:spPr>
        <p:txBody>
          <a:bodyPr wrap="square">
            <a:spAutoFit/>
          </a:bodyPr>
          <a:lstStyle/>
          <a:p>
            <a:pPr algn="ctr"/>
            <a:r>
              <a:rPr sz="900" b="0" i="0">
                <a:solidFill>
                  <a:srgbClr val="424242"/>
                </a:solidFill>
              </a:rPr>
              <a:t>21/21</a:t>
            </a:r>
          </a:p>
        </p:txBody>
      </p:sp>
      <p:sp>
        <p:nvSpPr>
          <p:cNvPr id="30" name="Rectangle 29"/>
          <p:cNvSpPr/>
          <p:nvPr/>
        </p:nvSpPr>
        <p:spPr>
          <a:xfrm>
            <a:off x="2148840" y="1645920"/>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85416" y="1709928"/>
            <a:ext cx="1252728" cy="384048"/>
          </a:xfrm>
          <a:prstGeom prst="rect">
            <a:avLst/>
          </a:prstGeom>
          <a:noFill/>
        </p:spPr>
        <p:txBody>
          <a:bodyPr wrap="square">
            <a:spAutoFit/>
          </a:bodyPr>
          <a:lstStyle/>
          <a:p>
            <a:pPr algn="ctr"/>
            <a:r>
              <a:rPr sz="900" b="0" i="0">
                <a:solidFill>
                  <a:srgbClr val="1B5E20"/>
                </a:solidFill>
              </a:rPr>
              <a:t>43.6°C ✓</a:t>
            </a:r>
          </a:p>
        </p:txBody>
      </p:sp>
      <p:sp>
        <p:nvSpPr>
          <p:cNvPr id="32" name="Rectangle 31"/>
          <p:cNvSpPr/>
          <p:nvPr/>
        </p:nvSpPr>
        <p:spPr>
          <a:xfrm>
            <a:off x="347472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11296" y="1709928"/>
            <a:ext cx="704088" cy="384048"/>
          </a:xfrm>
          <a:prstGeom prst="rect">
            <a:avLst/>
          </a:prstGeom>
          <a:noFill/>
        </p:spPr>
        <p:txBody>
          <a:bodyPr wrap="square">
            <a:spAutoFit/>
          </a:bodyPr>
          <a:lstStyle/>
          <a:p>
            <a:pPr algn="ctr"/>
            <a:r>
              <a:rPr sz="900" b="0" i="0">
                <a:solidFill>
                  <a:srgbClr val="424242"/>
                </a:solidFill>
              </a:rPr>
              <a:t>1.00×</a:t>
            </a:r>
          </a:p>
        </p:txBody>
      </p:sp>
      <p:sp>
        <p:nvSpPr>
          <p:cNvPr id="34" name="Rectangle 33"/>
          <p:cNvSpPr/>
          <p:nvPr/>
        </p:nvSpPr>
        <p:spPr>
          <a:xfrm>
            <a:off x="4251960" y="1645920"/>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88536" y="1709928"/>
            <a:ext cx="1252728" cy="384048"/>
          </a:xfrm>
          <a:prstGeom prst="rect">
            <a:avLst/>
          </a:prstGeom>
          <a:noFill/>
        </p:spPr>
        <p:txBody>
          <a:bodyPr wrap="square">
            <a:spAutoFit/>
          </a:bodyPr>
          <a:lstStyle/>
          <a:p>
            <a:pPr algn="ctr"/>
            <a:r>
              <a:rPr sz="900" b="0" i="0">
                <a:solidFill>
                  <a:srgbClr val="1B5E20"/>
                </a:solidFill>
              </a:rPr>
              <a:t>38.1°C ✓</a:t>
            </a:r>
          </a:p>
        </p:txBody>
      </p:sp>
      <p:sp>
        <p:nvSpPr>
          <p:cNvPr id="36" name="Rectangle 35"/>
          <p:cNvSpPr/>
          <p:nvPr/>
        </p:nvSpPr>
        <p:spPr>
          <a:xfrm>
            <a:off x="557784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1709928"/>
            <a:ext cx="704088" cy="384048"/>
          </a:xfrm>
          <a:prstGeom prst="rect">
            <a:avLst/>
          </a:prstGeom>
          <a:noFill/>
        </p:spPr>
        <p:txBody>
          <a:bodyPr wrap="square">
            <a:spAutoFit/>
          </a:bodyPr>
          <a:lstStyle/>
          <a:p>
            <a:pPr algn="ctr"/>
            <a:r>
              <a:rPr sz="900" b="0" i="0">
                <a:solidFill>
                  <a:srgbClr val="424242"/>
                </a:solidFill>
              </a:rPr>
              <a:t>1.00×</a:t>
            </a:r>
          </a:p>
        </p:txBody>
      </p:sp>
      <p:sp>
        <p:nvSpPr>
          <p:cNvPr id="38" name="Rectangle 37"/>
          <p:cNvSpPr/>
          <p:nvPr/>
        </p:nvSpPr>
        <p:spPr>
          <a:xfrm>
            <a:off x="6355080" y="1645920"/>
            <a:ext cx="138988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91656" y="1709928"/>
            <a:ext cx="1344168" cy="384048"/>
          </a:xfrm>
          <a:prstGeom prst="rect">
            <a:avLst/>
          </a:prstGeom>
          <a:noFill/>
        </p:spPr>
        <p:txBody>
          <a:bodyPr wrap="square">
            <a:spAutoFit/>
          </a:bodyPr>
          <a:lstStyle/>
          <a:p>
            <a:pPr algn="ctr"/>
            <a:r>
              <a:rPr sz="900" b="0" i="0">
                <a:solidFill>
                  <a:srgbClr val="1B5E20"/>
                </a:solidFill>
              </a:rPr>
              <a:t>44.4°C ✓</a:t>
            </a:r>
          </a:p>
        </p:txBody>
      </p:sp>
      <p:sp>
        <p:nvSpPr>
          <p:cNvPr id="40" name="Rectangle 39"/>
          <p:cNvSpPr/>
          <p:nvPr/>
        </p:nvSpPr>
        <p:spPr>
          <a:xfrm>
            <a:off x="777240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08976" y="1709928"/>
            <a:ext cx="704088" cy="384048"/>
          </a:xfrm>
          <a:prstGeom prst="rect">
            <a:avLst/>
          </a:prstGeom>
          <a:noFill/>
        </p:spPr>
        <p:txBody>
          <a:bodyPr wrap="square">
            <a:spAutoFit/>
          </a:bodyPr>
          <a:lstStyle/>
          <a:p>
            <a:pPr algn="ctr"/>
            <a:r>
              <a:rPr sz="900" b="0" i="0">
                <a:solidFill>
                  <a:srgbClr val="424242"/>
                </a:solidFill>
              </a:rPr>
              <a:t>1.00×</a:t>
            </a:r>
          </a:p>
        </p:txBody>
      </p:sp>
      <p:sp>
        <p:nvSpPr>
          <p:cNvPr id="42" name="Rectangle 41"/>
          <p:cNvSpPr/>
          <p:nvPr/>
        </p:nvSpPr>
        <p:spPr>
          <a:xfrm>
            <a:off x="320040" y="2121408"/>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6616" y="2185416"/>
            <a:ext cx="749808" cy="384048"/>
          </a:xfrm>
          <a:prstGeom prst="rect">
            <a:avLst/>
          </a:prstGeom>
          <a:noFill/>
        </p:spPr>
        <p:txBody>
          <a:bodyPr wrap="square">
            <a:spAutoFit/>
          </a:bodyPr>
          <a:lstStyle/>
          <a:p>
            <a:pPr algn="ctr"/>
            <a:r>
              <a:rPr sz="900" b="0" i="0">
                <a:solidFill>
                  <a:srgbClr val="424242"/>
                </a:solidFill>
              </a:rPr>
              <a:t>skip=2</a:t>
            </a:r>
          </a:p>
        </p:txBody>
      </p:sp>
      <p:sp>
        <p:nvSpPr>
          <p:cNvPr id="44" name="Rectangle 43"/>
          <p:cNvSpPr/>
          <p:nvPr/>
        </p:nvSpPr>
        <p:spPr>
          <a:xfrm>
            <a:off x="1143000" y="2121408"/>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9576" y="2185416"/>
            <a:ext cx="932688" cy="384048"/>
          </a:xfrm>
          <a:prstGeom prst="rect">
            <a:avLst/>
          </a:prstGeom>
          <a:noFill/>
        </p:spPr>
        <p:txBody>
          <a:bodyPr wrap="square">
            <a:spAutoFit/>
          </a:bodyPr>
          <a:lstStyle/>
          <a:p>
            <a:pPr algn="ctr"/>
            <a:r>
              <a:rPr sz="900" b="0" i="0">
                <a:solidFill>
                  <a:srgbClr val="424242"/>
                </a:solidFill>
              </a:rPr>
              <a:t>11/21</a:t>
            </a:r>
          </a:p>
        </p:txBody>
      </p:sp>
      <p:sp>
        <p:nvSpPr>
          <p:cNvPr id="46" name="Rectangle 45"/>
          <p:cNvSpPr/>
          <p:nvPr/>
        </p:nvSpPr>
        <p:spPr>
          <a:xfrm>
            <a:off x="2148840" y="2121408"/>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85416" y="2185416"/>
            <a:ext cx="1252728" cy="384048"/>
          </a:xfrm>
          <a:prstGeom prst="rect">
            <a:avLst/>
          </a:prstGeom>
          <a:noFill/>
        </p:spPr>
        <p:txBody>
          <a:bodyPr wrap="square">
            <a:spAutoFit/>
          </a:bodyPr>
          <a:lstStyle/>
          <a:p>
            <a:pPr algn="ctr"/>
            <a:r>
              <a:rPr sz="900" b="0" i="0">
                <a:solidFill>
                  <a:srgbClr val="1B5E20"/>
                </a:solidFill>
              </a:rPr>
              <a:t>33.2°C ✓</a:t>
            </a:r>
          </a:p>
        </p:txBody>
      </p:sp>
      <p:sp>
        <p:nvSpPr>
          <p:cNvPr id="48" name="Rectangle 47"/>
          <p:cNvSpPr/>
          <p:nvPr/>
        </p:nvSpPr>
        <p:spPr>
          <a:xfrm>
            <a:off x="347472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11296" y="2185416"/>
            <a:ext cx="704088" cy="384048"/>
          </a:xfrm>
          <a:prstGeom prst="rect">
            <a:avLst/>
          </a:prstGeom>
          <a:noFill/>
        </p:spPr>
        <p:txBody>
          <a:bodyPr wrap="square">
            <a:spAutoFit/>
          </a:bodyPr>
          <a:lstStyle/>
          <a:p>
            <a:pPr algn="ctr"/>
            <a:r>
              <a:rPr sz="900" b="0" i="0">
                <a:solidFill>
                  <a:srgbClr val="424242"/>
                </a:solidFill>
              </a:rPr>
              <a:t>0.76×</a:t>
            </a:r>
          </a:p>
        </p:txBody>
      </p:sp>
      <p:sp>
        <p:nvSpPr>
          <p:cNvPr id="50" name="Rectangle 49"/>
          <p:cNvSpPr/>
          <p:nvPr/>
        </p:nvSpPr>
        <p:spPr>
          <a:xfrm>
            <a:off x="4251960" y="2121408"/>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88536" y="2185416"/>
            <a:ext cx="1252728" cy="384048"/>
          </a:xfrm>
          <a:prstGeom prst="rect">
            <a:avLst/>
          </a:prstGeom>
          <a:noFill/>
        </p:spPr>
        <p:txBody>
          <a:bodyPr wrap="square">
            <a:spAutoFit/>
          </a:bodyPr>
          <a:lstStyle/>
          <a:p>
            <a:pPr algn="ctr"/>
            <a:r>
              <a:rPr sz="900" b="0" i="0">
                <a:solidFill>
                  <a:srgbClr val="1B5E20"/>
                </a:solidFill>
              </a:rPr>
              <a:t>56.0°C ✓</a:t>
            </a:r>
          </a:p>
        </p:txBody>
      </p:sp>
      <p:sp>
        <p:nvSpPr>
          <p:cNvPr id="52" name="Rectangle 51"/>
          <p:cNvSpPr/>
          <p:nvPr/>
        </p:nvSpPr>
        <p:spPr>
          <a:xfrm>
            <a:off x="557784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14416" y="2185416"/>
            <a:ext cx="704088" cy="384048"/>
          </a:xfrm>
          <a:prstGeom prst="rect">
            <a:avLst/>
          </a:prstGeom>
          <a:noFill/>
        </p:spPr>
        <p:txBody>
          <a:bodyPr wrap="square">
            <a:spAutoFit/>
          </a:bodyPr>
          <a:lstStyle/>
          <a:p>
            <a:pPr algn="ctr"/>
            <a:r>
              <a:rPr sz="900" b="0" i="0">
                <a:solidFill>
                  <a:srgbClr val="424242"/>
                </a:solidFill>
              </a:rPr>
              <a:t>1.47×</a:t>
            </a:r>
          </a:p>
        </p:txBody>
      </p:sp>
      <p:sp>
        <p:nvSpPr>
          <p:cNvPr id="54" name="Rectangle 53"/>
          <p:cNvSpPr/>
          <p:nvPr/>
        </p:nvSpPr>
        <p:spPr>
          <a:xfrm>
            <a:off x="6355080" y="2121408"/>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91656" y="2185416"/>
            <a:ext cx="1344168" cy="384048"/>
          </a:xfrm>
          <a:prstGeom prst="rect">
            <a:avLst/>
          </a:prstGeom>
          <a:noFill/>
        </p:spPr>
        <p:txBody>
          <a:bodyPr wrap="square">
            <a:spAutoFit/>
          </a:bodyPr>
          <a:lstStyle/>
          <a:p>
            <a:pPr algn="ctr"/>
            <a:r>
              <a:rPr sz="900" b="0" i="0">
                <a:solidFill>
                  <a:srgbClr val="C62828"/>
                </a:solidFill>
              </a:rPr>
              <a:t>75.6°C ✗</a:t>
            </a:r>
          </a:p>
        </p:txBody>
      </p:sp>
      <p:sp>
        <p:nvSpPr>
          <p:cNvPr id="56" name="Rectangle 55"/>
          <p:cNvSpPr/>
          <p:nvPr/>
        </p:nvSpPr>
        <p:spPr>
          <a:xfrm>
            <a:off x="777240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08976" y="2185416"/>
            <a:ext cx="704088" cy="384048"/>
          </a:xfrm>
          <a:prstGeom prst="rect">
            <a:avLst/>
          </a:prstGeom>
          <a:noFill/>
        </p:spPr>
        <p:txBody>
          <a:bodyPr wrap="square">
            <a:spAutoFit/>
          </a:bodyPr>
          <a:lstStyle/>
          <a:p>
            <a:pPr algn="ctr"/>
            <a:r>
              <a:rPr sz="900" b="0" i="0">
                <a:solidFill>
                  <a:srgbClr val="424242"/>
                </a:solidFill>
              </a:rPr>
              <a:t>1.70×</a:t>
            </a:r>
          </a:p>
        </p:txBody>
      </p:sp>
      <p:sp>
        <p:nvSpPr>
          <p:cNvPr id="58" name="Rectangle 57"/>
          <p:cNvSpPr/>
          <p:nvPr/>
        </p:nvSpPr>
        <p:spPr>
          <a:xfrm>
            <a:off x="320040" y="2596896"/>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56616" y="2660904"/>
            <a:ext cx="749808" cy="384048"/>
          </a:xfrm>
          <a:prstGeom prst="rect">
            <a:avLst/>
          </a:prstGeom>
          <a:noFill/>
        </p:spPr>
        <p:txBody>
          <a:bodyPr wrap="square">
            <a:spAutoFit/>
          </a:bodyPr>
          <a:lstStyle/>
          <a:p>
            <a:pPr algn="ctr"/>
            <a:r>
              <a:rPr sz="900" b="0" i="0">
                <a:solidFill>
                  <a:srgbClr val="424242"/>
                </a:solidFill>
              </a:rPr>
              <a:t>skip=4</a:t>
            </a:r>
          </a:p>
        </p:txBody>
      </p:sp>
      <p:sp>
        <p:nvSpPr>
          <p:cNvPr id="60" name="Rectangle 59"/>
          <p:cNvSpPr/>
          <p:nvPr/>
        </p:nvSpPr>
        <p:spPr>
          <a:xfrm>
            <a:off x="1143000" y="2596896"/>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79576" y="2660904"/>
            <a:ext cx="932688" cy="384048"/>
          </a:xfrm>
          <a:prstGeom prst="rect">
            <a:avLst/>
          </a:prstGeom>
          <a:noFill/>
        </p:spPr>
        <p:txBody>
          <a:bodyPr wrap="square">
            <a:spAutoFit/>
          </a:bodyPr>
          <a:lstStyle/>
          <a:p>
            <a:pPr algn="ctr"/>
            <a:r>
              <a:rPr sz="900" b="0" i="0">
                <a:solidFill>
                  <a:srgbClr val="424242"/>
                </a:solidFill>
              </a:rPr>
              <a:t> 6/21</a:t>
            </a:r>
          </a:p>
        </p:txBody>
      </p:sp>
      <p:sp>
        <p:nvSpPr>
          <p:cNvPr id="62" name="Rectangle 61"/>
          <p:cNvSpPr/>
          <p:nvPr/>
        </p:nvSpPr>
        <p:spPr>
          <a:xfrm>
            <a:off x="2148840" y="2596896"/>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185416" y="2660904"/>
            <a:ext cx="1252728" cy="384048"/>
          </a:xfrm>
          <a:prstGeom prst="rect">
            <a:avLst/>
          </a:prstGeom>
          <a:noFill/>
        </p:spPr>
        <p:txBody>
          <a:bodyPr wrap="square">
            <a:spAutoFit/>
          </a:bodyPr>
          <a:lstStyle/>
          <a:p>
            <a:pPr algn="ctr"/>
            <a:r>
              <a:rPr sz="900" b="0" i="0">
                <a:solidFill>
                  <a:srgbClr val="1B5E20"/>
                </a:solidFill>
              </a:rPr>
              <a:t>57.5°C ✓</a:t>
            </a:r>
          </a:p>
        </p:txBody>
      </p:sp>
      <p:sp>
        <p:nvSpPr>
          <p:cNvPr id="64" name="Rectangle 63"/>
          <p:cNvSpPr/>
          <p:nvPr/>
        </p:nvSpPr>
        <p:spPr>
          <a:xfrm>
            <a:off x="347472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511296" y="2660904"/>
            <a:ext cx="704088" cy="384048"/>
          </a:xfrm>
          <a:prstGeom prst="rect">
            <a:avLst/>
          </a:prstGeom>
          <a:noFill/>
        </p:spPr>
        <p:txBody>
          <a:bodyPr wrap="square">
            <a:spAutoFit/>
          </a:bodyPr>
          <a:lstStyle/>
          <a:p>
            <a:pPr algn="ctr"/>
            <a:r>
              <a:rPr sz="900" b="0" i="0">
                <a:solidFill>
                  <a:srgbClr val="424242"/>
                </a:solidFill>
              </a:rPr>
              <a:t>1.32×</a:t>
            </a:r>
          </a:p>
        </p:txBody>
      </p:sp>
      <p:sp>
        <p:nvSpPr>
          <p:cNvPr id="66" name="Rectangle 65"/>
          <p:cNvSpPr/>
          <p:nvPr/>
        </p:nvSpPr>
        <p:spPr>
          <a:xfrm>
            <a:off x="4251960" y="2596896"/>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88536" y="2660904"/>
            <a:ext cx="1252728" cy="384048"/>
          </a:xfrm>
          <a:prstGeom prst="rect">
            <a:avLst/>
          </a:prstGeom>
          <a:noFill/>
        </p:spPr>
        <p:txBody>
          <a:bodyPr wrap="square">
            <a:spAutoFit/>
          </a:bodyPr>
          <a:lstStyle/>
          <a:p>
            <a:pPr algn="ctr"/>
            <a:r>
              <a:rPr sz="900" b="0" i="0">
                <a:solidFill>
                  <a:srgbClr val="C62828"/>
                </a:solidFill>
              </a:rPr>
              <a:t>154.8°C ✗</a:t>
            </a:r>
          </a:p>
        </p:txBody>
      </p:sp>
      <p:sp>
        <p:nvSpPr>
          <p:cNvPr id="68" name="Rectangle 67"/>
          <p:cNvSpPr/>
          <p:nvPr/>
        </p:nvSpPr>
        <p:spPr>
          <a:xfrm>
            <a:off x="557784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14416" y="2660904"/>
            <a:ext cx="704088" cy="384048"/>
          </a:xfrm>
          <a:prstGeom prst="rect">
            <a:avLst/>
          </a:prstGeom>
          <a:noFill/>
        </p:spPr>
        <p:txBody>
          <a:bodyPr wrap="square">
            <a:spAutoFit/>
          </a:bodyPr>
          <a:lstStyle/>
          <a:p>
            <a:pPr algn="ctr"/>
            <a:r>
              <a:rPr sz="900" b="0" i="0">
                <a:solidFill>
                  <a:srgbClr val="424242"/>
                </a:solidFill>
              </a:rPr>
              <a:t>4.06×</a:t>
            </a:r>
          </a:p>
        </p:txBody>
      </p:sp>
      <p:sp>
        <p:nvSpPr>
          <p:cNvPr id="70" name="Rectangle 69"/>
          <p:cNvSpPr/>
          <p:nvPr/>
        </p:nvSpPr>
        <p:spPr>
          <a:xfrm>
            <a:off x="6355080" y="2596896"/>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91656" y="2660904"/>
            <a:ext cx="1344168" cy="384048"/>
          </a:xfrm>
          <a:prstGeom prst="rect">
            <a:avLst/>
          </a:prstGeom>
          <a:noFill/>
        </p:spPr>
        <p:txBody>
          <a:bodyPr wrap="square">
            <a:spAutoFit/>
          </a:bodyPr>
          <a:lstStyle/>
          <a:p>
            <a:pPr algn="ctr"/>
            <a:r>
              <a:rPr sz="900" b="0" i="0">
                <a:solidFill>
                  <a:srgbClr val="C62828"/>
                </a:solidFill>
              </a:rPr>
              <a:t>202.1°C ✗</a:t>
            </a:r>
          </a:p>
        </p:txBody>
      </p:sp>
      <p:sp>
        <p:nvSpPr>
          <p:cNvPr id="72" name="Rectangle 71"/>
          <p:cNvSpPr/>
          <p:nvPr/>
        </p:nvSpPr>
        <p:spPr>
          <a:xfrm>
            <a:off x="777240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808976" y="2660904"/>
            <a:ext cx="704088" cy="384048"/>
          </a:xfrm>
          <a:prstGeom prst="rect">
            <a:avLst/>
          </a:prstGeom>
          <a:noFill/>
        </p:spPr>
        <p:txBody>
          <a:bodyPr wrap="square">
            <a:spAutoFit/>
          </a:bodyPr>
          <a:lstStyle/>
          <a:p>
            <a:pPr algn="ctr"/>
            <a:r>
              <a:rPr sz="900" b="0" i="0">
                <a:solidFill>
                  <a:srgbClr val="424242"/>
                </a:solidFill>
              </a:rPr>
              <a:t>4.55×</a:t>
            </a:r>
          </a:p>
        </p:txBody>
      </p:sp>
      <p:sp>
        <p:nvSpPr>
          <p:cNvPr id="74" name="Rectangle 73"/>
          <p:cNvSpPr/>
          <p:nvPr/>
        </p:nvSpPr>
        <p:spPr>
          <a:xfrm>
            <a:off x="320040" y="3072384"/>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56616" y="3136392"/>
            <a:ext cx="749808" cy="384048"/>
          </a:xfrm>
          <a:prstGeom prst="rect">
            <a:avLst/>
          </a:prstGeom>
          <a:noFill/>
        </p:spPr>
        <p:txBody>
          <a:bodyPr wrap="square">
            <a:spAutoFit/>
          </a:bodyPr>
          <a:lstStyle/>
          <a:p>
            <a:pPr algn="ctr"/>
            <a:r>
              <a:rPr sz="900" b="0" i="0">
                <a:solidFill>
                  <a:srgbClr val="424242"/>
                </a:solidFill>
              </a:rPr>
              <a:t>skip=6</a:t>
            </a:r>
          </a:p>
        </p:txBody>
      </p:sp>
      <p:sp>
        <p:nvSpPr>
          <p:cNvPr id="76" name="Rectangle 75"/>
          <p:cNvSpPr/>
          <p:nvPr/>
        </p:nvSpPr>
        <p:spPr>
          <a:xfrm>
            <a:off x="1143000" y="3072384"/>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79576" y="3136392"/>
            <a:ext cx="932688" cy="384048"/>
          </a:xfrm>
          <a:prstGeom prst="rect">
            <a:avLst/>
          </a:prstGeom>
          <a:noFill/>
        </p:spPr>
        <p:txBody>
          <a:bodyPr wrap="square">
            <a:spAutoFit/>
          </a:bodyPr>
          <a:lstStyle/>
          <a:p>
            <a:pPr algn="ctr"/>
            <a:r>
              <a:rPr sz="900" b="0" i="0">
                <a:solidFill>
                  <a:srgbClr val="424242"/>
                </a:solidFill>
              </a:rPr>
              <a:t> 4/21</a:t>
            </a:r>
          </a:p>
        </p:txBody>
      </p:sp>
      <p:sp>
        <p:nvSpPr>
          <p:cNvPr id="78" name="Rectangle 77"/>
          <p:cNvSpPr/>
          <p:nvPr/>
        </p:nvSpPr>
        <p:spPr>
          <a:xfrm>
            <a:off x="2148840" y="3072384"/>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185416" y="3136392"/>
            <a:ext cx="1252728" cy="384048"/>
          </a:xfrm>
          <a:prstGeom prst="rect">
            <a:avLst/>
          </a:prstGeom>
          <a:noFill/>
        </p:spPr>
        <p:txBody>
          <a:bodyPr wrap="square">
            <a:spAutoFit/>
          </a:bodyPr>
          <a:lstStyle/>
          <a:p>
            <a:pPr algn="ctr"/>
            <a:r>
              <a:rPr sz="900" b="0" i="0">
                <a:solidFill>
                  <a:srgbClr val="C62828"/>
                </a:solidFill>
              </a:rPr>
              <a:t>93.6°C ✗</a:t>
            </a:r>
          </a:p>
        </p:txBody>
      </p:sp>
      <p:sp>
        <p:nvSpPr>
          <p:cNvPr id="80" name="Rectangle 79"/>
          <p:cNvSpPr/>
          <p:nvPr/>
        </p:nvSpPr>
        <p:spPr>
          <a:xfrm>
            <a:off x="347472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511296" y="3136392"/>
            <a:ext cx="704088" cy="384048"/>
          </a:xfrm>
          <a:prstGeom prst="rect">
            <a:avLst/>
          </a:prstGeom>
          <a:noFill/>
        </p:spPr>
        <p:txBody>
          <a:bodyPr wrap="square">
            <a:spAutoFit/>
          </a:bodyPr>
          <a:lstStyle/>
          <a:p>
            <a:pPr algn="ctr"/>
            <a:r>
              <a:rPr sz="900" b="0" i="0">
                <a:solidFill>
                  <a:srgbClr val="424242"/>
                </a:solidFill>
              </a:rPr>
              <a:t>2.15×</a:t>
            </a:r>
          </a:p>
        </p:txBody>
      </p:sp>
      <p:sp>
        <p:nvSpPr>
          <p:cNvPr id="82" name="Rectangle 81"/>
          <p:cNvSpPr/>
          <p:nvPr/>
        </p:nvSpPr>
        <p:spPr>
          <a:xfrm>
            <a:off x="4251960" y="3072384"/>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288536" y="3136392"/>
            <a:ext cx="1252728" cy="384048"/>
          </a:xfrm>
          <a:prstGeom prst="rect">
            <a:avLst/>
          </a:prstGeom>
          <a:noFill/>
        </p:spPr>
        <p:txBody>
          <a:bodyPr wrap="square">
            <a:spAutoFit/>
          </a:bodyPr>
          <a:lstStyle/>
          <a:p>
            <a:pPr algn="ctr"/>
            <a:r>
              <a:rPr sz="900" b="0" i="0">
                <a:solidFill>
                  <a:srgbClr val="C62828"/>
                </a:solidFill>
              </a:rPr>
              <a:t>354.6°C ✗</a:t>
            </a:r>
          </a:p>
        </p:txBody>
      </p:sp>
      <p:sp>
        <p:nvSpPr>
          <p:cNvPr id="84" name="Rectangle 83"/>
          <p:cNvSpPr/>
          <p:nvPr/>
        </p:nvSpPr>
        <p:spPr>
          <a:xfrm>
            <a:off x="557784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3136392"/>
            <a:ext cx="704088" cy="384048"/>
          </a:xfrm>
          <a:prstGeom prst="rect">
            <a:avLst/>
          </a:prstGeom>
          <a:noFill/>
        </p:spPr>
        <p:txBody>
          <a:bodyPr wrap="square">
            <a:spAutoFit/>
          </a:bodyPr>
          <a:lstStyle/>
          <a:p>
            <a:pPr algn="ctr"/>
            <a:r>
              <a:rPr sz="900" b="0" i="0">
                <a:solidFill>
                  <a:srgbClr val="424242"/>
                </a:solidFill>
              </a:rPr>
              <a:t>9.30×</a:t>
            </a:r>
          </a:p>
        </p:txBody>
      </p:sp>
      <p:sp>
        <p:nvSpPr>
          <p:cNvPr id="86" name="Rectangle 85"/>
          <p:cNvSpPr/>
          <p:nvPr/>
        </p:nvSpPr>
        <p:spPr>
          <a:xfrm>
            <a:off x="6355080" y="3072384"/>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91656" y="3136392"/>
            <a:ext cx="1344168" cy="384048"/>
          </a:xfrm>
          <a:prstGeom prst="rect">
            <a:avLst/>
          </a:prstGeom>
          <a:noFill/>
        </p:spPr>
        <p:txBody>
          <a:bodyPr wrap="square">
            <a:spAutoFit/>
          </a:bodyPr>
          <a:lstStyle/>
          <a:p>
            <a:pPr algn="ctr"/>
            <a:r>
              <a:rPr sz="900" b="0" i="0">
                <a:solidFill>
                  <a:srgbClr val="C62828"/>
                </a:solidFill>
              </a:rPr>
              <a:t>428.6°C ✗</a:t>
            </a:r>
          </a:p>
        </p:txBody>
      </p:sp>
      <p:sp>
        <p:nvSpPr>
          <p:cNvPr id="88" name="Rectangle 87"/>
          <p:cNvSpPr/>
          <p:nvPr/>
        </p:nvSpPr>
        <p:spPr>
          <a:xfrm>
            <a:off x="777240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808976" y="3136392"/>
            <a:ext cx="704088" cy="384048"/>
          </a:xfrm>
          <a:prstGeom prst="rect">
            <a:avLst/>
          </a:prstGeom>
          <a:noFill/>
        </p:spPr>
        <p:txBody>
          <a:bodyPr wrap="square">
            <a:spAutoFit/>
          </a:bodyPr>
          <a:lstStyle/>
          <a:p>
            <a:pPr algn="ctr"/>
            <a:r>
              <a:rPr sz="900" b="0" i="0">
                <a:solidFill>
                  <a:srgbClr val="424242"/>
                </a:solidFill>
              </a:rPr>
              <a:t>9.65×</a:t>
            </a:r>
          </a:p>
        </p:txBody>
      </p:sp>
      <p:sp>
        <p:nvSpPr>
          <p:cNvPr id="90" name="Rectangle 89"/>
          <p:cNvSpPr/>
          <p:nvPr/>
        </p:nvSpPr>
        <p:spPr>
          <a:xfrm>
            <a:off x="320040" y="3657600"/>
            <a:ext cx="11521440" cy="9144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7200" y="3712463"/>
            <a:ext cx="11155680" cy="237744"/>
          </a:xfrm>
          <a:prstGeom prst="rect">
            <a:avLst/>
          </a:prstGeom>
          <a:noFill/>
        </p:spPr>
        <p:txBody>
          <a:bodyPr wrap="square">
            <a:spAutoFit/>
          </a:bodyPr>
          <a:lstStyle/>
          <a:p>
            <a:pPr algn="l"/>
            <a:r>
              <a:rPr sz="1100" b="1" i="0">
                <a:solidFill>
                  <a:srgbClr val="E65100"/>
                </a:solidFill>
              </a:rPr>
              <a:t>Key findings at 500 epochs:</a:t>
            </a:r>
          </a:p>
        </p:txBody>
      </p:sp>
      <p:sp>
        <p:nvSpPr>
          <p:cNvPr id="92" name="TextBox 91"/>
          <p:cNvSpPr txBox="1"/>
          <p:nvPr/>
        </p:nvSpPr>
        <p:spPr>
          <a:xfrm>
            <a:off x="457200" y="3968496"/>
            <a:ext cx="11155680" cy="502920"/>
          </a:xfrm>
          <a:prstGeom prst="rect">
            <a:avLst/>
          </a:prstGeom>
          <a:noFill/>
        </p:spPr>
        <p:txBody>
          <a:bodyPr wrap="square">
            <a:spAutoFit/>
          </a:bodyPr>
          <a:lstStyle/>
          <a:p>
            <a:pPr algn="l"/>
            <a:r>
              <a:rPr sz="1100" b="0" i="0">
                <a:solidFill>
                  <a:srgbClr val="424242"/>
                </a:solidFill>
              </a:rPr>
              <a:t>▸ Bayesian achieves skip=4 ✓ (1.32×) — 4× FEM reduction      ▸ NSGA-II achieves skip=2 ✓ (1.47×, just below threshold)      ▸ NSGA-III fails at skip=2 ✗ (1.70×) — smaller model needs more training</a:t>
            </a:r>
          </a:p>
        </p:txBody>
      </p:sp>
      <p:pic>
        <p:nvPicPr>
          <p:cNvPr id="93" name="Picture 92" descr="pres_l2_skip_comparison.png"/>
          <p:cNvPicPr>
            <a:picLocks noChangeAspect="1"/>
          </p:cNvPicPr>
          <p:nvPr/>
        </p:nvPicPr>
        <p:blipFill>
          <a:blip r:embed="rId2"/>
          <a:stretch>
            <a:fillRect/>
          </a:stretch>
        </p:blipFill>
        <p:spPr>
          <a:xfrm>
            <a:off x="320040" y="4663440"/>
            <a:ext cx="1161288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Skip Operator: Visual Comparison</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389120" cy="5029200"/>
          </a:xfrm>
          <a:prstGeom prst="rect">
            <a:avLst/>
          </a:prstGeom>
          <a:noFill/>
        </p:spPr>
        <p:txBody>
          <a:bodyPr wrap="square">
            <a:spAutoFit/>
          </a:bodyPr>
          <a:lstStyle/>
          <a:p>
            <a:pPr>
              <a:spcBef>
                <a:spcPts val="400"/>
              </a:spcBef>
              <a:defRPr sz="1200">
                <a:solidFill>
                  <a:srgbClr val="424242"/>
                </a:solidFill>
              </a:defRPr>
            </a:pPr>
            <a:r>
              <a:t>This plot shows the temperature prediction at skip=1, 2, 4, 6</a:t>
            </a:r>
          </a:p>
          <a:p>
            <a:pPr>
              <a:spcBef>
                <a:spcPts val="400"/>
              </a:spcBef>
              <a:defRPr sz="1200">
                <a:solidFill>
                  <a:srgbClr val="424242"/>
                </a:solidFill>
              </a:defRPr>
            </a:pPr>
            <a:r>
              <a:t>for the Bayesian architecture.</a:t>
            </a:r>
          </a:p>
          <a:p>
            <a:pPr>
              <a:spcBef>
                <a:spcPts val="400"/>
              </a:spcBef>
              <a:defRPr sz="1200">
                <a:solidFill>
                  <a:srgbClr val="424242"/>
                </a:solidFill>
              </a:defRPr>
            </a:pPr>
          </a:p>
          <a:p>
            <a:pPr>
              <a:spcBef>
                <a:spcPts val="400"/>
              </a:spcBef>
              <a:defRPr sz="1200">
                <a:solidFill>
                  <a:srgbClr val="424242"/>
                </a:solidFill>
              </a:defRPr>
            </a:pPr>
            <a:r>
              <a:t>Observations:</a:t>
            </a:r>
          </a:p>
          <a:p>
            <a:pPr>
              <a:spcBef>
                <a:spcPts val="400"/>
              </a:spcBef>
              <a:defRPr sz="1200">
                <a:solidFill>
                  <a:srgbClr val="424242"/>
                </a:solidFill>
              </a:defRPr>
            </a:pPr>
            <a:r>
              <a:t>  ▸  skip=2 (11 FEM): prediction improves vs skip=1</a:t>
            </a:r>
          </a:p>
          <a:p>
            <a:pPr>
              <a:spcBef>
                <a:spcPts val="400"/>
              </a:spcBef>
              <a:defRPr sz="1200">
                <a:solidFill>
                  <a:srgbClr val="424242"/>
                </a:solidFill>
              </a:defRPr>
            </a:pPr>
            <a:r>
              <a:t>  ▸  skip=4 (6 FEM): acceptable error, 4× speedup</a:t>
            </a:r>
          </a:p>
          <a:p>
            <a:pPr>
              <a:spcBef>
                <a:spcPts val="400"/>
              </a:spcBef>
              <a:defRPr sz="1200">
                <a:solidFill>
                  <a:srgbClr val="424242"/>
                </a:solidFill>
              </a:defRPr>
            </a:pPr>
            <a:r>
              <a:t>  ▸  skip=6 (4 FEM): error exceeds threshold — diverged</a:t>
            </a:r>
          </a:p>
          <a:p>
            <a:pPr>
              <a:spcBef>
                <a:spcPts val="400"/>
              </a:spcBef>
              <a:defRPr sz="1200">
                <a:solidFill>
                  <a:srgbClr val="424242"/>
                </a:solidFill>
              </a:defRPr>
            </a:pPr>
          </a:p>
          <a:p>
            <a:pPr>
              <a:spcBef>
                <a:spcPts val="400"/>
              </a:spcBef>
              <a:defRPr sz="1200">
                <a:solidFill>
                  <a:srgbClr val="424242"/>
                </a:solidFill>
              </a:defRPr>
            </a:pPr>
            <a:r>
              <a:t>Speedup summary:</a:t>
            </a:r>
          </a:p>
          <a:p>
            <a:pPr>
              <a:spcBef>
                <a:spcPts val="400"/>
              </a:spcBef>
              <a:defRPr sz="1200">
                <a:solidFill>
                  <a:srgbClr val="424242"/>
                </a:solidFill>
              </a:defRPr>
            </a:pPr>
            <a:r>
              <a:t>  ▸  skip=2: 11 FEM calls → 2× faster</a:t>
            </a:r>
          </a:p>
          <a:p>
            <a:pPr>
              <a:spcBef>
                <a:spcPts val="400"/>
              </a:spcBef>
              <a:defRPr sz="1200">
                <a:solidFill>
                  <a:srgbClr val="424242"/>
                </a:solidFill>
              </a:defRPr>
            </a:pPr>
            <a:r>
              <a:t>  ▸  skip=4:  6 FEM calls → 4× faster</a:t>
            </a:r>
          </a:p>
        </p:txBody>
      </p:sp>
      <p:pic>
        <p:nvPicPr>
          <p:cNvPr id="10" name="Picture 9" descr="fem_vs_pinn_skip.png"/>
          <p:cNvPicPr>
            <a:picLocks noChangeAspect="1"/>
          </p:cNvPicPr>
          <p:nvPr/>
        </p:nvPicPr>
        <p:blipFill>
          <a:blip r:embed="rId2"/>
          <a:stretch>
            <a:fillRect/>
          </a:stretch>
        </p:blipFill>
        <p:spPr>
          <a:xfrm>
            <a:off x="4937760" y="1078992"/>
            <a:ext cx="7040880" cy="5486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Extended Training: 2 000 Epochs for NSGA-II/III</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Can more training epochs fix the skip=2 convergence problem?</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03520" cy="3108960"/>
          </a:xfrm>
          <a:prstGeom prst="rect">
            <a:avLst/>
          </a:prstGeom>
          <a:noFill/>
        </p:spPr>
        <p:txBody>
          <a:bodyPr wrap="square">
            <a:spAutoFit/>
          </a:bodyPr>
          <a:lstStyle/>
          <a:p>
            <a:pPr>
              <a:spcBef>
                <a:spcPts val="400"/>
              </a:spcBef>
              <a:defRPr sz="1200">
                <a:solidFill>
                  <a:srgbClr val="424242"/>
                </a:solidFill>
              </a:defRPr>
            </a:pPr>
            <a:r>
              <a:t>Re-run NSGA-II and NSGA-III at skip=1 and skip=2 with 2 000 Adam epochs</a:t>
            </a:r>
          </a:p>
          <a:p>
            <a:pPr>
              <a:spcBef>
                <a:spcPts val="400"/>
              </a:spcBef>
              <a:defRPr sz="1200">
                <a:solidFill>
                  <a:srgbClr val="424242"/>
                </a:solidFill>
              </a:defRPr>
            </a:pPr>
            <a:r>
              <a:t>(vs 500 epochs in the baseline experiment)</a:t>
            </a:r>
          </a:p>
          <a:p>
            <a:pPr>
              <a:spcBef>
                <a:spcPts val="400"/>
              </a:spcBef>
              <a:defRPr sz="1200">
                <a:solidFill>
                  <a:srgbClr val="424242"/>
                </a:solidFill>
              </a:defRPr>
            </a:pPr>
          </a:p>
          <a:p>
            <a:pPr>
              <a:spcBef>
                <a:spcPts val="400"/>
              </a:spcBef>
              <a:defRPr sz="1200">
                <a:solidFill>
                  <a:srgbClr val="424242"/>
                </a:solidFill>
              </a:defRPr>
            </a:pPr>
            <a:r>
              <a:t>Training parameters (2000-epoch run):</a:t>
            </a:r>
          </a:p>
          <a:p>
            <a:pPr>
              <a:spcBef>
                <a:spcPts val="400"/>
              </a:spcBef>
              <a:defRPr sz="1200">
                <a:solidFill>
                  <a:srgbClr val="424242"/>
                </a:solidFill>
              </a:defRPr>
            </a:pPr>
            <a:r>
              <a:t>  • n_epochs = 2 000  (4× baseline)</a:t>
            </a:r>
          </a:p>
          <a:p>
            <a:pPr>
              <a:spcBef>
                <a:spcPts val="400"/>
              </a:spcBef>
              <a:defRPr sz="1200">
                <a:solidFill>
                  <a:srgbClr val="424242"/>
                </a:solidFill>
              </a:defRPr>
            </a:pPr>
            <a:r>
              <a:t>  • n_domain = 500 collocation points</a:t>
            </a:r>
          </a:p>
          <a:p>
            <a:pPr>
              <a:spcBef>
                <a:spcPts val="400"/>
              </a:spcBef>
              <a:defRPr sz="1200">
                <a:solidFill>
                  <a:srgbClr val="424242"/>
                </a:solidFill>
              </a:defRPr>
            </a:pPr>
            <a:r>
              <a:t>  • n_bc = 100 boundary points</a:t>
            </a:r>
          </a:p>
          <a:p>
            <a:pPr>
              <a:spcBef>
                <a:spcPts val="400"/>
              </a:spcBef>
              <a:defRPr sz="1200">
                <a:solidFill>
                  <a:srgbClr val="424242"/>
                </a:solidFill>
              </a:defRPr>
            </a:pPr>
            <a:r>
              <a:t>  • LR: 1×10⁻³ → 1×10⁻⁵  (cosine)</a:t>
            </a:r>
          </a:p>
        </p:txBody>
      </p:sp>
      <p:sp>
        <p:nvSpPr>
          <p:cNvPr id="11" name="Rectangle 10"/>
          <p:cNvSpPr/>
          <p:nvPr/>
        </p:nvSpPr>
        <p:spPr>
          <a:xfrm>
            <a:off x="365760" y="4434840"/>
            <a:ext cx="198424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89704"/>
            <a:ext cx="1920240" cy="411480"/>
          </a:xfrm>
          <a:prstGeom prst="rect">
            <a:avLst/>
          </a:prstGeom>
          <a:noFill/>
        </p:spPr>
        <p:txBody>
          <a:bodyPr wrap="square">
            <a:spAutoFit/>
          </a:bodyPr>
          <a:lstStyle/>
          <a:p>
            <a:pPr algn="ctr"/>
            <a:r>
              <a:rPr sz="900" b="1" i="0">
                <a:solidFill>
                  <a:srgbClr val="FFFFFF"/>
                </a:solidFill>
              </a:rPr>
              <a:t>Optimizer</a:t>
            </a:r>
          </a:p>
        </p:txBody>
      </p:sp>
      <p:sp>
        <p:nvSpPr>
          <p:cNvPr id="13" name="Rectangle 12"/>
          <p:cNvSpPr/>
          <p:nvPr/>
        </p:nvSpPr>
        <p:spPr>
          <a:xfrm>
            <a:off x="2377440" y="4434840"/>
            <a:ext cx="180136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4489704"/>
            <a:ext cx="1737360" cy="411480"/>
          </a:xfrm>
          <a:prstGeom prst="rect">
            <a:avLst/>
          </a:prstGeom>
          <a:noFill/>
        </p:spPr>
        <p:txBody>
          <a:bodyPr wrap="square">
            <a:spAutoFit/>
          </a:bodyPr>
          <a:lstStyle/>
          <a:p>
            <a:pPr algn="ctr"/>
            <a:r>
              <a:rPr sz="900" b="1" i="0">
                <a:solidFill>
                  <a:srgbClr val="FFFFFF"/>
                </a:solidFill>
              </a:rPr>
              <a:t>skip=1 MAE
(2 000 ep)</a:t>
            </a:r>
          </a:p>
        </p:txBody>
      </p:sp>
      <p:sp>
        <p:nvSpPr>
          <p:cNvPr id="15" name="Rectangle 14"/>
          <p:cNvSpPr/>
          <p:nvPr/>
        </p:nvSpPr>
        <p:spPr>
          <a:xfrm>
            <a:off x="4206240" y="4434840"/>
            <a:ext cx="180136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4489704"/>
            <a:ext cx="1737360" cy="411480"/>
          </a:xfrm>
          <a:prstGeom prst="rect">
            <a:avLst/>
          </a:prstGeom>
          <a:noFill/>
        </p:spPr>
        <p:txBody>
          <a:bodyPr wrap="square">
            <a:spAutoFit/>
          </a:bodyPr>
          <a:lstStyle/>
          <a:p>
            <a:pPr algn="ctr"/>
            <a:r>
              <a:rPr sz="900" b="1" i="0">
                <a:solidFill>
                  <a:srgbClr val="FFFFFF"/>
                </a:solidFill>
              </a:rPr>
              <a:t>skip=2 MAE
(2 000 ep)</a:t>
            </a:r>
          </a:p>
        </p:txBody>
      </p:sp>
      <p:sp>
        <p:nvSpPr>
          <p:cNvPr id="17" name="Rectangle 16"/>
          <p:cNvSpPr/>
          <p:nvPr/>
        </p:nvSpPr>
        <p:spPr>
          <a:xfrm>
            <a:off x="6035040" y="4434840"/>
            <a:ext cx="161848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4489704"/>
            <a:ext cx="1554480" cy="411480"/>
          </a:xfrm>
          <a:prstGeom prst="rect">
            <a:avLst/>
          </a:prstGeom>
          <a:noFill/>
        </p:spPr>
        <p:txBody>
          <a:bodyPr wrap="square">
            <a:spAutoFit/>
          </a:bodyPr>
          <a:lstStyle/>
          <a:p>
            <a:pPr algn="ctr"/>
            <a:r>
              <a:rPr sz="900" b="1" i="0">
                <a:solidFill>
                  <a:srgbClr val="FFFFFF"/>
                </a:solidFill>
              </a:rPr>
              <a:t>Ratio vs
500ep ref</a:t>
            </a:r>
          </a:p>
        </p:txBody>
      </p:sp>
      <p:sp>
        <p:nvSpPr>
          <p:cNvPr id="19" name="Rectangle 18"/>
          <p:cNvSpPr/>
          <p:nvPr/>
        </p:nvSpPr>
        <p:spPr>
          <a:xfrm>
            <a:off x="7680960" y="4434840"/>
            <a:ext cx="152704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80" y="4489704"/>
            <a:ext cx="1463040" cy="411480"/>
          </a:xfrm>
          <a:prstGeom prst="rect">
            <a:avLst/>
          </a:prstGeom>
          <a:noFill/>
        </p:spPr>
        <p:txBody>
          <a:bodyPr wrap="square">
            <a:spAutoFit/>
          </a:bodyPr>
          <a:lstStyle/>
          <a:p>
            <a:pPr algn="ctr"/>
            <a:r>
              <a:rPr sz="900" b="1" i="0">
                <a:solidFill>
                  <a:srgbClr val="FFFFFF"/>
                </a:solidFill>
              </a:rPr>
              <a:t>Converged?</a:t>
            </a:r>
          </a:p>
        </p:txBody>
      </p:sp>
      <p:sp>
        <p:nvSpPr>
          <p:cNvPr id="21" name="Rectangle 20"/>
          <p:cNvSpPr/>
          <p:nvPr/>
        </p:nvSpPr>
        <p:spPr>
          <a:xfrm>
            <a:off x="365760" y="4937760"/>
            <a:ext cx="19842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992624"/>
            <a:ext cx="1920240" cy="411480"/>
          </a:xfrm>
          <a:prstGeom prst="rect">
            <a:avLst/>
          </a:prstGeom>
          <a:noFill/>
        </p:spPr>
        <p:txBody>
          <a:bodyPr wrap="square">
            <a:spAutoFit/>
          </a:bodyPr>
          <a:lstStyle/>
          <a:p>
            <a:pPr algn="ctr"/>
            <a:r>
              <a:rPr sz="1000" b="0" i="0">
                <a:solidFill>
                  <a:srgbClr val="1B5E20"/>
                </a:solidFill>
              </a:rPr>
              <a:t>NSGA-II
3×153 tanh</a:t>
            </a:r>
          </a:p>
        </p:txBody>
      </p:sp>
      <p:sp>
        <p:nvSpPr>
          <p:cNvPr id="23" name="Rectangle 22"/>
          <p:cNvSpPr/>
          <p:nvPr/>
        </p:nvSpPr>
        <p:spPr>
          <a:xfrm>
            <a:off x="2377440" y="493776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3160" y="4992624"/>
            <a:ext cx="1737360" cy="411480"/>
          </a:xfrm>
          <a:prstGeom prst="rect">
            <a:avLst/>
          </a:prstGeom>
          <a:noFill/>
        </p:spPr>
        <p:txBody>
          <a:bodyPr wrap="square">
            <a:spAutoFit/>
          </a:bodyPr>
          <a:lstStyle/>
          <a:p>
            <a:pPr algn="ctr"/>
            <a:r>
              <a:rPr sz="1000" b="0" i="0">
                <a:solidFill>
                  <a:srgbClr val="1B5E20"/>
                </a:solidFill>
              </a:rPr>
              <a:t>18.4°C</a:t>
            </a:r>
          </a:p>
        </p:txBody>
      </p:sp>
      <p:sp>
        <p:nvSpPr>
          <p:cNvPr id="25" name="Rectangle 24"/>
          <p:cNvSpPr/>
          <p:nvPr/>
        </p:nvSpPr>
        <p:spPr>
          <a:xfrm>
            <a:off x="4206240" y="493776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992624"/>
            <a:ext cx="1737360" cy="411480"/>
          </a:xfrm>
          <a:prstGeom prst="rect">
            <a:avLst/>
          </a:prstGeom>
          <a:noFill/>
        </p:spPr>
        <p:txBody>
          <a:bodyPr wrap="square">
            <a:spAutoFit/>
          </a:bodyPr>
          <a:lstStyle/>
          <a:p>
            <a:pPr algn="ctr"/>
            <a:r>
              <a:rPr sz="1000" b="0" i="0">
                <a:solidFill>
                  <a:srgbClr val="1B5E20"/>
                </a:solidFill>
              </a:rPr>
              <a:t>37.4°C</a:t>
            </a:r>
          </a:p>
        </p:txBody>
      </p:sp>
      <p:sp>
        <p:nvSpPr>
          <p:cNvPr id="27" name="Rectangle 26"/>
          <p:cNvSpPr/>
          <p:nvPr/>
        </p:nvSpPr>
        <p:spPr>
          <a:xfrm>
            <a:off x="6035040" y="4937760"/>
            <a:ext cx="161848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80760" y="4992624"/>
            <a:ext cx="1554480" cy="411480"/>
          </a:xfrm>
          <a:prstGeom prst="rect">
            <a:avLst/>
          </a:prstGeom>
          <a:noFill/>
        </p:spPr>
        <p:txBody>
          <a:bodyPr wrap="square">
            <a:spAutoFit/>
          </a:bodyPr>
          <a:lstStyle/>
          <a:p>
            <a:pPr algn="ctr"/>
            <a:r>
              <a:rPr sz="1000" b="0" i="0">
                <a:solidFill>
                  <a:srgbClr val="1B5E20"/>
                </a:solidFill>
              </a:rPr>
              <a:t>0.98×</a:t>
            </a:r>
          </a:p>
        </p:txBody>
      </p:sp>
      <p:sp>
        <p:nvSpPr>
          <p:cNvPr id="29" name="Rectangle 28"/>
          <p:cNvSpPr/>
          <p:nvPr/>
        </p:nvSpPr>
        <p:spPr>
          <a:xfrm>
            <a:off x="7680960" y="4937760"/>
            <a:ext cx="15270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80" y="4992624"/>
            <a:ext cx="1463040" cy="411480"/>
          </a:xfrm>
          <a:prstGeom prst="rect">
            <a:avLst/>
          </a:prstGeom>
          <a:noFill/>
        </p:spPr>
        <p:txBody>
          <a:bodyPr wrap="square">
            <a:spAutoFit/>
          </a:bodyPr>
          <a:lstStyle/>
          <a:p>
            <a:pPr algn="ctr"/>
            <a:r>
              <a:rPr sz="1000" b="0" i="0">
                <a:solidFill>
                  <a:srgbClr val="1B5E20"/>
                </a:solidFill>
              </a:rPr>
              <a:t>✓ YES</a:t>
            </a:r>
          </a:p>
        </p:txBody>
      </p:sp>
      <p:sp>
        <p:nvSpPr>
          <p:cNvPr id="31" name="Rectangle 30"/>
          <p:cNvSpPr/>
          <p:nvPr/>
        </p:nvSpPr>
        <p:spPr>
          <a:xfrm>
            <a:off x="365760" y="5440680"/>
            <a:ext cx="19842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5495544"/>
            <a:ext cx="1920240" cy="411480"/>
          </a:xfrm>
          <a:prstGeom prst="rect">
            <a:avLst/>
          </a:prstGeom>
          <a:noFill/>
        </p:spPr>
        <p:txBody>
          <a:bodyPr wrap="square">
            <a:spAutoFit/>
          </a:bodyPr>
          <a:lstStyle/>
          <a:p>
            <a:pPr algn="ctr"/>
            <a:r>
              <a:rPr sz="1000" b="0" i="0">
                <a:solidFill>
                  <a:srgbClr val="1B5E20"/>
                </a:solidFill>
              </a:rPr>
              <a:t>NSGA-III
3×75 tanh</a:t>
            </a:r>
          </a:p>
        </p:txBody>
      </p:sp>
      <p:sp>
        <p:nvSpPr>
          <p:cNvPr id="33" name="Rectangle 32"/>
          <p:cNvSpPr/>
          <p:nvPr/>
        </p:nvSpPr>
        <p:spPr>
          <a:xfrm>
            <a:off x="2377440" y="544068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5495544"/>
            <a:ext cx="1737360" cy="411480"/>
          </a:xfrm>
          <a:prstGeom prst="rect">
            <a:avLst/>
          </a:prstGeom>
          <a:noFill/>
        </p:spPr>
        <p:txBody>
          <a:bodyPr wrap="square">
            <a:spAutoFit/>
          </a:bodyPr>
          <a:lstStyle/>
          <a:p>
            <a:pPr algn="ctr"/>
            <a:r>
              <a:rPr sz="1000" b="0" i="0">
                <a:solidFill>
                  <a:srgbClr val="1B5E20"/>
                </a:solidFill>
              </a:rPr>
              <a:t>33.8°C</a:t>
            </a:r>
          </a:p>
        </p:txBody>
      </p:sp>
      <p:sp>
        <p:nvSpPr>
          <p:cNvPr id="35" name="Rectangle 34"/>
          <p:cNvSpPr/>
          <p:nvPr/>
        </p:nvSpPr>
        <p:spPr>
          <a:xfrm>
            <a:off x="4206240" y="544068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51960" y="5495544"/>
            <a:ext cx="1737360" cy="411480"/>
          </a:xfrm>
          <a:prstGeom prst="rect">
            <a:avLst/>
          </a:prstGeom>
          <a:noFill/>
        </p:spPr>
        <p:txBody>
          <a:bodyPr wrap="square">
            <a:spAutoFit/>
          </a:bodyPr>
          <a:lstStyle/>
          <a:p>
            <a:pPr algn="ctr"/>
            <a:r>
              <a:rPr sz="1000" b="0" i="0">
                <a:solidFill>
                  <a:srgbClr val="1B5E20"/>
                </a:solidFill>
              </a:rPr>
              <a:t>43.8°C</a:t>
            </a:r>
          </a:p>
        </p:txBody>
      </p:sp>
      <p:sp>
        <p:nvSpPr>
          <p:cNvPr id="37" name="Rectangle 36"/>
          <p:cNvSpPr/>
          <p:nvPr/>
        </p:nvSpPr>
        <p:spPr>
          <a:xfrm>
            <a:off x="6035040" y="5440680"/>
            <a:ext cx="161848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80760" y="5495544"/>
            <a:ext cx="1554480" cy="411480"/>
          </a:xfrm>
          <a:prstGeom prst="rect">
            <a:avLst/>
          </a:prstGeom>
          <a:noFill/>
        </p:spPr>
        <p:txBody>
          <a:bodyPr wrap="square">
            <a:spAutoFit/>
          </a:bodyPr>
          <a:lstStyle/>
          <a:p>
            <a:pPr algn="ctr"/>
            <a:r>
              <a:rPr sz="1000" b="0" i="0">
                <a:solidFill>
                  <a:srgbClr val="1B5E20"/>
                </a:solidFill>
              </a:rPr>
              <a:t>0.99×</a:t>
            </a:r>
          </a:p>
        </p:txBody>
      </p:sp>
      <p:sp>
        <p:nvSpPr>
          <p:cNvPr id="39" name="Rectangle 38"/>
          <p:cNvSpPr/>
          <p:nvPr/>
        </p:nvSpPr>
        <p:spPr>
          <a:xfrm>
            <a:off x="7680960" y="5440680"/>
            <a:ext cx="15270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26680" y="5495544"/>
            <a:ext cx="1463040" cy="411480"/>
          </a:xfrm>
          <a:prstGeom prst="rect">
            <a:avLst/>
          </a:prstGeom>
          <a:noFill/>
        </p:spPr>
        <p:txBody>
          <a:bodyPr wrap="square">
            <a:spAutoFit/>
          </a:bodyPr>
          <a:lstStyle/>
          <a:p>
            <a:pPr algn="ctr"/>
            <a:r>
              <a:rPr sz="1000" b="0" i="0">
                <a:solidFill>
                  <a:srgbClr val="1B5E20"/>
                </a:solidFill>
              </a:rPr>
              <a:t>✓ YES</a:t>
            </a:r>
          </a:p>
        </p:txBody>
      </p:sp>
      <p:sp>
        <p:nvSpPr>
          <p:cNvPr id="41" name="Rectangle 40"/>
          <p:cNvSpPr/>
          <p:nvPr/>
        </p:nvSpPr>
        <p:spPr>
          <a:xfrm>
            <a:off x="365760" y="5943600"/>
            <a:ext cx="198424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5998464"/>
            <a:ext cx="1920240" cy="411480"/>
          </a:xfrm>
          <a:prstGeom prst="rect">
            <a:avLst/>
          </a:prstGeom>
          <a:noFill/>
        </p:spPr>
        <p:txBody>
          <a:bodyPr wrap="square">
            <a:spAutoFit/>
          </a:bodyPr>
          <a:lstStyle/>
          <a:p>
            <a:pPr algn="ctr"/>
            <a:r>
              <a:rPr sz="1000" b="0" i="0">
                <a:solidFill>
                  <a:srgbClr val="424242"/>
                </a:solidFill>
              </a:rPr>
              <a:t>500ep reference</a:t>
            </a:r>
          </a:p>
        </p:txBody>
      </p:sp>
      <p:sp>
        <p:nvSpPr>
          <p:cNvPr id="43" name="Rectangle 42"/>
          <p:cNvSpPr/>
          <p:nvPr/>
        </p:nvSpPr>
        <p:spPr>
          <a:xfrm>
            <a:off x="2377440" y="5943600"/>
            <a:ext cx="180136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23160" y="5998464"/>
            <a:ext cx="1737360" cy="411480"/>
          </a:xfrm>
          <a:prstGeom prst="rect">
            <a:avLst/>
          </a:prstGeom>
          <a:noFill/>
        </p:spPr>
        <p:txBody>
          <a:bodyPr wrap="square">
            <a:spAutoFit/>
          </a:bodyPr>
          <a:lstStyle/>
          <a:p>
            <a:pPr algn="ctr"/>
            <a:r>
              <a:rPr sz="1000" b="0" i="0">
                <a:solidFill>
                  <a:srgbClr val="424242"/>
                </a:solidFill>
              </a:rPr>
              <a:t>38.1°C</a:t>
            </a:r>
          </a:p>
        </p:txBody>
      </p:sp>
      <p:sp>
        <p:nvSpPr>
          <p:cNvPr id="45" name="Rectangle 44"/>
          <p:cNvSpPr/>
          <p:nvPr/>
        </p:nvSpPr>
        <p:spPr>
          <a:xfrm>
            <a:off x="4206240" y="5943600"/>
            <a:ext cx="180136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51960" y="5998464"/>
            <a:ext cx="1737360" cy="411480"/>
          </a:xfrm>
          <a:prstGeom prst="rect">
            <a:avLst/>
          </a:prstGeom>
          <a:noFill/>
        </p:spPr>
        <p:txBody>
          <a:bodyPr wrap="square">
            <a:spAutoFit/>
          </a:bodyPr>
          <a:lstStyle/>
          <a:p>
            <a:pPr algn="ctr"/>
            <a:r>
              <a:rPr sz="1000" b="0" i="0">
                <a:solidFill>
                  <a:srgbClr val="424242"/>
                </a:solidFill>
              </a:rPr>
              <a:t>56.0°C</a:t>
            </a:r>
          </a:p>
        </p:txBody>
      </p:sp>
      <p:sp>
        <p:nvSpPr>
          <p:cNvPr id="47" name="Rectangle 46"/>
          <p:cNvSpPr/>
          <p:nvPr/>
        </p:nvSpPr>
        <p:spPr>
          <a:xfrm>
            <a:off x="6035040" y="5943600"/>
            <a:ext cx="161848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80760" y="5998464"/>
            <a:ext cx="1554480" cy="411480"/>
          </a:xfrm>
          <a:prstGeom prst="rect">
            <a:avLst/>
          </a:prstGeom>
          <a:noFill/>
        </p:spPr>
        <p:txBody>
          <a:bodyPr wrap="square">
            <a:spAutoFit/>
          </a:bodyPr>
          <a:lstStyle/>
          <a:p>
            <a:pPr algn="ctr"/>
            <a:r>
              <a:rPr sz="1000" b="0" i="0">
                <a:solidFill>
                  <a:srgbClr val="424242"/>
                </a:solidFill>
              </a:rPr>
              <a:t>(1.47×)</a:t>
            </a:r>
          </a:p>
        </p:txBody>
      </p:sp>
      <p:sp>
        <p:nvSpPr>
          <p:cNvPr id="49" name="Rectangle 48"/>
          <p:cNvSpPr/>
          <p:nvPr/>
        </p:nvSpPr>
        <p:spPr>
          <a:xfrm>
            <a:off x="7680960" y="5943600"/>
            <a:ext cx="152704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26680" y="5998464"/>
            <a:ext cx="1463040" cy="411480"/>
          </a:xfrm>
          <a:prstGeom prst="rect">
            <a:avLst/>
          </a:prstGeom>
          <a:noFill/>
        </p:spPr>
        <p:txBody>
          <a:bodyPr wrap="square">
            <a:spAutoFit/>
          </a:bodyPr>
          <a:lstStyle/>
          <a:p>
            <a:pPr algn="ctr"/>
            <a:r>
              <a:rPr sz="1000" b="0" i="0">
                <a:solidFill>
                  <a:srgbClr val="424242"/>
                </a:solidFill>
              </a:rPr>
              <a:t>(baseline)</a:t>
            </a:r>
          </a:p>
        </p:txBody>
      </p:sp>
      <p:sp>
        <p:nvSpPr>
          <p:cNvPr id="51" name="Rectangle 50"/>
          <p:cNvSpPr/>
          <p:nvPr/>
        </p:nvSpPr>
        <p:spPr>
          <a:xfrm>
            <a:off x="365760" y="6400800"/>
            <a:ext cx="11521440" cy="1828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419088"/>
            <a:ext cx="11155680" cy="182880"/>
          </a:xfrm>
          <a:prstGeom prst="rect">
            <a:avLst/>
          </a:prstGeom>
          <a:noFill/>
        </p:spPr>
        <p:txBody>
          <a:bodyPr wrap="square">
            <a:spAutoFit/>
          </a:bodyPr>
          <a:lstStyle/>
          <a:p>
            <a:pPr algn="l"/>
            <a:r>
              <a:rPr sz="1000" b="1" i="0">
                <a:solidFill>
                  <a:srgbClr val="1B5E20"/>
                </a:solidFill>
              </a:rPr>
              <a:t>Conclusion: Epoch count was the bottleneck, not architecture. 2 000 epochs → NSGA-II ratio=0.98× ✓ and NSGA-III ratio=0.99× ✓ — both converge at skip=2.</a:t>
            </a:r>
          </a:p>
        </p:txBody>
      </p:sp>
      <p:pic>
        <p:nvPicPr>
          <p:cNvPr id="53" name="Picture 52" descr="skip_comparison.png"/>
          <p:cNvPicPr>
            <a:picLocks noChangeAspect="1"/>
          </p:cNvPicPr>
          <p:nvPr/>
        </p:nvPicPr>
        <p:blipFill>
          <a:blip r:embed="rId2"/>
          <a:stretch>
            <a:fillRect/>
          </a:stretch>
        </p:blipFill>
        <p:spPr>
          <a:xfrm>
            <a:off x="5852160" y="1170432"/>
            <a:ext cx="6126480" cy="31089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3 — Hybrid FEM + PINN: Adaptive Routing</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PDE residual decides at each step: FEM or PINN?</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L3</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5394960"/>
          </a:xfrm>
          <a:prstGeom prst="rect">
            <a:avLst/>
          </a:prstGeom>
          <a:noFill/>
        </p:spPr>
        <p:txBody>
          <a:bodyPr wrap="square">
            <a:spAutoFit/>
          </a:bodyPr>
          <a:lstStyle/>
          <a:p>
            <a:pPr>
              <a:spcBef>
                <a:spcPts val="400"/>
              </a:spcBef>
              <a:defRPr sz="1200">
                <a:solidFill>
                  <a:srgbClr val="424242"/>
                </a:solidFill>
              </a:defRPr>
            </a:pPr>
            <a:r>
              <a:t>Parameters:</a:t>
            </a:r>
          </a:p>
          <a:p>
            <a:pPr>
              <a:spcBef>
                <a:spcPts val="400"/>
              </a:spcBef>
              <a:defRPr sz="1200">
                <a:solidFill>
                  <a:srgbClr val="424242"/>
                </a:solidFill>
              </a:defRPr>
            </a:pPr>
            <a:r>
              <a:t>  • Residual threshold = 0.1</a:t>
            </a:r>
          </a:p>
          <a:p>
            <a:pPr>
              <a:spcBef>
                <a:spcPts val="400"/>
              </a:spcBef>
              <a:defRPr sz="1200">
                <a:solidFill>
                  <a:srgbClr val="424242"/>
                </a:solidFill>
              </a:defRPr>
            </a:pPr>
            <a:r>
              <a:t>  • Max consecutive PINN steps: 4  (config A) or 20 (config B)</a:t>
            </a:r>
          </a:p>
          <a:p>
            <a:pPr>
              <a:spcBef>
                <a:spcPts val="400"/>
              </a:spcBef>
              <a:defRPr sz="1200">
                <a:solidFill>
                  <a:srgbClr val="424242"/>
                </a:solidFill>
              </a:defRPr>
            </a:pPr>
            <a:r>
              <a:t>  • T_end = 30 s,  N_steps = 20</a:t>
            </a:r>
          </a:p>
          <a:p>
            <a:pPr>
              <a:spcBef>
                <a:spcPts val="400"/>
              </a:spcBef>
              <a:defRPr sz="1200">
                <a:solidFill>
                  <a:srgbClr val="424242"/>
                </a:solidFill>
              </a:defRPr>
            </a:pPr>
          </a:p>
          <a:p>
            <a:pPr>
              <a:spcBef>
                <a:spcPts val="400"/>
              </a:spcBef>
              <a:defRPr sz="1200">
                <a:solidFill>
                  <a:srgbClr val="424242"/>
                </a:solidFill>
              </a:defRPr>
            </a:pPr>
            <a:r>
              <a:t>Algorithm:</a:t>
            </a:r>
          </a:p>
          <a:p>
            <a:pPr>
              <a:spcBef>
                <a:spcPts val="400"/>
              </a:spcBef>
              <a:defRPr sz="1200">
                <a:solidFill>
                  <a:srgbClr val="424242"/>
                </a:solidFill>
              </a:defRPr>
            </a:pPr>
            <a:r>
              <a:t>  1. Solve step with current best model</a:t>
            </a:r>
          </a:p>
          <a:p>
            <a:pPr>
              <a:spcBef>
                <a:spcPts val="400"/>
              </a:spcBef>
              <a:defRPr sz="1200">
                <a:solidFill>
                  <a:srgbClr val="424242"/>
                </a:solidFill>
              </a:defRPr>
            </a:pPr>
            <a:r>
              <a:t>  2. Compute PDE residual r(t) = ‖∂T/∂t − K∇²T‖ / ‖T‖</a:t>
            </a:r>
          </a:p>
          <a:p>
            <a:pPr>
              <a:spcBef>
                <a:spcPts val="400"/>
              </a:spcBef>
              <a:defRPr sz="1200">
                <a:solidFill>
                  <a:srgbClr val="424242"/>
                </a:solidFill>
              </a:defRPr>
            </a:pPr>
            <a:r>
              <a:t>  3. If r &gt; 0.1 → trigger full FEM solve</a:t>
            </a:r>
          </a:p>
          <a:p>
            <a:pPr>
              <a:spcBef>
                <a:spcPts val="400"/>
              </a:spcBef>
              <a:defRPr sz="1200">
                <a:solidFill>
                  <a:srgbClr val="424242"/>
                </a:solidFill>
              </a:defRPr>
            </a:pPr>
            <a:r>
              <a:t>  4. If r ≤ 0.1 → accept PINN prediction</a:t>
            </a:r>
          </a:p>
          <a:p>
            <a:pPr>
              <a:spcBef>
                <a:spcPts val="400"/>
              </a:spcBef>
              <a:defRPr sz="1200">
                <a:solidFill>
                  <a:srgbClr val="424242"/>
                </a:solidFill>
              </a:defRPr>
            </a:pPr>
            <a:r>
              <a:t>  5. Advance to next time step</a:t>
            </a:r>
          </a:p>
          <a:p>
            <a:pPr>
              <a:spcBef>
                <a:spcPts val="400"/>
              </a:spcBef>
              <a:defRPr sz="1200">
                <a:solidFill>
                  <a:srgbClr val="424242"/>
                </a:solidFill>
              </a:defRPr>
            </a:pPr>
          </a:p>
          <a:p>
            <a:pPr>
              <a:spcBef>
                <a:spcPts val="400"/>
              </a:spcBef>
              <a:defRPr sz="1200">
                <a:solidFill>
                  <a:srgbClr val="424242"/>
                </a:solidFill>
              </a:defRPr>
            </a:pPr>
            <a:r>
              <a:t>Result (Bayesian architecture):</a:t>
            </a:r>
          </a:p>
          <a:p>
            <a:pPr>
              <a:spcBef>
                <a:spcPts val="400"/>
              </a:spcBef>
              <a:defRPr sz="1200">
                <a:solidFill>
                  <a:srgbClr val="424242"/>
                </a:solidFill>
              </a:defRPr>
            </a:pPr>
            <a:r>
              <a:t>  ▸  Config A (max_skip=4):  4 FEM + 16 PINN = 80% skip</a:t>
            </a:r>
          </a:p>
          <a:p>
            <a:pPr>
              <a:spcBef>
                <a:spcPts val="400"/>
              </a:spcBef>
              <a:defRPr sz="1200">
                <a:solidFill>
                  <a:srgbClr val="424242"/>
                </a:solidFill>
              </a:defRPr>
            </a:pPr>
            <a:r>
              <a:t>  ▸  Config B (max_skip=20): 1 FEM + 19 PINN = 95% skip</a:t>
            </a:r>
          </a:p>
        </p:txBody>
      </p:sp>
      <p:pic>
        <p:nvPicPr>
          <p:cNvPr id="11" name="Picture 10" descr="pres_l3_skip_rates.png"/>
          <p:cNvPicPr>
            <a:picLocks noChangeAspect="1"/>
          </p:cNvPicPr>
          <p:nvPr/>
        </p:nvPicPr>
        <p:blipFill>
          <a:blip r:embed="rId2"/>
          <a:stretch>
            <a:fillRect/>
          </a:stretch>
        </p:blipFill>
        <p:spPr>
          <a:xfrm>
            <a:off x="5852160" y="1170432"/>
            <a:ext cx="6126480" cy="53949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3 — Residual Trace and Step Distribution</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L3</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114800" cy="3474720"/>
          </a:xfrm>
          <a:prstGeom prst="rect">
            <a:avLst/>
          </a:prstGeom>
          <a:noFill/>
        </p:spPr>
        <p:txBody>
          <a:bodyPr wrap="square">
            <a:spAutoFit/>
          </a:bodyPr>
          <a:lstStyle/>
          <a:p>
            <a:pPr>
              <a:spcBef>
                <a:spcPts val="400"/>
              </a:spcBef>
              <a:defRPr sz="1200">
                <a:solidFill>
                  <a:srgbClr val="424242"/>
                </a:solidFill>
              </a:defRPr>
            </a:pPr>
            <a:r>
              <a:t>Left plot: residual at each time step</a:t>
            </a:r>
          </a:p>
          <a:p>
            <a:pPr>
              <a:spcBef>
                <a:spcPts val="400"/>
              </a:spcBef>
              <a:defRPr sz="1200">
                <a:solidFill>
                  <a:srgbClr val="424242"/>
                </a:solidFill>
              </a:defRPr>
            </a:pPr>
            <a:r>
              <a:t>  ▸  FEM triggered (red) when residual crosses 0.1 threshold</a:t>
            </a:r>
          </a:p>
          <a:p>
            <a:pPr>
              <a:spcBef>
                <a:spcPts val="400"/>
              </a:spcBef>
              <a:defRPr sz="1200">
                <a:solidFill>
                  <a:srgbClr val="424242"/>
                </a:solidFill>
              </a:defRPr>
            </a:pPr>
            <a:r>
              <a:t>  ▸  Residual drops sharply after each FEM correction</a:t>
            </a:r>
          </a:p>
          <a:p>
            <a:pPr>
              <a:spcBef>
                <a:spcPts val="400"/>
              </a:spcBef>
              <a:defRPr sz="1200">
                <a:solidFill>
                  <a:srgbClr val="424242"/>
                </a:solidFill>
              </a:defRPr>
            </a:pPr>
            <a:r>
              <a:t>  ▸  PINN steps (blue) maintain low residual between corrections</a:t>
            </a:r>
          </a:p>
          <a:p>
            <a:pPr>
              <a:spcBef>
                <a:spcPts val="400"/>
              </a:spcBef>
              <a:defRPr sz="1200">
                <a:solidFill>
                  <a:srgbClr val="424242"/>
                </a:solidFill>
              </a:defRPr>
            </a:pPr>
          </a:p>
          <a:p>
            <a:pPr>
              <a:spcBef>
                <a:spcPts val="400"/>
              </a:spcBef>
              <a:defRPr sz="1200">
                <a:solidFill>
                  <a:srgbClr val="424242"/>
                </a:solidFill>
              </a:defRPr>
            </a:pPr>
            <a:r>
              <a:t>Right plot: which steps used FEM vs PINN</a:t>
            </a:r>
          </a:p>
          <a:p>
            <a:pPr>
              <a:spcBef>
                <a:spcPts val="400"/>
              </a:spcBef>
              <a:defRPr sz="1200">
                <a:solidFill>
                  <a:srgbClr val="424242"/>
                </a:solidFill>
              </a:defRPr>
            </a:pPr>
            <a:r>
              <a:t>  ▸  First step always FEM (initial condition anchor)</a:t>
            </a:r>
          </a:p>
          <a:p>
            <a:pPr>
              <a:spcBef>
                <a:spcPts val="400"/>
              </a:spcBef>
              <a:defRPr sz="1200">
                <a:solidFill>
                  <a:srgbClr val="424242"/>
                </a:solidFill>
              </a:defRPr>
            </a:pPr>
            <a:r>
              <a:t>  ▸  After first few steps residual remains small</a:t>
            </a:r>
          </a:p>
          <a:p>
            <a:pPr>
              <a:spcBef>
                <a:spcPts val="400"/>
              </a:spcBef>
              <a:defRPr sz="1200">
                <a:solidFill>
                  <a:srgbClr val="424242"/>
                </a:solidFill>
              </a:defRPr>
            </a:pPr>
            <a:r>
              <a:t>  ▸  PINN handles most of the simulation safely</a:t>
            </a:r>
          </a:p>
        </p:txBody>
      </p:sp>
      <p:pic>
        <p:nvPicPr>
          <p:cNvPr id="10" name="Picture 9" descr="residual_trace.png"/>
          <p:cNvPicPr>
            <a:picLocks noChangeAspect="1"/>
          </p:cNvPicPr>
          <p:nvPr/>
        </p:nvPicPr>
        <p:blipFill>
          <a:blip r:embed="rId2"/>
          <a:stretch>
            <a:fillRect/>
          </a:stretch>
        </p:blipFill>
        <p:spPr>
          <a:xfrm>
            <a:off x="365760" y="4526280"/>
            <a:ext cx="4114800" cy="1965960"/>
          </a:xfrm>
          <a:prstGeom prst="rect">
            <a:avLst/>
          </a:prstGeom>
        </p:spPr>
      </p:pic>
      <p:pic>
        <p:nvPicPr>
          <p:cNvPr id="11" name="Picture 10" descr="step_distribution.png"/>
          <p:cNvPicPr>
            <a:picLocks noChangeAspect="1"/>
          </p:cNvPicPr>
          <p:nvPr/>
        </p:nvPicPr>
        <p:blipFill>
          <a:blip r:embed="rId3"/>
          <a:stretch>
            <a:fillRect/>
          </a:stretch>
        </p:blipFill>
        <p:spPr>
          <a:xfrm>
            <a:off x="4572000" y="1170432"/>
            <a:ext cx="7406640" cy="53949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4 — Thermal Distortion at CMM Points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PINN temperature field → plane-stress FEM → distortion in mm</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L4</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5394960"/>
          </a:xfrm>
          <a:prstGeom prst="rect">
            <a:avLst/>
          </a:prstGeom>
          <a:noFill/>
        </p:spPr>
        <p:txBody>
          <a:bodyPr wrap="square">
            <a:spAutoFit/>
          </a:bodyPr>
          <a:lstStyle/>
          <a:p>
            <a:pPr>
              <a:spcBef>
                <a:spcPts val="400"/>
              </a:spcBef>
              <a:defRPr sz="1200">
                <a:solidFill>
                  <a:srgbClr val="424242"/>
                </a:solidFill>
              </a:defRPr>
            </a:pPr>
            <a:r>
              <a:t>Input: T(x,y,t=30s) from Level 3 PINN prediction</a:t>
            </a:r>
          </a:p>
          <a:p>
            <a:pPr>
              <a:spcBef>
                <a:spcPts val="400"/>
              </a:spcBef>
              <a:defRPr sz="1200">
                <a:solidFill>
                  <a:srgbClr val="424242"/>
                </a:solidFill>
              </a:defRPr>
            </a:pPr>
            <a:r>
              <a:t>Method: 2D plane-stress FEM with Q4 elements</a:t>
            </a:r>
          </a:p>
          <a:p>
            <a:pPr>
              <a:spcBef>
                <a:spcPts val="400"/>
              </a:spcBef>
              <a:defRPr sz="1200">
                <a:solidFill>
                  <a:srgbClr val="424242"/>
                </a:solidFill>
              </a:defRPr>
            </a:pPr>
            <a:r>
              <a:t>  • σ_thermal = E · α · ΔT,  where ΔT = T - T_room</a:t>
            </a:r>
          </a:p>
          <a:p>
            <a:pPr>
              <a:spcBef>
                <a:spcPts val="400"/>
              </a:spcBef>
              <a:defRPr sz="1200">
                <a:solidFill>
                  <a:srgbClr val="424242"/>
                </a:solidFill>
              </a:defRPr>
            </a:pPr>
            <a:r>
              <a:t>  • E = 69 GPa  (A356 elastic modulus)</a:t>
            </a:r>
          </a:p>
          <a:p>
            <a:pPr>
              <a:spcBef>
                <a:spcPts val="400"/>
              </a:spcBef>
              <a:defRPr sz="1200">
                <a:solidFill>
                  <a:srgbClr val="424242"/>
                </a:solidFill>
              </a:defRPr>
            </a:pPr>
            <a:r>
              <a:t>  • α = 22×10⁻⁶ /°C  (thermal expansion coefficient)</a:t>
            </a:r>
          </a:p>
          <a:p>
            <a:pPr>
              <a:spcBef>
                <a:spcPts val="400"/>
              </a:spcBef>
              <a:defRPr sz="1200">
                <a:solidFill>
                  <a:srgbClr val="424242"/>
                </a:solidFill>
              </a:defRPr>
            </a:pPr>
            <a:r>
              <a:t>Output: displacement δ (mm) at 47 CMM measurement points</a:t>
            </a:r>
          </a:p>
          <a:p>
            <a:pPr>
              <a:spcBef>
                <a:spcPts val="400"/>
              </a:spcBef>
              <a:defRPr sz="1200">
                <a:solidFill>
                  <a:srgbClr val="424242"/>
                </a:solidFill>
              </a:defRPr>
            </a:pPr>
            <a:r>
              <a:t>Reference: paper Fig 17/18  (Mortensen 2026)</a:t>
            </a:r>
          </a:p>
          <a:p>
            <a:pPr>
              <a:spcBef>
                <a:spcPts val="400"/>
              </a:spcBef>
              <a:defRPr sz="1200">
                <a:solidFill>
                  <a:srgbClr val="424242"/>
                </a:solidFill>
              </a:defRPr>
            </a:pPr>
          </a:p>
          <a:p>
            <a:pPr>
              <a:spcBef>
                <a:spcPts val="400"/>
              </a:spcBef>
              <a:defRPr sz="1200">
                <a:solidFill>
                  <a:srgbClr val="424242"/>
                </a:solidFill>
              </a:defRPr>
            </a:pPr>
            <a:r>
              <a:t>Results — Mean absolute distortion |δ|:</a:t>
            </a:r>
          </a:p>
          <a:p>
            <a:pPr>
              <a:spcBef>
                <a:spcPts val="400"/>
              </a:spcBef>
              <a:defRPr sz="1200">
                <a:solidFill>
                  <a:srgbClr val="424242"/>
                </a:solidFill>
              </a:defRPr>
            </a:pPr>
            <a:r>
              <a:t>  ▸  Paper measured:  0.78 mm  (physical experiment)</a:t>
            </a:r>
          </a:p>
          <a:p>
            <a:pPr>
              <a:spcBef>
                <a:spcPts val="400"/>
              </a:spcBef>
              <a:defRPr sz="1200">
                <a:solidFill>
                  <a:srgbClr val="424242"/>
                </a:solidFill>
              </a:defRPr>
            </a:pPr>
            <a:r>
              <a:t>  ▸  Paper FEM:       0.75 mm  (reference simulation)</a:t>
            </a:r>
          </a:p>
          <a:p>
            <a:pPr>
              <a:spcBef>
                <a:spcPts val="400"/>
              </a:spcBef>
              <a:defRPr sz="1200">
                <a:solidFill>
                  <a:srgbClr val="424242"/>
                </a:solidFill>
              </a:defRPr>
            </a:pPr>
            <a:r>
              <a:t>  ▸  Bayesian PINN:   1.67 mm  (closest PINN result)</a:t>
            </a:r>
          </a:p>
          <a:p>
            <a:pPr>
              <a:spcBef>
                <a:spcPts val="400"/>
              </a:spcBef>
              <a:defRPr sz="1200">
                <a:solidFill>
                  <a:srgbClr val="424242"/>
                </a:solidFill>
              </a:defRPr>
            </a:pPr>
            <a:r>
              <a:t>  ▸  NSGA-II PINN:    2.81 mm</a:t>
            </a:r>
          </a:p>
          <a:p>
            <a:pPr>
              <a:spcBef>
                <a:spcPts val="400"/>
              </a:spcBef>
              <a:defRPr sz="1200">
                <a:solidFill>
                  <a:srgbClr val="424242"/>
                </a:solidFill>
              </a:defRPr>
            </a:pPr>
            <a:r>
              <a:t>  ▸  NSGA-III PINN:   4.74 mm</a:t>
            </a:r>
          </a:p>
        </p:txBody>
      </p:sp>
      <p:pic>
        <p:nvPicPr>
          <p:cNvPr id="11" name="Picture 10" descr="pres_l4_distortion.png"/>
          <p:cNvPicPr>
            <a:picLocks noChangeAspect="1"/>
          </p:cNvPicPr>
          <p:nvPr/>
        </p:nvPicPr>
        <p:blipFill>
          <a:blip r:embed="rId2"/>
          <a:stretch>
            <a:fillRect/>
          </a:stretch>
        </p:blipFill>
        <p:spPr>
          <a:xfrm>
            <a:off x="5760720" y="1170432"/>
            <a:ext cx="6217920"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4 — CMM Point-by-Point Comparison vs Paper</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L4</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572000" cy="3474720"/>
          </a:xfrm>
          <a:prstGeom prst="rect">
            <a:avLst/>
          </a:prstGeom>
          <a:noFill/>
        </p:spPr>
        <p:txBody>
          <a:bodyPr wrap="square">
            <a:spAutoFit/>
          </a:bodyPr>
          <a:lstStyle/>
          <a:p>
            <a:pPr>
              <a:spcBef>
                <a:spcPts val="400"/>
              </a:spcBef>
              <a:defRPr sz="1200">
                <a:solidFill>
                  <a:srgbClr val="424242"/>
                </a:solidFill>
              </a:defRPr>
            </a:pPr>
            <a:r>
              <a:t>47 CMM points measured in paper (Fig 17 — bottom layer)</a:t>
            </a:r>
          </a:p>
          <a:p>
            <a:pPr>
              <a:spcBef>
                <a:spcPts val="400"/>
              </a:spcBef>
              <a:defRPr sz="1200">
                <a:solidFill>
                  <a:srgbClr val="424242"/>
                </a:solidFill>
              </a:defRPr>
            </a:pPr>
            <a:r>
              <a:t>Positive = material moved up, negative = moved down</a:t>
            </a:r>
          </a:p>
          <a:p>
            <a:pPr>
              <a:spcBef>
                <a:spcPts val="400"/>
              </a:spcBef>
              <a:defRPr sz="1200">
                <a:solidFill>
                  <a:srgbClr val="424242"/>
                </a:solidFill>
              </a:defRPr>
            </a:pPr>
            <a:r>
              <a:t>Paper FEM matches measurements well (MAE = 0.18 mm)</a:t>
            </a:r>
          </a:p>
          <a:p>
            <a:pPr>
              <a:spcBef>
                <a:spcPts val="400"/>
              </a:spcBef>
              <a:defRPr sz="1200">
                <a:solidFill>
                  <a:srgbClr val="424242"/>
                </a:solidFill>
              </a:defRPr>
            </a:pPr>
            <a:r>
              <a:t>Bayesian PINN: MAE vs measured = 1.14 mm</a:t>
            </a:r>
          </a:p>
          <a:p>
            <a:pPr>
              <a:spcBef>
                <a:spcPts val="400"/>
              </a:spcBef>
              <a:defRPr sz="1200">
                <a:solidFill>
                  <a:srgbClr val="424242"/>
                </a:solidFill>
              </a:defRPr>
            </a:pPr>
            <a:r>
              <a:t>Error comes from temperature field approximation, not FEM solver</a:t>
            </a:r>
          </a:p>
          <a:p>
            <a:pPr>
              <a:spcBef>
                <a:spcPts val="400"/>
              </a:spcBef>
              <a:defRPr sz="1200">
                <a:solidFill>
                  <a:srgbClr val="424242"/>
                </a:solidFill>
              </a:defRPr>
            </a:pPr>
          </a:p>
          <a:p>
            <a:pPr>
              <a:spcBef>
                <a:spcPts val="400"/>
              </a:spcBef>
              <a:defRPr sz="1200">
                <a:solidFill>
                  <a:srgbClr val="424242"/>
                </a:solidFill>
              </a:defRPr>
            </a:pPr>
            <a:r>
              <a:t>Next step to improve: better PINN temperature accuracy</a:t>
            </a:r>
          </a:p>
          <a:p>
            <a:pPr>
              <a:spcBef>
                <a:spcPts val="400"/>
              </a:spcBef>
              <a:defRPr sz="1200">
                <a:solidFill>
                  <a:srgbClr val="424242"/>
                </a:solidFill>
              </a:defRPr>
            </a:pPr>
            <a:r>
              <a:t>  (Level 5 extended training reduces L2 from 0.076 to 0.030)</a:t>
            </a:r>
          </a:p>
        </p:txBody>
      </p:sp>
      <p:pic>
        <p:nvPicPr>
          <p:cNvPr id="10" name="Picture 9" descr="paper_comparison_signed.png"/>
          <p:cNvPicPr>
            <a:picLocks noChangeAspect="1"/>
          </p:cNvPicPr>
          <p:nvPr/>
        </p:nvPicPr>
        <p:blipFill>
          <a:blip r:embed="rId2"/>
          <a:stretch>
            <a:fillRect/>
          </a:stretch>
        </p:blipFill>
        <p:spPr>
          <a:xfrm>
            <a:off x="4754880" y="1078992"/>
            <a:ext cx="7223760" cy="55778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5 — Extended Adam Training: L2 Improvement</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Re-train Level 1 models with cosine LR for 20 000 epochs</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L5</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03520" cy="292608"/>
          </a:xfrm>
          <a:prstGeom prst="rect">
            <a:avLst/>
          </a:prstGeom>
          <a:noFill/>
        </p:spPr>
        <p:txBody>
          <a:bodyPr wrap="square">
            <a:spAutoFit/>
          </a:bodyPr>
          <a:lstStyle/>
          <a:p>
            <a:pPr algn="l"/>
            <a:r>
              <a:rPr sz="1200" b="1" i="0">
                <a:solidFill>
                  <a:srgbClr val="1565C0"/>
                </a:solidFill>
              </a:rPr>
              <a:t>Method</a:t>
            </a:r>
          </a:p>
        </p:txBody>
      </p:sp>
      <p:sp>
        <p:nvSpPr>
          <p:cNvPr id="11" name="TextBox 10"/>
          <p:cNvSpPr txBox="1"/>
          <p:nvPr/>
        </p:nvSpPr>
        <p:spPr>
          <a:xfrm>
            <a:off x="365760" y="1490472"/>
            <a:ext cx="5303520" cy="2880360"/>
          </a:xfrm>
          <a:prstGeom prst="rect">
            <a:avLst/>
          </a:prstGeom>
          <a:noFill/>
        </p:spPr>
        <p:txBody>
          <a:bodyPr wrap="square">
            <a:spAutoFit/>
          </a:bodyPr>
          <a:lstStyle/>
          <a:p>
            <a:pPr>
              <a:spcBef>
                <a:spcPts val="400"/>
              </a:spcBef>
              <a:defRPr sz="1200">
                <a:solidFill>
                  <a:srgbClr val="424242"/>
                </a:solidFill>
              </a:defRPr>
            </a:pPr>
            <a:r>
              <a:t>Same architectures as Level 1</a:t>
            </a:r>
          </a:p>
          <a:p>
            <a:pPr>
              <a:spcBef>
                <a:spcPts val="400"/>
              </a:spcBef>
              <a:defRPr sz="1200">
                <a:solidFill>
                  <a:srgbClr val="424242"/>
                </a:solidFill>
              </a:defRPr>
            </a:pPr>
            <a:r>
              <a:t>Training: Adam 20 000 epochs with cosine LR: 1×10⁻³ → 1×10⁻⁵</a:t>
            </a:r>
          </a:p>
          <a:p>
            <a:pPr>
              <a:spcBef>
                <a:spcPts val="400"/>
              </a:spcBef>
              <a:defRPr sz="1200">
                <a:solidFill>
                  <a:srgbClr val="424242"/>
                </a:solidFill>
              </a:defRPr>
            </a:pPr>
            <a:r>
              <a:t>Goal: squeeze more accuracy from existing architectures</a:t>
            </a:r>
          </a:p>
          <a:p>
            <a:pPr>
              <a:spcBef>
                <a:spcPts val="400"/>
              </a:spcBef>
              <a:defRPr sz="1200">
                <a:solidFill>
                  <a:srgbClr val="424242"/>
                </a:solidFill>
              </a:defRPr>
            </a:pPr>
          </a:p>
          <a:p>
            <a:pPr>
              <a:spcBef>
                <a:spcPts val="400"/>
              </a:spcBef>
              <a:defRPr sz="1200">
                <a:solidFill>
                  <a:srgbClr val="424242"/>
                </a:solidFill>
              </a:defRPr>
            </a:pPr>
            <a:r>
              <a:t>Note: L-BFGS was tested but did not improve results in this setup</a:t>
            </a:r>
          </a:p>
          <a:p>
            <a:pPr>
              <a:spcBef>
                <a:spcPts val="400"/>
              </a:spcBef>
              <a:defRPr sz="1200">
                <a:solidFill>
                  <a:srgbClr val="424242"/>
                </a:solidFill>
              </a:defRPr>
            </a:pPr>
            <a:r>
              <a:t>(lbfgs_iters=0 — the Adam solution was already in a flat region)</a:t>
            </a:r>
          </a:p>
          <a:p>
            <a:pPr>
              <a:spcBef>
                <a:spcPts val="400"/>
              </a:spcBef>
              <a:defRPr sz="1200">
                <a:solidFill>
                  <a:srgbClr val="424242"/>
                </a:solidFill>
              </a:defRPr>
            </a:pPr>
            <a:r>
              <a:t>Extended cosine LR is the source of improvement here.</a:t>
            </a:r>
          </a:p>
        </p:txBody>
      </p:sp>
      <p:sp>
        <p:nvSpPr>
          <p:cNvPr id="12" name="Rectangle 11"/>
          <p:cNvSpPr/>
          <p:nvPr/>
        </p:nvSpPr>
        <p:spPr>
          <a:xfrm>
            <a:off x="365760" y="4480560"/>
            <a:ext cx="18013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535424"/>
            <a:ext cx="1737360" cy="365760"/>
          </a:xfrm>
          <a:prstGeom prst="rect">
            <a:avLst/>
          </a:prstGeom>
          <a:noFill/>
        </p:spPr>
        <p:txBody>
          <a:bodyPr wrap="square">
            <a:spAutoFit/>
          </a:bodyPr>
          <a:lstStyle/>
          <a:p>
            <a:pPr algn="ctr"/>
            <a:r>
              <a:rPr sz="900" b="1" i="0">
                <a:solidFill>
                  <a:srgbClr val="FFFFFF"/>
                </a:solidFill>
              </a:rPr>
              <a:t>Optimizer</a:t>
            </a:r>
          </a:p>
        </p:txBody>
      </p:sp>
      <p:sp>
        <p:nvSpPr>
          <p:cNvPr id="14" name="Rectangle 13"/>
          <p:cNvSpPr/>
          <p:nvPr/>
        </p:nvSpPr>
        <p:spPr>
          <a:xfrm>
            <a:off x="2194560" y="4480560"/>
            <a:ext cx="10698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40280" y="4535424"/>
            <a:ext cx="1005840" cy="365760"/>
          </a:xfrm>
          <a:prstGeom prst="rect">
            <a:avLst/>
          </a:prstGeom>
          <a:noFill/>
        </p:spPr>
        <p:txBody>
          <a:bodyPr wrap="square">
            <a:spAutoFit/>
          </a:bodyPr>
          <a:lstStyle/>
          <a:p>
            <a:pPr algn="ctr"/>
            <a:r>
              <a:rPr sz="900" b="1" i="0">
                <a:solidFill>
                  <a:srgbClr val="FFFFFF"/>
                </a:solidFill>
              </a:rPr>
              <a:t>L1 L2_rel</a:t>
            </a:r>
          </a:p>
        </p:txBody>
      </p:sp>
      <p:sp>
        <p:nvSpPr>
          <p:cNvPr id="16" name="Rectangle 15"/>
          <p:cNvSpPr/>
          <p:nvPr/>
        </p:nvSpPr>
        <p:spPr>
          <a:xfrm>
            <a:off x="3291840" y="4480560"/>
            <a:ext cx="116128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4535424"/>
            <a:ext cx="1097280" cy="365760"/>
          </a:xfrm>
          <a:prstGeom prst="rect">
            <a:avLst/>
          </a:prstGeom>
          <a:noFill/>
        </p:spPr>
        <p:txBody>
          <a:bodyPr wrap="square">
            <a:spAutoFit/>
          </a:bodyPr>
          <a:lstStyle/>
          <a:p>
            <a:pPr algn="ctr"/>
            <a:r>
              <a:rPr sz="900" b="1" i="0">
                <a:solidFill>
                  <a:srgbClr val="FFFFFF"/>
                </a:solidFill>
              </a:rPr>
              <a:t>L1 MAE</a:t>
            </a:r>
          </a:p>
        </p:txBody>
      </p:sp>
      <p:sp>
        <p:nvSpPr>
          <p:cNvPr id="18" name="Rectangle 17"/>
          <p:cNvSpPr/>
          <p:nvPr/>
        </p:nvSpPr>
        <p:spPr>
          <a:xfrm>
            <a:off x="4480560" y="4480560"/>
            <a:ext cx="11155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535424"/>
            <a:ext cx="1051560" cy="365760"/>
          </a:xfrm>
          <a:prstGeom prst="rect">
            <a:avLst/>
          </a:prstGeom>
          <a:noFill/>
        </p:spPr>
        <p:txBody>
          <a:bodyPr wrap="square">
            <a:spAutoFit/>
          </a:bodyPr>
          <a:lstStyle/>
          <a:p>
            <a:pPr algn="ctr"/>
            <a:r>
              <a:rPr sz="900" b="1" i="0">
                <a:solidFill>
                  <a:srgbClr val="FFFFFF"/>
                </a:solidFill>
              </a:rPr>
              <a:t>L5 L2_rel</a:t>
            </a:r>
          </a:p>
        </p:txBody>
      </p:sp>
      <p:sp>
        <p:nvSpPr>
          <p:cNvPr id="20" name="Rectangle 19"/>
          <p:cNvSpPr/>
          <p:nvPr/>
        </p:nvSpPr>
        <p:spPr>
          <a:xfrm>
            <a:off x="5623560" y="4480560"/>
            <a:ext cx="12070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0" y="4535424"/>
            <a:ext cx="1143000" cy="365760"/>
          </a:xfrm>
          <a:prstGeom prst="rect">
            <a:avLst/>
          </a:prstGeom>
          <a:noFill/>
        </p:spPr>
        <p:txBody>
          <a:bodyPr wrap="square">
            <a:spAutoFit/>
          </a:bodyPr>
          <a:lstStyle/>
          <a:p>
            <a:pPr algn="ctr"/>
            <a:r>
              <a:rPr sz="900" b="1" i="0">
                <a:solidFill>
                  <a:srgbClr val="FFFFFF"/>
                </a:solidFill>
              </a:rPr>
              <a:t>L5 MAE</a:t>
            </a:r>
          </a:p>
        </p:txBody>
      </p:sp>
      <p:sp>
        <p:nvSpPr>
          <p:cNvPr id="22" name="Rectangle 21"/>
          <p:cNvSpPr/>
          <p:nvPr/>
        </p:nvSpPr>
        <p:spPr>
          <a:xfrm>
            <a:off x="6858000" y="4480560"/>
            <a:ext cx="12527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535424"/>
            <a:ext cx="1188720" cy="365760"/>
          </a:xfrm>
          <a:prstGeom prst="rect">
            <a:avLst/>
          </a:prstGeom>
          <a:noFill/>
        </p:spPr>
        <p:txBody>
          <a:bodyPr wrap="square">
            <a:spAutoFit/>
          </a:bodyPr>
          <a:lstStyle/>
          <a:p>
            <a:pPr algn="ctr"/>
            <a:r>
              <a:rPr sz="900" b="1" i="0">
                <a:solidFill>
                  <a:srgbClr val="FFFFFF"/>
                </a:solidFill>
              </a:rPr>
              <a:t>Improvement</a:t>
            </a:r>
          </a:p>
        </p:txBody>
      </p:sp>
      <p:sp>
        <p:nvSpPr>
          <p:cNvPr id="24" name="Rectangle 23"/>
          <p:cNvSpPr/>
          <p:nvPr/>
        </p:nvSpPr>
        <p:spPr>
          <a:xfrm>
            <a:off x="365760" y="4937760"/>
            <a:ext cx="18013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4992624"/>
            <a:ext cx="1737360" cy="365760"/>
          </a:xfrm>
          <a:prstGeom prst="rect">
            <a:avLst/>
          </a:prstGeom>
          <a:noFill/>
        </p:spPr>
        <p:txBody>
          <a:bodyPr wrap="square">
            <a:spAutoFit/>
          </a:bodyPr>
          <a:lstStyle/>
          <a:p>
            <a:pPr algn="ctr"/>
            <a:r>
              <a:rPr sz="1000" b="0" i="0">
                <a:solidFill>
                  <a:srgbClr val="424242"/>
                </a:solidFill>
              </a:rPr>
              <a:t>Bayesian 5×151</a:t>
            </a:r>
          </a:p>
        </p:txBody>
      </p:sp>
      <p:sp>
        <p:nvSpPr>
          <p:cNvPr id="26" name="Rectangle 25"/>
          <p:cNvSpPr/>
          <p:nvPr/>
        </p:nvSpPr>
        <p:spPr>
          <a:xfrm>
            <a:off x="2194560" y="4937760"/>
            <a:ext cx="10698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4992624"/>
            <a:ext cx="1005840" cy="365760"/>
          </a:xfrm>
          <a:prstGeom prst="rect">
            <a:avLst/>
          </a:prstGeom>
          <a:noFill/>
        </p:spPr>
        <p:txBody>
          <a:bodyPr wrap="square">
            <a:spAutoFit/>
          </a:bodyPr>
          <a:lstStyle/>
          <a:p>
            <a:pPr algn="ctr"/>
            <a:r>
              <a:rPr sz="1000" b="0" i="0">
                <a:solidFill>
                  <a:srgbClr val="424242"/>
                </a:solidFill>
              </a:rPr>
              <a:t>0.076</a:t>
            </a:r>
          </a:p>
        </p:txBody>
      </p:sp>
      <p:sp>
        <p:nvSpPr>
          <p:cNvPr id="28" name="Rectangle 27"/>
          <p:cNvSpPr/>
          <p:nvPr/>
        </p:nvSpPr>
        <p:spPr>
          <a:xfrm>
            <a:off x="3291840" y="4937760"/>
            <a:ext cx="116128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4992624"/>
            <a:ext cx="1097280" cy="365760"/>
          </a:xfrm>
          <a:prstGeom prst="rect">
            <a:avLst/>
          </a:prstGeom>
          <a:noFill/>
        </p:spPr>
        <p:txBody>
          <a:bodyPr wrap="square">
            <a:spAutoFit/>
          </a:bodyPr>
          <a:lstStyle/>
          <a:p>
            <a:pPr algn="ctr"/>
            <a:r>
              <a:rPr sz="1000" b="0" i="0">
                <a:solidFill>
                  <a:srgbClr val="424242"/>
                </a:solidFill>
              </a:rPr>
              <a:t>39.1°C</a:t>
            </a:r>
          </a:p>
        </p:txBody>
      </p:sp>
      <p:sp>
        <p:nvSpPr>
          <p:cNvPr id="30" name="Rectangle 29"/>
          <p:cNvSpPr/>
          <p:nvPr/>
        </p:nvSpPr>
        <p:spPr>
          <a:xfrm>
            <a:off x="4480560" y="4937760"/>
            <a:ext cx="11155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4992624"/>
            <a:ext cx="1051560" cy="365760"/>
          </a:xfrm>
          <a:prstGeom prst="rect">
            <a:avLst/>
          </a:prstGeom>
          <a:noFill/>
        </p:spPr>
        <p:txBody>
          <a:bodyPr wrap="square">
            <a:spAutoFit/>
          </a:bodyPr>
          <a:lstStyle/>
          <a:p>
            <a:pPr algn="ctr"/>
            <a:r>
              <a:rPr sz="1000" b="0" i="0">
                <a:solidFill>
                  <a:srgbClr val="424242"/>
                </a:solidFill>
              </a:rPr>
              <a:t>0.030 ✓</a:t>
            </a:r>
          </a:p>
        </p:txBody>
      </p:sp>
      <p:sp>
        <p:nvSpPr>
          <p:cNvPr id="32" name="Rectangle 31"/>
          <p:cNvSpPr/>
          <p:nvPr/>
        </p:nvSpPr>
        <p:spPr>
          <a:xfrm>
            <a:off x="5623560" y="4937760"/>
            <a:ext cx="12070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0" y="4992624"/>
            <a:ext cx="1143000" cy="365760"/>
          </a:xfrm>
          <a:prstGeom prst="rect">
            <a:avLst/>
          </a:prstGeom>
          <a:noFill/>
        </p:spPr>
        <p:txBody>
          <a:bodyPr wrap="square">
            <a:spAutoFit/>
          </a:bodyPr>
          <a:lstStyle/>
          <a:p>
            <a:pPr algn="ctr"/>
            <a:r>
              <a:rPr sz="1000" b="0" i="0">
                <a:solidFill>
                  <a:srgbClr val="424242"/>
                </a:solidFill>
              </a:rPr>
              <a:t>14.4°C ✓</a:t>
            </a:r>
          </a:p>
        </p:txBody>
      </p:sp>
      <p:sp>
        <p:nvSpPr>
          <p:cNvPr id="34" name="Rectangle 33"/>
          <p:cNvSpPr/>
          <p:nvPr/>
        </p:nvSpPr>
        <p:spPr>
          <a:xfrm>
            <a:off x="6858000" y="4937760"/>
            <a:ext cx="12527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4992624"/>
            <a:ext cx="1188720" cy="365760"/>
          </a:xfrm>
          <a:prstGeom prst="rect">
            <a:avLst/>
          </a:prstGeom>
          <a:noFill/>
        </p:spPr>
        <p:txBody>
          <a:bodyPr wrap="square">
            <a:spAutoFit/>
          </a:bodyPr>
          <a:lstStyle/>
          <a:p>
            <a:pPr algn="ctr"/>
            <a:r>
              <a:rPr sz="1000" b="0" i="0">
                <a:solidFill>
                  <a:srgbClr val="424242"/>
                </a:solidFill>
              </a:rPr>
              <a:t>2.6× ↓</a:t>
            </a:r>
          </a:p>
        </p:txBody>
      </p:sp>
      <p:sp>
        <p:nvSpPr>
          <p:cNvPr id="36" name="Rectangle 35"/>
          <p:cNvSpPr/>
          <p:nvPr/>
        </p:nvSpPr>
        <p:spPr>
          <a:xfrm>
            <a:off x="365760" y="5394960"/>
            <a:ext cx="18013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5449824"/>
            <a:ext cx="1737360" cy="365760"/>
          </a:xfrm>
          <a:prstGeom prst="rect">
            <a:avLst/>
          </a:prstGeom>
          <a:noFill/>
        </p:spPr>
        <p:txBody>
          <a:bodyPr wrap="square">
            <a:spAutoFit/>
          </a:bodyPr>
          <a:lstStyle/>
          <a:p>
            <a:pPr algn="ctr"/>
            <a:r>
              <a:rPr sz="1000" b="0" i="0">
                <a:solidFill>
                  <a:srgbClr val="424242"/>
                </a:solidFill>
              </a:rPr>
              <a:t>NSGA-II 3×153</a:t>
            </a:r>
          </a:p>
        </p:txBody>
      </p:sp>
      <p:sp>
        <p:nvSpPr>
          <p:cNvPr id="38" name="Rectangle 37"/>
          <p:cNvSpPr/>
          <p:nvPr/>
        </p:nvSpPr>
        <p:spPr>
          <a:xfrm>
            <a:off x="2194560" y="5394960"/>
            <a:ext cx="10698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0280" y="5449824"/>
            <a:ext cx="1005840" cy="365760"/>
          </a:xfrm>
          <a:prstGeom prst="rect">
            <a:avLst/>
          </a:prstGeom>
          <a:noFill/>
        </p:spPr>
        <p:txBody>
          <a:bodyPr wrap="square">
            <a:spAutoFit/>
          </a:bodyPr>
          <a:lstStyle/>
          <a:p>
            <a:pPr algn="ctr"/>
            <a:r>
              <a:rPr sz="1000" b="0" i="0">
                <a:solidFill>
                  <a:srgbClr val="424242"/>
                </a:solidFill>
              </a:rPr>
              <a:t>0.252</a:t>
            </a:r>
          </a:p>
        </p:txBody>
      </p:sp>
      <p:sp>
        <p:nvSpPr>
          <p:cNvPr id="40" name="Rectangle 39"/>
          <p:cNvSpPr/>
          <p:nvPr/>
        </p:nvSpPr>
        <p:spPr>
          <a:xfrm>
            <a:off x="3291840" y="5394960"/>
            <a:ext cx="116128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37560" y="5449824"/>
            <a:ext cx="1097280" cy="365760"/>
          </a:xfrm>
          <a:prstGeom prst="rect">
            <a:avLst/>
          </a:prstGeom>
          <a:noFill/>
        </p:spPr>
        <p:txBody>
          <a:bodyPr wrap="square">
            <a:spAutoFit/>
          </a:bodyPr>
          <a:lstStyle/>
          <a:p>
            <a:pPr algn="ctr"/>
            <a:r>
              <a:rPr sz="1000" b="0" i="0">
                <a:solidFill>
                  <a:srgbClr val="424242"/>
                </a:solidFill>
              </a:rPr>
              <a:t>132.6°C</a:t>
            </a:r>
          </a:p>
        </p:txBody>
      </p:sp>
      <p:sp>
        <p:nvSpPr>
          <p:cNvPr id="42" name="Rectangle 41"/>
          <p:cNvSpPr/>
          <p:nvPr/>
        </p:nvSpPr>
        <p:spPr>
          <a:xfrm>
            <a:off x="4480560" y="5394960"/>
            <a:ext cx="11155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26280" y="5449824"/>
            <a:ext cx="1051560" cy="365760"/>
          </a:xfrm>
          <a:prstGeom prst="rect">
            <a:avLst/>
          </a:prstGeom>
          <a:noFill/>
        </p:spPr>
        <p:txBody>
          <a:bodyPr wrap="square">
            <a:spAutoFit/>
          </a:bodyPr>
          <a:lstStyle/>
          <a:p>
            <a:pPr algn="ctr"/>
            <a:r>
              <a:rPr sz="1000" b="0" i="0">
                <a:solidFill>
                  <a:srgbClr val="424242"/>
                </a:solidFill>
              </a:rPr>
              <a:t>0.055 ✓</a:t>
            </a:r>
          </a:p>
        </p:txBody>
      </p:sp>
      <p:sp>
        <p:nvSpPr>
          <p:cNvPr id="44" name="Rectangle 43"/>
          <p:cNvSpPr/>
          <p:nvPr/>
        </p:nvSpPr>
        <p:spPr>
          <a:xfrm>
            <a:off x="5623560" y="5394960"/>
            <a:ext cx="12070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0" y="5449824"/>
            <a:ext cx="1143000" cy="365760"/>
          </a:xfrm>
          <a:prstGeom prst="rect">
            <a:avLst/>
          </a:prstGeom>
          <a:noFill/>
        </p:spPr>
        <p:txBody>
          <a:bodyPr wrap="square">
            <a:spAutoFit/>
          </a:bodyPr>
          <a:lstStyle/>
          <a:p>
            <a:pPr algn="ctr"/>
            <a:r>
              <a:rPr sz="1000" b="0" i="0">
                <a:solidFill>
                  <a:srgbClr val="424242"/>
                </a:solidFill>
              </a:rPr>
              <a:t>28.7°C ✓</a:t>
            </a:r>
          </a:p>
        </p:txBody>
      </p:sp>
      <p:sp>
        <p:nvSpPr>
          <p:cNvPr id="46" name="Rectangle 45"/>
          <p:cNvSpPr/>
          <p:nvPr/>
        </p:nvSpPr>
        <p:spPr>
          <a:xfrm>
            <a:off x="6858000" y="5394960"/>
            <a:ext cx="12527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03720" y="5449824"/>
            <a:ext cx="1188720" cy="365760"/>
          </a:xfrm>
          <a:prstGeom prst="rect">
            <a:avLst/>
          </a:prstGeom>
          <a:noFill/>
        </p:spPr>
        <p:txBody>
          <a:bodyPr wrap="square">
            <a:spAutoFit/>
          </a:bodyPr>
          <a:lstStyle/>
          <a:p>
            <a:pPr algn="ctr"/>
            <a:r>
              <a:rPr sz="1000" b="0" i="0">
                <a:solidFill>
                  <a:srgbClr val="424242"/>
                </a:solidFill>
              </a:rPr>
              <a:t>4.5× ↓</a:t>
            </a:r>
          </a:p>
        </p:txBody>
      </p:sp>
      <p:sp>
        <p:nvSpPr>
          <p:cNvPr id="48" name="Rectangle 47"/>
          <p:cNvSpPr/>
          <p:nvPr/>
        </p:nvSpPr>
        <p:spPr>
          <a:xfrm>
            <a:off x="365760" y="5852160"/>
            <a:ext cx="180136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5907024"/>
            <a:ext cx="1737360" cy="365760"/>
          </a:xfrm>
          <a:prstGeom prst="rect">
            <a:avLst/>
          </a:prstGeom>
          <a:noFill/>
        </p:spPr>
        <p:txBody>
          <a:bodyPr wrap="square">
            <a:spAutoFit/>
          </a:bodyPr>
          <a:lstStyle/>
          <a:p>
            <a:pPr algn="ctr"/>
            <a:r>
              <a:rPr sz="1000" b="0" i="0">
                <a:solidFill>
                  <a:srgbClr val="424242"/>
                </a:solidFill>
              </a:rPr>
              <a:t>NSGA-III 3×75</a:t>
            </a:r>
          </a:p>
        </p:txBody>
      </p:sp>
      <p:sp>
        <p:nvSpPr>
          <p:cNvPr id="50" name="Rectangle 49"/>
          <p:cNvSpPr/>
          <p:nvPr/>
        </p:nvSpPr>
        <p:spPr>
          <a:xfrm>
            <a:off x="2194560" y="5852160"/>
            <a:ext cx="106984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40280" y="5907024"/>
            <a:ext cx="1005840" cy="365760"/>
          </a:xfrm>
          <a:prstGeom prst="rect">
            <a:avLst/>
          </a:prstGeom>
          <a:noFill/>
        </p:spPr>
        <p:txBody>
          <a:bodyPr wrap="square">
            <a:spAutoFit/>
          </a:bodyPr>
          <a:lstStyle/>
          <a:p>
            <a:pPr algn="ctr"/>
            <a:r>
              <a:rPr sz="1000" b="0" i="0">
                <a:solidFill>
                  <a:srgbClr val="424242"/>
                </a:solidFill>
              </a:rPr>
              <a:t>0.513</a:t>
            </a:r>
          </a:p>
        </p:txBody>
      </p:sp>
      <p:sp>
        <p:nvSpPr>
          <p:cNvPr id="52" name="Rectangle 51"/>
          <p:cNvSpPr/>
          <p:nvPr/>
        </p:nvSpPr>
        <p:spPr>
          <a:xfrm>
            <a:off x="3291840" y="5852160"/>
            <a:ext cx="116128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37560" y="5907024"/>
            <a:ext cx="1097280" cy="365760"/>
          </a:xfrm>
          <a:prstGeom prst="rect">
            <a:avLst/>
          </a:prstGeom>
          <a:noFill/>
        </p:spPr>
        <p:txBody>
          <a:bodyPr wrap="square">
            <a:spAutoFit/>
          </a:bodyPr>
          <a:lstStyle/>
          <a:p>
            <a:pPr algn="ctr"/>
            <a:r>
              <a:rPr sz="1000" b="0" i="0">
                <a:solidFill>
                  <a:srgbClr val="424242"/>
                </a:solidFill>
              </a:rPr>
              <a:t>270.3°C</a:t>
            </a:r>
          </a:p>
        </p:txBody>
      </p:sp>
      <p:sp>
        <p:nvSpPr>
          <p:cNvPr id="54" name="Rectangle 53"/>
          <p:cNvSpPr/>
          <p:nvPr/>
        </p:nvSpPr>
        <p:spPr>
          <a:xfrm>
            <a:off x="4480560" y="5852160"/>
            <a:ext cx="111556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26280" y="5907024"/>
            <a:ext cx="1051560" cy="365760"/>
          </a:xfrm>
          <a:prstGeom prst="rect">
            <a:avLst/>
          </a:prstGeom>
          <a:noFill/>
        </p:spPr>
        <p:txBody>
          <a:bodyPr wrap="square">
            <a:spAutoFit/>
          </a:bodyPr>
          <a:lstStyle/>
          <a:p>
            <a:pPr algn="ctr"/>
            <a:r>
              <a:rPr sz="1000" b="0" i="0">
                <a:solidFill>
                  <a:srgbClr val="424242"/>
                </a:solidFill>
              </a:rPr>
              <a:t>0.259</a:t>
            </a:r>
          </a:p>
        </p:txBody>
      </p:sp>
      <p:sp>
        <p:nvSpPr>
          <p:cNvPr id="56" name="Rectangle 55"/>
          <p:cNvSpPr/>
          <p:nvPr/>
        </p:nvSpPr>
        <p:spPr>
          <a:xfrm>
            <a:off x="5623560" y="5852160"/>
            <a:ext cx="12070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69280" y="5907024"/>
            <a:ext cx="1143000" cy="365760"/>
          </a:xfrm>
          <a:prstGeom prst="rect">
            <a:avLst/>
          </a:prstGeom>
          <a:noFill/>
        </p:spPr>
        <p:txBody>
          <a:bodyPr wrap="square">
            <a:spAutoFit/>
          </a:bodyPr>
          <a:lstStyle/>
          <a:p>
            <a:pPr algn="ctr"/>
            <a:r>
              <a:rPr sz="1000" b="0" i="0">
                <a:solidFill>
                  <a:srgbClr val="424242"/>
                </a:solidFill>
              </a:rPr>
              <a:t>136.4°C</a:t>
            </a:r>
          </a:p>
        </p:txBody>
      </p:sp>
      <p:sp>
        <p:nvSpPr>
          <p:cNvPr id="58" name="Rectangle 57"/>
          <p:cNvSpPr/>
          <p:nvPr/>
        </p:nvSpPr>
        <p:spPr>
          <a:xfrm>
            <a:off x="6858000" y="5852160"/>
            <a:ext cx="125272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903720" y="5907024"/>
            <a:ext cx="1188720" cy="365760"/>
          </a:xfrm>
          <a:prstGeom prst="rect">
            <a:avLst/>
          </a:prstGeom>
          <a:noFill/>
        </p:spPr>
        <p:txBody>
          <a:bodyPr wrap="square">
            <a:spAutoFit/>
          </a:bodyPr>
          <a:lstStyle/>
          <a:p>
            <a:pPr algn="ctr"/>
            <a:r>
              <a:rPr sz="1000" b="0" i="0">
                <a:solidFill>
                  <a:srgbClr val="424242"/>
                </a:solidFill>
              </a:rPr>
              <a:t>2.0× ↓</a:t>
            </a:r>
          </a:p>
        </p:txBody>
      </p:sp>
      <p:sp>
        <p:nvSpPr>
          <p:cNvPr id="60" name="Rectangle 59"/>
          <p:cNvSpPr/>
          <p:nvPr/>
        </p:nvSpPr>
        <p:spPr>
          <a:xfrm>
            <a:off x="365760" y="6309360"/>
            <a:ext cx="180136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364224"/>
            <a:ext cx="1737360" cy="365760"/>
          </a:xfrm>
          <a:prstGeom prst="rect">
            <a:avLst/>
          </a:prstGeom>
          <a:noFill/>
        </p:spPr>
        <p:txBody>
          <a:bodyPr wrap="square">
            <a:spAutoFit/>
          </a:bodyPr>
          <a:lstStyle/>
          <a:p>
            <a:pPr algn="ctr"/>
            <a:r>
              <a:rPr sz="1000" b="0" i="0">
                <a:solidFill>
                  <a:srgbClr val="1B5E20"/>
                </a:solidFill>
              </a:rPr>
              <a:t>Target</a:t>
            </a:r>
          </a:p>
        </p:txBody>
      </p:sp>
      <p:sp>
        <p:nvSpPr>
          <p:cNvPr id="62" name="Rectangle 61"/>
          <p:cNvSpPr/>
          <p:nvPr/>
        </p:nvSpPr>
        <p:spPr>
          <a:xfrm>
            <a:off x="2194560" y="6309360"/>
            <a:ext cx="106984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40280" y="6364224"/>
            <a:ext cx="1005840" cy="365760"/>
          </a:xfrm>
          <a:prstGeom prst="rect">
            <a:avLst/>
          </a:prstGeom>
          <a:noFill/>
        </p:spPr>
        <p:txBody>
          <a:bodyPr wrap="square">
            <a:spAutoFit/>
          </a:bodyPr>
          <a:lstStyle/>
          <a:p>
            <a:pPr algn="ctr"/>
            <a:r>
              <a:rPr sz="1000" b="0" i="0">
                <a:solidFill>
                  <a:srgbClr val="1B5E20"/>
                </a:solidFill>
              </a:rPr>
              <a:t>—</a:t>
            </a:r>
          </a:p>
        </p:txBody>
      </p:sp>
      <p:sp>
        <p:nvSpPr>
          <p:cNvPr id="64" name="Rectangle 63"/>
          <p:cNvSpPr/>
          <p:nvPr/>
        </p:nvSpPr>
        <p:spPr>
          <a:xfrm>
            <a:off x="3291840" y="6309360"/>
            <a:ext cx="116128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37560" y="6364224"/>
            <a:ext cx="1097280" cy="365760"/>
          </a:xfrm>
          <a:prstGeom prst="rect">
            <a:avLst/>
          </a:prstGeom>
          <a:noFill/>
        </p:spPr>
        <p:txBody>
          <a:bodyPr wrap="square">
            <a:spAutoFit/>
          </a:bodyPr>
          <a:lstStyle/>
          <a:p>
            <a:pPr algn="ctr"/>
            <a:r>
              <a:rPr sz="1000" b="0" i="0">
                <a:solidFill>
                  <a:srgbClr val="1B5E20"/>
                </a:solidFill>
              </a:rPr>
              <a:t>—</a:t>
            </a:r>
          </a:p>
        </p:txBody>
      </p:sp>
      <p:sp>
        <p:nvSpPr>
          <p:cNvPr id="66" name="Rectangle 65"/>
          <p:cNvSpPr/>
          <p:nvPr/>
        </p:nvSpPr>
        <p:spPr>
          <a:xfrm>
            <a:off x="4480560" y="6309360"/>
            <a:ext cx="111556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26280" y="6364224"/>
            <a:ext cx="1051560" cy="365760"/>
          </a:xfrm>
          <a:prstGeom prst="rect">
            <a:avLst/>
          </a:prstGeom>
          <a:noFill/>
        </p:spPr>
        <p:txBody>
          <a:bodyPr wrap="square">
            <a:spAutoFit/>
          </a:bodyPr>
          <a:lstStyle/>
          <a:p>
            <a:pPr algn="ctr"/>
            <a:r>
              <a:rPr sz="1000" b="0" i="0">
                <a:solidFill>
                  <a:srgbClr val="1B5E20"/>
                </a:solidFill>
              </a:rPr>
              <a:t>&lt; 0.100</a:t>
            </a:r>
          </a:p>
        </p:txBody>
      </p:sp>
      <p:sp>
        <p:nvSpPr>
          <p:cNvPr id="68" name="Rectangle 67"/>
          <p:cNvSpPr/>
          <p:nvPr/>
        </p:nvSpPr>
        <p:spPr>
          <a:xfrm>
            <a:off x="5623560" y="6309360"/>
            <a:ext cx="120700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69280" y="6364224"/>
            <a:ext cx="1143000" cy="365760"/>
          </a:xfrm>
          <a:prstGeom prst="rect">
            <a:avLst/>
          </a:prstGeom>
          <a:noFill/>
        </p:spPr>
        <p:txBody>
          <a:bodyPr wrap="square">
            <a:spAutoFit/>
          </a:bodyPr>
          <a:lstStyle/>
          <a:p>
            <a:pPr algn="ctr"/>
            <a:r>
              <a:rPr sz="1000" b="0" i="0">
                <a:solidFill>
                  <a:srgbClr val="1B5E20"/>
                </a:solidFill>
              </a:rPr>
              <a:t>&lt; 50°C</a:t>
            </a:r>
          </a:p>
        </p:txBody>
      </p:sp>
      <p:sp>
        <p:nvSpPr>
          <p:cNvPr id="70" name="Rectangle 69"/>
          <p:cNvSpPr/>
          <p:nvPr/>
        </p:nvSpPr>
        <p:spPr>
          <a:xfrm>
            <a:off x="6858000" y="6309360"/>
            <a:ext cx="125272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903720" y="6364224"/>
            <a:ext cx="1188720" cy="365760"/>
          </a:xfrm>
          <a:prstGeom prst="rect">
            <a:avLst/>
          </a:prstGeom>
          <a:noFill/>
        </p:spPr>
        <p:txBody>
          <a:bodyPr wrap="square">
            <a:spAutoFit/>
          </a:bodyPr>
          <a:lstStyle/>
          <a:p>
            <a:pPr algn="ctr"/>
            <a:r>
              <a:rPr sz="1000" b="0" i="0">
                <a:solidFill>
                  <a:srgbClr val="1B5E20"/>
                </a:solidFill>
              </a:rPr>
              <a:t>—</a:t>
            </a:r>
          </a:p>
        </p:txBody>
      </p:sp>
      <p:sp>
        <p:nvSpPr>
          <p:cNvPr id="72" name="TextBox 71"/>
          <p:cNvSpPr txBox="1"/>
          <p:nvPr/>
        </p:nvSpPr>
        <p:spPr>
          <a:xfrm>
            <a:off x="365760" y="6510528"/>
            <a:ext cx="11521440" cy="256032"/>
          </a:xfrm>
          <a:prstGeom prst="rect">
            <a:avLst/>
          </a:prstGeom>
          <a:noFill/>
        </p:spPr>
        <p:txBody>
          <a:bodyPr wrap="square">
            <a:spAutoFit/>
          </a:bodyPr>
          <a:lstStyle/>
          <a:p>
            <a:pPr algn="l"/>
            <a:r>
              <a:rPr sz="1100" b="1" i="0">
                <a:solidFill>
                  <a:srgbClr val="1565C0"/>
                </a:solidFill>
              </a:rPr>
              <a:t>NSGA-II: largest gain (4.5×) — compact architecture responds well to longer training</a:t>
            </a:r>
          </a:p>
        </p:txBody>
      </p:sp>
      <p:pic>
        <p:nvPicPr>
          <p:cNvPr id="73" name="Picture 72" descr="pres_l5_improvement.png"/>
          <p:cNvPicPr>
            <a:picLocks noChangeAspect="1"/>
          </p:cNvPicPr>
          <p:nvPr/>
        </p:nvPicPr>
        <p:blipFill>
          <a:blip r:embed="rId2"/>
          <a:stretch>
            <a:fillRect/>
          </a:stretch>
        </p:blipFill>
        <p:spPr>
          <a:xfrm>
            <a:off x="5852160" y="1170432"/>
            <a:ext cx="6126480" cy="31089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5 — L2 Before vs After: All Optimizers</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L5</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5120640" cy="5394960"/>
          </a:xfrm>
          <a:prstGeom prst="rect">
            <a:avLst/>
          </a:prstGeom>
          <a:noFill/>
        </p:spPr>
        <p:txBody>
          <a:bodyPr wrap="square">
            <a:spAutoFit/>
          </a:bodyPr>
          <a:lstStyle/>
          <a:p>
            <a:pPr>
              <a:spcBef>
                <a:spcPts val="400"/>
              </a:spcBef>
              <a:defRPr sz="1200">
                <a:solidFill>
                  <a:srgbClr val="424242"/>
                </a:solidFill>
              </a:defRPr>
            </a:pPr>
            <a:r>
              <a:t>The plot shows L2_rel comparison across all three optimizers</a:t>
            </a:r>
          </a:p>
          <a:p>
            <a:pPr>
              <a:spcBef>
                <a:spcPts val="400"/>
              </a:spcBef>
              <a:defRPr sz="1200">
                <a:solidFill>
                  <a:srgbClr val="424242"/>
                </a:solidFill>
              </a:defRPr>
            </a:pPr>
          </a:p>
          <a:p>
            <a:pPr>
              <a:spcBef>
                <a:spcPts val="400"/>
              </a:spcBef>
              <a:defRPr sz="1200">
                <a:solidFill>
                  <a:srgbClr val="424242"/>
                </a:solidFill>
              </a:defRPr>
            </a:pPr>
            <a:r>
              <a:t>After extended training:</a:t>
            </a:r>
          </a:p>
          <a:p>
            <a:pPr>
              <a:spcBef>
                <a:spcPts val="400"/>
              </a:spcBef>
              <a:defRPr sz="1200">
                <a:solidFill>
                  <a:srgbClr val="424242"/>
                </a:solidFill>
              </a:defRPr>
            </a:pPr>
            <a:r>
              <a:t>  ▸  Bayesian:  L2 = 0.030  (was 0.076)  — 2.6× improvement</a:t>
            </a:r>
          </a:p>
          <a:p>
            <a:pPr>
              <a:spcBef>
                <a:spcPts val="400"/>
              </a:spcBef>
              <a:defRPr sz="1200">
                <a:solidFill>
                  <a:srgbClr val="424242"/>
                </a:solidFill>
              </a:defRPr>
            </a:pPr>
            <a:r>
              <a:t>  ▸  NSGA-II:   L2 = 0.055  (was 0.252)  — 4.5× improvement  ✓</a:t>
            </a:r>
          </a:p>
          <a:p>
            <a:pPr>
              <a:spcBef>
                <a:spcPts val="400"/>
              </a:spcBef>
              <a:defRPr sz="1200">
                <a:solidFill>
                  <a:srgbClr val="424242"/>
                </a:solidFill>
              </a:defRPr>
            </a:pPr>
            <a:r>
              <a:t>  ▸  NSGA-III:  L2 = 0.259  (was 0.513)  — 2.0× improvement</a:t>
            </a:r>
          </a:p>
          <a:p>
            <a:pPr>
              <a:spcBef>
                <a:spcPts val="400"/>
              </a:spcBef>
              <a:defRPr sz="1200">
                <a:solidFill>
                  <a:srgbClr val="424242"/>
                </a:solidFill>
              </a:defRPr>
            </a:pPr>
          </a:p>
          <a:p>
            <a:pPr>
              <a:spcBef>
                <a:spcPts val="400"/>
              </a:spcBef>
              <a:defRPr sz="1200">
                <a:solidFill>
                  <a:srgbClr val="424242"/>
                </a:solidFill>
              </a:defRPr>
            </a:pPr>
            <a:r>
              <a:t>Skip capability after Level 5:</a:t>
            </a:r>
          </a:p>
          <a:p>
            <a:pPr>
              <a:spcBef>
                <a:spcPts val="400"/>
              </a:spcBef>
              <a:defRPr sz="1200">
                <a:solidFill>
                  <a:srgbClr val="424242"/>
                </a:solidFill>
              </a:defRPr>
            </a:pPr>
            <a:r>
              <a:t>  ▸  Bayesian L5:   skip=4 still converges  (L2=0.030 → good generalisation)</a:t>
            </a:r>
          </a:p>
          <a:p>
            <a:pPr>
              <a:spcBef>
                <a:spcPts val="400"/>
              </a:spcBef>
              <a:defRPr sz="1200">
                <a:solidFill>
                  <a:srgbClr val="424242"/>
                </a:solidFill>
              </a:defRPr>
            </a:pPr>
            <a:r>
              <a:t>  ▸  NSGA-II L5:    skip=2 converges  (L2=0.055 → near target)</a:t>
            </a:r>
          </a:p>
          <a:p>
            <a:pPr>
              <a:spcBef>
                <a:spcPts val="400"/>
              </a:spcBef>
              <a:defRPr sz="1200">
                <a:solidFill>
                  <a:srgbClr val="424242"/>
                </a:solidFill>
              </a:defRPr>
            </a:pPr>
            <a:r>
              <a:t>  ▸  NSGA-III L5:   skip=2 marginal   (still above 0.10 threshold)</a:t>
            </a:r>
          </a:p>
        </p:txBody>
      </p:sp>
      <p:pic>
        <p:nvPicPr>
          <p:cNvPr id="10" name="Picture 9" descr="level5_l2_comparison.png"/>
          <p:cNvPicPr>
            <a:picLocks noChangeAspect="1"/>
          </p:cNvPicPr>
          <p:nvPr/>
        </p:nvPicPr>
        <p:blipFill>
          <a:blip r:embed="rId2"/>
          <a:stretch>
            <a:fillRect/>
          </a:stretch>
        </p:blipFill>
        <p:spPr>
          <a:xfrm>
            <a:off x="5577840" y="1078992"/>
            <a:ext cx="6400800" cy="54864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6 — Poisson Auxiliary Fine-Tuning</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Add Poisson PDE loss to quenching network — marginal improvement</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L6</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486400" cy="5394960"/>
          </a:xfrm>
          <a:prstGeom prst="rect">
            <a:avLst/>
          </a:prstGeom>
          <a:noFill/>
        </p:spPr>
        <p:txBody>
          <a:bodyPr wrap="square">
            <a:spAutoFit/>
          </a:bodyPr>
          <a:lstStyle/>
          <a:p>
            <a:pPr>
              <a:spcBef>
                <a:spcPts val="400"/>
              </a:spcBef>
              <a:defRPr sz="1200">
                <a:solidFill>
                  <a:srgbClr val="424242"/>
                </a:solidFill>
              </a:defRPr>
            </a:pPr>
            <a:r>
              <a:t>Goal: does adding Poisson-like physics loss improve quenching accuracy?</a:t>
            </a:r>
          </a:p>
          <a:p>
            <a:pPr>
              <a:spcBef>
                <a:spcPts val="400"/>
              </a:spcBef>
              <a:defRPr sz="1200">
                <a:solidFill>
                  <a:srgbClr val="424242"/>
                </a:solidFill>
              </a:defRPr>
            </a:pPr>
          </a:p>
          <a:p>
            <a:pPr>
              <a:spcBef>
                <a:spcPts val="400"/>
              </a:spcBef>
              <a:defRPr sz="1200">
                <a:solidFill>
                  <a:srgbClr val="424242"/>
                </a:solidFill>
              </a:defRPr>
            </a:pPr>
            <a:r>
              <a:t>Method:</a:t>
            </a:r>
          </a:p>
          <a:p>
            <a:pPr>
              <a:spcBef>
                <a:spcPts val="400"/>
              </a:spcBef>
              <a:defRPr sz="1200">
                <a:solidFill>
                  <a:srgbClr val="424242"/>
                </a:solidFill>
              </a:defRPr>
            </a:pPr>
            <a:r>
              <a:t>  • Take Level 5 weights (already trained on quenching)</a:t>
            </a:r>
          </a:p>
          <a:p>
            <a:pPr>
              <a:spcBef>
                <a:spcPts val="400"/>
              </a:spcBef>
              <a:defRPr sz="1200">
                <a:solidFill>
                  <a:srgbClr val="424242"/>
                </a:solidFill>
              </a:defRPr>
            </a:pPr>
            <a:r>
              <a:t>  • Add auxiliary Poisson loss at 5 time slices: t ∈ {0.5, 2, 5, 10, 20} s</a:t>
            </a:r>
          </a:p>
          <a:p>
            <a:pPr>
              <a:spcBef>
                <a:spcPts val="400"/>
              </a:spcBef>
              <a:defRPr sz="1200">
                <a:solidFill>
                  <a:srgbClr val="424242"/>
                </a:solidFill>
              </a:defRPr>
            </a:pPr>
            <a:r>
              <a:t>  • Fine-tune for 5 000 epochs  LR: 1×10⁻⁵ → 1×10⁻⁶</a:t>
            </a:r>
          </a:p>
          <a:p>
            <a:pPr>
              <a:spcBef>
                <a:spcPts val="400"/>
              </a:spcBef>
              <a:defRPr sz="1200">
                <a:solidFill>
                  <a:srgbClr val="424242"/>
                </a:solidFill>
              </a:defRPr>
            </a:pPr>
            <a:r>
              <a:t>  • λ_poisson = 1.0  (weight of auxiliary term)</a:t>
            </a:r>
          </a:p>
          <a:p>
            <a:pPr>
              <a:spcBef>
                <a:spcPts val="400"/>
              </a:spcBef>
              <a:defRPr sz="1200">
                <a:solidFill>
                  <a:srgbClr val="424242"/>
                </a:solidFill>
              </a:defRPr>
            </a:pPr>
          </a:p>
          <a:p>
            <a:pPr>
              <a:spcBef>
                <a:spcPts val="400"/>
              </a:spcBef>
              <a:defRPr sz="1200">
                <a:solidFill>
                  <a:srgbClr val="424242"/>
                </a:solidFill>
              </a:defRPr>
            </a:pPr>
            <a:r>
              <a:t>Results — L2 before vs after fine-tuning:</a:t>
            </a:r>
          </a:p>
          <a:p>
            <a:pPr>
              <a:spcBef>
                <a:spcPts val="400"/>
              </a:spcBef>
              <a:defRPr sz="1200">
                <a:solidFill>
                  <a:srgbClr val="424242"/>
                </a:solidFill>
              </a:defRPr>
            </a:pPr>
            <a:r>
              <a:t>  ▸  Bayesian:  0.038 → 0.031  (+17.5% improvement)</a:t>
            </a:r>
          </a:p>
          <a:p>
            <a:pPr>
              <a:spcBef>
                <a:spcPts val="400"/>
              </a:spcBef>
              <a:defRPr sz="1200">
                <a:solidFill>
                  <a:srgbClr val="424242"/>
                </a:solidFill>
              </a:defRPr>
            </a:pPr>
            <a:r>
              <a:t>  ▸  NSGA-II:   0.062 → 0.058  (+6.2% improvement)</a:t>
            </a:r>
          </a:p>
          <a:p>
            <a:pPr>
              <a:spcBef>
                <a:spcPts val="400"/>
              </a:spcBef>
              <a:defRPr sz="1200">
                <a:solidFill>
                  <a:srgbClr val="424242"/>
                </a:solidFill>
              </a:defRPr>
            </a:pPr>
            <a:r>
              <a:t>  ▸  NSGA-III:  0.274 → 0.267  (+2.5% improvement)</a:t>
            </a:r>
          </a:p>
          <a:p>
            <a:pPr>
              <a:spcBef>
                <a:spcPts val="400"/>
              </a:spcBef>
              <a:defRPr sz="1200">
                <a:solidFill>
                  <a:srgbClr val="424242"/>
                </a:solidFill>
              </a:defRPr>
            </a:pPr>
          </a:p>
          <a:p>
            <a:pPr>
              <a:spcBef>
                <a:spcPts val="400"/>
              </a:spcBef>
              <a:defRPr sz="1200">
                <a:solidFill>
                  <a:srgbClr val="424242"/>
                </a:solidFill>
              </a:defRPr>
            </a:pPr>
            <a:r>
              <a:t>Conclusion: marginal gains — Poisson auxiliary loss provides a small</a:t>
            </a:r>
          </a:p>
          <a:p>
            <a:pPr>
              <a:spcBef>
                <a:spcPts val="400"/>
              </a:spcBef>
              <a:defRPr sz="1200">
                <a:solidFill>
                  <a:srgbClr val="424242"/>
                </a:solidFill>
              </a:defRPr>
            </a:pPr>
            <a:r>
              <a:t>regularisation benefit but does not fundamentally change accuracy.</a:t>
            </a:r>
          </a:p>
        </p:txBody>
      </p:sp>
      <p:pic>
        <p:nvPicPr>
          <p:cNvPr id="11" name="Picture 10" descr="l6_heatmap_t5s.png"/>
          <p:cNvPicPr>
            <a:picLocks noChangeAspect="1"/>
          </p:cNvPicPr>
          <p:nvPr/>
        </p:nvPicPr>
        <p:blipFill>
          <a:blip r:embed="rId2"/>
          <a:stretch>
            <a:fillRect/>
          </a:stretch>
        </p:blipFill>
        <p:spPr>
          <a:xfrm>
            <a:off x="6035040" y="1170432"/>
            <a:ext cx="5943600" cy="53949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7B — Multi-Domain Poisson: Five Geometries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NAS searches the optimal architecture for each geometry independently</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L7</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4114800" cy="3474720"/>
          </a:xfrm>
          <a:prstGeom prst="rect">
            <a:avLst/>
          </a:prstGeom>
          <a:noFill/>
        </p:spPr>
        <p:txBody>
          <a:bodyPr wrap="square">
            <a:spAutoFit/>
          </a:bodyPr>
          <a:lstStyle/>
          <a:p>
            <a:pPr>
              <a:spcBef>
                <a:spcPts val="400"/>
              </a:spcBef>
              <a:defRPr sz="1200">
                <a:solidFill>
                  <a:srgbClr val="424242"/>
                </a:solidFill>
              </a:defRPr>
            </a:pPr>
            <a:r>
              <a:t>Problem: −∇²u = f(x,y)  with  u = 0 on boundary  (Poisson PDE)</a:t>
            </a:r>
          </a:p>
          <a:p>
            <a:pPr>
              <a:spcBef>
                <a:spcPts val="400"/>
              </a:spcBef>
              <a:defRPr sz="1200">
                <a:solidFill>
                  <a:srgbClr val="424242"/>
                </a:solidFill>
              </a:defRPr>
            </a:pPr>
          </a:p>
          <a:p>
            <a:pPr>
              <a:spcBef>
                <a:spcPts val="400"/>
              </a:spcBef>
              <a:defRPr sz="1200">
                <a:solidFill>
                  <a:srgbClr val="424242"/>
                </a:solidFill>
              </a:defRPr>
            </a:pPr>
            <a:r>
              <a:t>Five domains tested:</a:t>
            </a:r>
          </a:p>
          <a:p>
            <a:pPr>
              <a:spcBef>
                <a:spcPts val="400"/>
              </a:spcBef>
              <a:defRPr sz="1200">
                <a:solidFill>
                  <a:srgbClr val="424242"/>
                </a:solidFill>
              </a:defRPr>
            </a:pPr>
            <a:r>
              <a:t>  ▸  Square [0,1]²  — manufactured solution u*=x²(x−1)²y²(y−1)²</a:t>
            </a:r>
          </a:p>
          <a:p>
            <a:pPr>
              <a:spcBef>
                <a:spcPts val="400"/>
              </a:spcBef>
              <a:defRPr sz="1200">
                <a:solidFill>
                  <a:srgbClr val="424242"/>
                </a:solidFill>
              </a:defRPr>
            </a:pPr>
            <a:r>
              <a:t>  ▸  Circle x²+y²≤1  — exact solution u*=(1−r²)/4</a:t>
            </a:r>
          </a:p>
          <a:p>
            <a:pPr>
              <a:spcBef>
                <a:spcPts val="400"/>
              </a:spcBef>
              <a:defRPr sz="1200">
                <a:solidFill>
                  <a:srgbClr val="424242"/>
                </a:solidFill>
              </a:defRPr>
            </a:pPr>
            <a:r>
              <a:t>  ▸  Annulus 0.25≤r≤1  — exact solution u*=(r²−r_inner²)/4</a:t>
            </a:r>
          </a:p>
          <a:p>
            <a:pPr>
              <a:spcBef>
                <a:spcPts val="400"/>
              </a:spcBef>
              <a:defRPr sz="1200">
                <a:solidFill>
                  <a:srgbClr val="424242"/>
                </a:solidFill>
              </a:defRPr>
            </a:pPr>
            <a:r>
              <a:t>  ▸  L-Shape [0,1]²\[0.5,1]×[0,0.5]  — FDM reference</a:t>
            </a:r>
          </a:p>
          <a:p>
            <a:pPr>
              <a:spcBef>
                <a:spcPts val="400"/>
              </a:spcBef>
              <a:defRPr sz="1200">
                <a:solidFill>
                  <a:srgbClr val="424242"/>
                </a:solidFill>
              </a:defRPr>
            </a:pPr>
            <a:r>
              <a:t>  ▸  Flower r≤1+0.3·cos(5θ)  — 5 petals, FDM reference</a:t>
            </a:r>
          </a:p>
          <a:p>
            <a:pPr>
              <a:spcBef>
                <a:spcPts val="400"/>
              </a:spcBef>
              <a:defRPr sz="1200">
                <a:solidFill>
                  <a:srgbClr val="424242"/>
                </a:solidFill>
              </a:defRPr>
            </a:pPr>
          </a:p>
          <a:p>
            <a:pPr>
              <a:spcBef>
                <a:spcPts val="400"/>
              </a:spcBef>
              <a:defRPr sz="1200">
                <a:solidFill>
                  <a:srgbClr val="424242"/>
                </a:solidFill>
              </a:defRPr>
            </a:pPr>
            <a:r>
              <a:t>Colormap shows: reference Poisson solution u(x,y)</a:t>
            </a:r>
          </a:p>
          <a:p>
            <a:pPr>
              <a:spcBef>
                <a:spcPts val="400"/>
              </a:spcBef>
              <a:defRPr sz="1200">
                <a:solidFill>
                  <a:srgbClr val="424242"/>
                </a:solidFill>
              </a:defRPr>
            </a:pPr>
            <a:r>
              <a:t>Darker colour = higher solution value</a:t>
            </a:r>
          </a:p>
        </p:txBody>
      </p:sp>
      <p:pic>
        <p:nvPicPr>
          <p:cNvPr id="11" name="Picture 10" descr="pres_domain_shapes.png"/>
          <p:cNvPicPr>
            <a:picLocks noChangeAspect="1"/>
          </p:cNvPicPr>
          <p:nvPr/>
        </p:nvPicPr>
        <p:blipFill>
          <a:blip r:embed="rId2"/>
          <a:stretch>
            <a:fillRect/>
          </a:stretch>
        </p:blipFill>
        <p:spPr>
          <a:xfrm>
            <a:off x="365760" y="4526280"/>
            <a:ext cx="11521440" cy="2057400"/>
          </a:xfrm>
          <a:prstGeom prst="rect">
            <a:avLst/>
          </a:prstGeom>
        </p:spPr>
      </p:pic>
      <p:pic>
        <p:nvPicPr>
          <p:cNvPr id="12" name="Picture 11" descr="l7b_circle.png"/>
          <p:cNvPicPr>
            <a:picLocks noChangeAspect="1"/>
          </p:cNvPicPr>
          <p:nvPr/>
        </p:nvPicPr>
        <p:blipFill>
          <a:blip r:embed="rId3"/>
          <a:stretch>
            <a:fillRect/>
          </a:stretch>
        </p:blipFill>
        <p:spPr>
          <a:xfrm>
            <a:off x="4572000" y="1170432"/>
            <a:ext cx="7406640" cy="32004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7B — Multi-Domain Results: L2 per Geometry</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Bayesian NAS finds optimal architecture for each domain</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L7</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Rectangle 9"/>
          <p:cNvSpPr/>
          <p:nvPr/>
        </p:nvSpPr>
        <p:spPr>
          <a:xfrm>
            <a:off x="365760" y="1170432"/>
            <a:ext cx="13441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225296"/>
            <a:ext cx="1280160" cy="365760"/>
          </a:xfrm>
          <a:prstGeom prst="rect">
            <a:avLst/>
          </a:prstGeom>
          <a:noFill/>
        </p:spPr>
        <p:txBody>
          <a:bodyPr wrap="square">
            <a:spAutoFit/>
          </a:bodyPr>
          <a:lstStyle/>
          <a:p>
            <a:pPr algn="ctr"/>
            <a:r>
              <a:rPr sz="900" b="1" i="0">
                <a:solidFill>
                  <a:srgbClr val="FFFFFF"/>
                </a:solidFill>
              </a:rPr>
              <a:t>Domain</a:t>
            </a:r>
          </a:p>
        </p:txBody>
      </p:sp>
      <p:sp>
        <p:nvSpPr>
          <p:cNvPr id="12" name="Rectangle 11"/>
          <p:cNvSpPr/>
          <p:nvPr/>
        </p:nvSpPr>
        <p:spPr>
          <a:xfrm>
            <a:off x="1737360" y="1170432"/>
            <a:ext cx="19842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83080" y="1225296"/>
            <a:ext cx="1920240" cy="365760"/>
          </a:xfrm>
          <a:prstGeom prst="rect">
            <a:avLst/>
          </a:prstGeom>
          <a:noFill/>
        </p:spPr>
        <p:txBody>
          <a:bodyPr wrap="square">
            <a:spAutoFit/>
          </a:bodyPr>
          <a:lstStyle/>
          <a:p>
            <a:pPr algn="ctr"/>
            <a:r>
              <a:rPr sz="900" b="1" i="0">
                <a:solidFill>
                  <a:srgbClr val="FFFFFF"/>
                </a:solidFill>
              </a:rPr>
              <a:t>Bayesian</a:t>
            </a:r>
          </a:p>
        </p:txBody>
      </p:sp>
      <p:sp>
        <p:nvSpPr>
          <p:cNvPr id="14" name="Rectangle 13"/>
          <p:cNvSpPr/>
          <p:nvPr/>
        </p:nvSpPr>
        <p:spPr>
          <a:xfrm>
            <a:off x="3749040" y="1170432"/>
            <a:ext cx="161848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1225296"/>
            <a:ext cx="1554480" cy="365760"/>
          </a:xfrm>
          <a:prstGeom prst="rect">
            <a:avLst/>
          </a:prstGeom>
          <a:noFill/>
        </p:spPr>
        <p:txBody>
          <a:bodyPr wrap="square">
            <a:spAutoFit/>
          </a:bodyPr>
          <a:lstStyle/>
          <a:p>
            <a:pPr algn="ctr"/>
            <a:r>
              <a:rPr sz="900" b="1" i="0">
                <a:solidFill>
                  <a:srgbClr val="FFFFFF"/>
                </a:solidFill>
              </a:rPr>
              <a:t>Arch</a:t>
            </a:r>
          </a:p>
        </p:txBody>
      </p:sp>
      <p:sp>
        <p:nvSpPr>
          <p:cNvPr id="16" name="Rectangle 15"/>
          <p:cNvSpPr/>
          <p:nvPr/>
        </p:nvSpPr>
        <p:spPr>
          <a:xfrm>
            <a:off x="5394960" y="1170432"/>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1225296"/>
            <a:ext cx="1463040" cy="365760"/>
          </a:xfrm>
          <a:prstGeom prst="rect">
            <a:avLst/>
          </a:prstGeom>
          <a:noFill/>
        </p:spPr>
        <p:txBody>
          <a:bodyPr wrap="square">
            <a:spAutoFit/>
          </a:bodyPr>
          <a:lstStyle/>
          <a:p>
            <a:pPr algn="ctr"/>
            <a:r>
              <a:rPr sz="900" b="1" i="0">
                <a:solidFill>
                  <a:srgbClr val="FFFFFF"/>
                </a:solidFill>
              </a:rPr>
              <a:t>NSGA-II</a:t>
            </a:r>
          </a:p>
        </p:txBody>
      </p:sp>
      <p:sp>
        <p:nvSpPr>
          <p:cNvPr id="18" name="Rectangle 17"/>
          <p:cNvSpPr/>
          <p:nvPr/>
        </p:nvSpPr>
        <p:spPr>
          <a:xfrm>
            <a:off x="6949440" y="1170432"/>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1225296"/>
            <a:ext cx="1463040" cy="365760"/>
          </a:xfrm>
          <a:prstGeom prst="rect">
            <a:avLst/>
          </a:prstGeom>
          <a:noFill/>
        </p:spPr>
        <p:txBody>
          <a:bodyPr wrap="square">
            <a:spAutoFit/>
          </a:bodyPr>
          <a:lstStyle/>
          <a:p>
            <a:pPr algn="ctr"/>
            <a:r>
              <a:rPr sz="900" b="1" i="0">
                <a:solidFill>
                  <a:srgbClr val="FFFFFF"/>
                </a:solidFill>
              </a:rPr>
              <a:t>NSGA-III</a:t>
            </a:r>
          </a:p>
        </p:txBody>
      </p:sp>
      <p:sp>
        <p:nvSpPr>
          <p:cNvPr id="20" name="Rectangle 19"/>
          <p:cNvSpPr/>
          <p:nvPr/>
        </p:nvSpPr>
        <p:spPr>
          <a:xfrm>
            <a:off x="8503920" y="1170432"/>
            <a:ext cx="12527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9640" y="1225296"/>
            <a:ext cx="1188720" cy="365760"/>
          </a:xfrm>
          <a:prstGeom prst="rect">
            <a:avLst/>
          </a:prstGeom>
          <a:noFill/>
        </p:spPr>
        <p:txBody>
          <a:bodyPr wrap="square">
            <a:spAutoFit/>
          </a:bodyPr>
          <a:lstStyle/>
          <a:p>
            <a:pPr algn="ctr"/>
            <a:r>
              <a:rPr sz="900" b="1" i="0">
                <a:solidFill>
                  <a:srgbClr val="FFFFFF"/>
                </a:solidFill>
              </a:rPr>
              <a:t>Difficulty</a:t>
            </a:r>
          </a:p>
        </p:txBody>
      </p:sp>
      <p:sp>
        <p:nvSpPr>
          <p:cNvPr id="22" name="Rectangle 21"/>
          <p:cNvSpPr/>
          <p:nvPr/>
        </p:nvSpPr>
        <p:spPr>
          <a:xfrm>
            <a:off x="365760" y="1627632"/>
            <a:ext cx="134416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682496"/>
            <a:ext cx="1280160" cy="365760"/>
          </a:xfrm>
          <a:prstGeom prst="rect">
            <a:avLst/>
          </a:prstGeom>
          <a:noFill/>
        </p:spPr>
        <p:txBody>
          <a:bodyPr wrap="square">
            <a:spAutoFit/>
          </a:bodyPr>
          <a:lstStyle/>
          <a:p>
            <a:pPr algn="ctr"/>
            <a:r>
              <a:rPr sz="1000" b="0" i="0">
                <a:solidFill>
                  <a:srgbClr val="424242"/>
                </a:solidFill>
              </a:rPr>
              <a:t>Square</a:t>
            </a:r>
          </a:p>
        </p:txBody>
      </p:sp>
      <p:sp>
        <p:nvSpPr>
          <p:cNvPr id="24" name="Rectangle 23"/>
          <p:cNvSpPr/>
          <p:nvPr/>
        </p:nvSpPr>
        <p:spPr>
          <a:xfrm>
            <a:off x="1737360" y="1627632"/>
            <a:ext cx="19842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83080" y="1682496"/>
            <a:ext cx="1920240" cy="365760"/>
          </a:xfrm>
          <a:prstGeom prst="rect">
            <a:avLst/>
          </a:prstGeom>
          <a:noFill/>
        </p:spPr>
        <p:txBody>
          <a:bodyPr wrap="square">
            <a:spAutoFit/>
          </a:bodyPr>
          <a:lstStyle/>
          <a:p>
            <a:pPr algn="ctr"/>
            <a:r>
              <a:rPr sz="1000" b="0" i="0">
                <a:solidFill>
                  <a:srgbClr val="424242"/>
                </a:solidFill>
              </a:rPr>
              <a:t>L2=0.0376</a:t>
            </a:r>
          </a:p>
        </p:txBody>
      </p:sp>
      <p:sp>
        <p:nvSpPr>
          <p:cNvPr id="26" name="Rectangle 25"/>
          <p:cNvSpPr/>
          <p:nvPr/>
        </p:nvSpPr>
        <p:spPr>
          <a:xfrm>
            <a:off x="3749040" y="1627632"/>
            <a:ext cx="161848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94760" y="1682496"/>
            <a:ext cx="1554480" cy="365760"/>
          </a:xfrm>
          <a:prstGeom prst="rect">
            <a:avLst/>
          </a:prstGeom>
          <a:noFill/>
        </p:spPr>
        <p:txBody>
          <a:bodyPr wrap="square">
            <a:spAutoFit/>
          </a:bodyPr>
          <a:lstStyle/>
          <a:p>
            <a:pPr algn="ctr"/>
            <a:r>
              <a:rPr sz="1000" b="0" i="0">
                <a:solidFill>
                  <a:srgbClr val="424242"/>
                </a:solidFill>
              </a:rPr>
              <a:t>5×100 gelu</a:t>
            </a:r>
          </a:p>
        </p:txBody>
      </p:sp>
      <p:sp>
        <p:nvSpPr>
          <p:cNvPr id="28" name="Rectangle 27"/>
          <p:cNvSpPr/>
          <p:nvPr/>
        </p:nvSpPr>
        <p:spPr>
          <a:xfrm>
            <a:off x="5394960" y="16276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1682496"/>
            <a:ext cx="1463040" cy="365760"/>
          </a:xfrm>
          <a:prstGeom prst="rect">
            <a:avLst/>
          </a:prstGeom>
          <a:noFill/>
        </p:spPr>
        <p:txBody>
          <a:bodyPr wrap="square">
            <a:spAutoFit/>
          </a:bodyPr>
          <a:lstStyle/>
          <a:p>
            <a:pPr algn="ctr"/>
            <a:r>
              <a:rPr sz="1000" b="0" i="0">
                <a:solidFill>
                  <a:srgbClr val="424242"/>
                </a:solidFill>
              </a:rPr>
              <a:t>N/A</a:t>
            </a:r>
          </a:p>
        </p:txBody>
      </p:sp>
      <p:sp>
        <p:nvSpPr>
          <p:cNvPr id="30" name="Rectangle 29"/>
          <p:cNvSpPr/>
          <p:nvPr/>
        </p:nvSpPr>
        <p:spPr>
          <a:xfrm>
            <a:off x="6949440" y="16276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95160" y="1682496"/>
            <a:ext cx="1463040" cy="365760"/>
          </a:xfrm>
          <a:prstGeom prst="rect">
            <a:avLst/>
          </a:prstGeom>
          <a:noFill/>
        </p:spPr>
        <p:txBody>
          <a:bodyPr wrap="square">
            <a:spAutoFit/>
          </a:bodyPr>
          <a:lstStyle/>
          <a:p>
            <a:pPr algn="ctr"/>
            <a:r>
              <a:rPr sz="1000" b="0" i="0">
                <a:solidFill>
                  <a:srgbClr val="424242"/>
                </a:solidFill>
              </a:rPr>
              <a:t>N/A</a:t>
            </a:r>
          </a:p>
        </p:txBody>
      </p:sp>
      <p:sp>
        <p:nvSpPr>
          <p:cNvPr id="32" name="Rectangle 31"/>
          <p:cNvSpPr/>
          <p:nvPr/>
        </p:nvSpPr>
        <p:spPr>
          <a:xfrm>
            <a:off x="8503920" y="1627632"/>
            <a:ext cx="125272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9640" y="1682496"/>
            <a:ext cx="1188720" cy="365760"/>
          </a:xfrm>
          <a:prstGeom prst="rect">
            <a:avLst/>
          </a:prstGeom>
          <a:noFill/>
        </p:spPr>
        <p:txBody>
          <a:bodyPr wrap="square">
            <a:spAutoFit/>
          </a:bodyPr>
          <a:lstStyle/>
          <a:p>
            <a:pPr algn="ctr"/>
            <a:r>
              <a:rPr sz="1000" b="0" i="0">
                <a:solidFill>
                  <a:srgbClr val="424242"/>
                </a:solidFill>
              </a:rPr>
              <a:t>Medium</a:t>
            </a:r>
          </a:p>
        </p:txBody>
      </p:sp>
      <p:sp>
        <p:nvSpPr>
          <p:cNvPr id="34" name="Rectangle 33"/>
          <p:cNvSpPr/>
          <p:nvPr/>
        </p:nvSpPr>
        <p:spPr>
          <a:xfrm>
            <a:off x="365760" y="2084832"/>
            <a:ext cx="134416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2139696"/>
            <a:ext cx="1280160" cy="365760"/>
          </a:xfrm>
          <a:prstGeom prst="rect">
            <a:avLst/>
          </a:prstGeom>
          <a:noFill/>
        </p:spPr>
        <p:txBody>
          <a:bodyPr wrap="square">
            <a:spAutoFit/>
          </a:bodyPr>
          <a:lstStyle/>
          <a:p>
            <a:pPr algn="ctr"/>
            <a:r>
              <a:rPr sz="1000" b="0" i="0">
                <a:solidFill>
                  <a:srgbClr val="424242"/>
                </a:solidFill>
              </a:rPr>
              <a:t>Circle</a:t>
            </a:r>
          </a:p>
        </p:txBody>
      </p:sp>
      <p:sp>
        <p:nvSpPr>
          <p:cNvPr id="36" name="Rectangle 35"/>
          <p:cNvSpPr/>
          <p:nvPr/>
        </p:nvSpPr>
        <p:spPr>
          <a:xfrm>
            <a:off x="1737360" y="2084832"/>
            <a:ext cx="19842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83080" y="2139696"/>
            <a:ext cx="1920240" cy="365760"/>
          </a:xfrm>
          <a:prstGeom prst="rect">
            <a:avLst/>
          </a:prstGeom>
          <a:noFill/>
        </p:spPr>
        <p:txBody>
          <a:bodyPr wrap="square">
            <a:spAutoFit/>
          </a:bodyPr>
          <a:lstStyle/>
          <a:p>
            <a:pPr algn="ctr"/>
            <a:r>
              <a:rPr sz="1000" b="0" i="0">
                <a:solidFill>
                  <a:srgbClr val="424242"/>
                </a:solidFill>
              </a:rPr>
              <a:t>L2=0.00014 ✓</a:t>
            </a:r>
          </a:p>
        </p:txBody>
      </p:sp>
      <p:sp>
        <p:nvSpPr>
          <p:cNvPr id="38" name="Rectangle 37"/>
          <p:cNvSpPr/>
          <p:nvPr/>
        </p:nvSpPr>
        <p:spPr>
          <a:xfrm>
            <a:off x="3749040" y="2084832"/>
            <a:ext cx="161848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94760" y="2139696"/>
            <a:ext cx="1554480" cy="365760"/>
          </a:xfrm>
          <a:prstGeom prst="rect">
            <a:avLst/>
          </a:prstGeom>
          <a:noFill/>
        </p:spPr>
        <p:txBody>
          <a:bodyPr wrap="square">
            <a:spAutoFit/>
          </a:bodyPr>
          <a:lstStyle/>
          <a:p>
            <a:pPr algn="ctr"/>
            <a:r>
              <a:rPr sz="1000" b="0" i="0">
                <a:solidFill>
                  <a:srgbClr val="424242"/>
                </a:solidFill>
              </a:rPr>
              <a:t>5×40 gelu</a:t>
            </a:r>
          </a:p>
        </p:txBody>
      </p:sp>
      <p:sp>
        <p:nvSpPr>
          <p:cNvPr id="40" name="Rectangle 39"/>
          <p:cNvSpPr/>
          <p:nvPr/>
        </p:nvSpPr>
        <p:spPr>
          <a:xfrm>
            <a:off x="5394960" y="2084832"/>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40680" y="2139696"/>
            <a:ext cx="1463040" cy="365760"/>
          </a:xfrm>
          <a:prstGeom prst="rect">
            <a:avLst/>
          </a:prstGeom>
          <a:noFill/>
        </p:spPr>
        <p:txBody>
          <a:bodyPr wrap="square">
            <a:spAutoFit/>
          </a:bodyPr>
          <a:lstStyle/>
          <a:p>
            <a:pPr algn="ctr"/>
            <a:r>
              <a:rPr sz="1000" b="0" i="0">
                <a:solidFill>
                  <a:srgbClr val="424242"/>
                </a:solidFill>
              </a:rPr>
              <a:t>0.00042</a:t>
            </a:r>
          </a:p>
        </p:txBody>
      </p:sp>
      <p:sp>
        <p:nvSpPr>
          <p:cNvPr id="42" name="Rectangle 41"/>
          <p:cNvSpPr/>
          <p:nvPr/>
        </p:nvSpPr>
        <p:spPr>
          <a:xfrm>
            <a:off x="6949440" y="2084832"/>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5160" y="2139696"/>
            <a:ext cx="1463040" cy="365760"/>
          </a:xfrm>
          <a:prstGeom prst="rect">
            <a:avLst/>
          </a:prstGeom>
          <a:noFill/>
        </p:spPr>
        <p:txBody>
          <a:bodyPr wrap="square">
            <a:spAutoFit/>
          </a:bodyPr>
          <a:lstStyle/>
          <a:p>
            <a:pPr algn="ctr"/>
            <a:r>
              <a:rPr sz="1000" b="0" i="0">
                <a:solidFill>
                  <a:srgbClr val="424242"/>
                </a:solidFill>
              </a:rPr>
              <a:t>0.00066</a:t>
            </a:r>
          </a:p>
        </p:txBody>
      </p:sp>
      <p:sp>
        <p:nvSpPr>
          <p:cNvPr id="44" name="Rectangle 43"/>
          <p:cNvSpPr/>
          <p:nvPr/>
        </p:nvSpPr>
        <p:spPr>
          <a:xfrm>
            <a:off x="8503920" y="2084832"/>
            <a:ext cx="125272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9640" y="2139696"/>
            <a:ext cx="1188720" cy="365760"/>
          </a:xfrm>
          <a:prstGeom prst="rect">
            <a:avLst/>
          </a:prstGeom>
          <a:noFill/>
        </p:spPr>
        <p:txBody>
          <a:bodyPr wrap="square">
            <a:spAutoFit/>
          </a:bodyPr>
          <a:lstStyle/>
          <a:p>
            <a:pPr algn="ctr"/>
            <a:r>
              <a:rPr sz="1000" b="0" i="0">
                <a:solidFill>
                  <a:srgbClr val="424242"/>
                </a:solidFill>
              </a:rPr>
              <a:t>Easy</a:t>
            </a:r>
          </a:p>
        </p:txBody>
      </p:sp>
      <p:sp>
        <p:nvSpPr>
          <p:cNvPr id="46" name="Rectangle 45"/>
          <p:cNvSpPr/>
          <p:nvPr/>
        </p:nvSpPr>
        <p:spPr>
          <a:xfrm>
            <a:off x="365760" y="2542032"/>
            <a:ext cx="134416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2596896"/>
            <a:ext cx="1280160" cy="365760"/>
          </a:xfrm>
          <a:prstGeom prst="rect">
            <a:avLst/>
          </a:prstGeom>
          <a:noFill/>
        </p:spPr>
        <p:txBody>
          <a:bodyPr wrap="square">
            <a:spAutoFit/>
          </a:bodyPr>
          <a:lstStyle/>
          <a:p>
            <a:pPr algn="ctr"/>
            <a:r>
              <a:rPr sz="1000" b="0" i="0">
                <a:solidFill>
                  <a:srgbClr val="424242"/>
                </a:solidFill>
              </a:rPr>
              <a:t>L-Shape</a:t>
            </a:r>
          </a:p>
        </p:txBody>
      </p:sp>
      <p:sp>
        <p:nvSpPr>
          <p:cNvPr id="48" name="Rectangle 47"/>
          <p:cNvSpPr/>
          <p:nvPr/>
        </p:nvSpPr>
        <p:spPr>
          <a:xfrm>
            <a:off x="1737360" y="2542032"/>
            <a:ext cx="19842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83080" y="2596896"/>
            <a:ext cx="1920240" cy="365760"/>
          </a:xfrm>
          <a:prstGeom prst="rect">
            <a:avLst/>
          </a:prstGeom>
          <a:noFill/>
        </p:spPr>
        <p:txBody>
          <a:bodyPr wrap="square">
            <a:spAutoFit/>
          </a:bodyPr>
          <a:lstStyle/>
          <a:p>
            <a:pPr algn="ctr"/>
            <a:r>
              <a:rPr sz="1000" b="0" i="0">
                <a:solidFill>
                  <a:srgbClr val="424242"/>
                </a:solidFill>
              </a:rPr>
              <a:t>L2=0.0277 ✓</a:t>
            </a:r>
          </a:p>
        </p:txBody>
      </p:sp>
      <p:sp>
        <p:nvSpPr>
          <p:cNvPr id="50" name="Rectangle 49"/>
          <p:cNvSpPr/>
          <p:nvPr/>
        </p:nvSpPr>
        <p:spPr>
          <a:xfrm>
            <a:off x="3749040" y="2542032"/>
            <a:ext cx="161848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94760" y="2596896"/>
            <a:ext cx="1554480" cy="365760"/>
          </a:xfrm>
          <a:prstGeom prst="rect">
            <a:avLst/>
          </a:prstGeom>
          <a:noFill/>
        </p:spPr>
        <p:txBody>
          <a:bodyPr wrap="square">
            <a:spAutoFit/>
          </a:bodyPr>
          <a:lstStyle/>
          <a:p>
            <a:pPr algn="ctr"/>
            <a:r>
              <a:rPr sz="1000" b="0" i="0">
                <a:solidFill>
                  <a:srgbClr val="424242"/>
                </a:solidFill>
              </a:rPr>
              <a:t>5×100 gelu</a:t>
            </a:r>
          </a:p>
        </p:txBody>
      </p:sp>
      <p:sp>
        <p:nvSpPr>
          <p:cNvPr id="52" name="Rectangle 51"/>
          <p:cNvSpPr/>
          <p:nvPr/>
        </p:nvSpPr>
        <p:spPr>
          <a:xfrm>
            <a:off x="5394960" y="25420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40680" y="2596896"/>
            <a:ext cx="1463040" cy="365760"/>
          </a:xfrm>
          <a:prstGeom prst="rect">
            <a:avLst/>
          </a:prstGeom>
          <a:noFill/>
        </p:spPr>
        <p:txBody>
          <a:bodyPr wrap="square">
            <a:spAutoFit/>
          </a:bodyPr>
          <a:lstStyle/>
          <a:p>
            <a:pPr algn="ctr"/>
            <a:r>
              <a:rPr sz="1000" b="0" i="0">
                <a:solidFill>
                  <a:srgbClr val="424242"/>
                </a:solidFill>
              </a:rPr>
              <a:t>0.0285</a:t>
            </a:r>
          </a:p>
        </p:txBody>
      </p:sp>
      <p:sp>
        <p:nvSpPr>
          <p:cNvPr id="54" name="Rectangle 53"/>
          <p:cNvSpPr/>
          <p:nvPr/>
        </p:nvSpPr>
        <p:spPr>
          <a:xfrm>
            <a:off x="6949440" y="25420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995160" y="2596896"/>
            <a:ext cx="1463040" cy="365760"/>
          </a:xfrm>
          <a:prstGeom prst="rect">
            <a:avLst/>
          </a:prstGeom>
          <a:noFill/>
        </p:spPr>
        <p:txBody>
          <a:bodyPr wrap="square">
            <a:spAutoFit/>
          </a:bodyPr>
          <a:lstStyle/>
          <a:p>
            <a:pPr algn="ctr"/>
            <a:r>
              <a:rPr sz="1000" b="0" i="0">
                <a:solidFill>
                  <a:srgbClr val="424242"/>
                </a:solidFill>
              </a:rPr>
              <a:t>0.0320</a:t>
            </a:r>
          </a:p>
        </p:txBody>
      </p:sp>
      <p:sp>
        <p:nvSpPr>
          <p:cNvPr id="56" name="Rectangle 55"/>
          <p:cNvSpPr/>
          <p:nvPr/>
        </p:nvSpPr>
        <p:spPr>
          <a:xfrm>
            <a:off x="8503920" y="2542032"/>
            <a:ext cx="125272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2596896"/>
            <a:ext cx="1188720" cy="365760"/>
          </a:xfrm>
          <a:prstGeom prst="rect">
            <a:avLst/>
          </a:prstGeom>
          <a:noFill/>
        </p:spPr>
        <p:txBody>
          <a:bodyPr wrap="square">
            <a:spAutoFit/>
          </a:bodyPr>
          <a:lstStyle/>
          <a:p>
            <a:pPr algn="ctr"/>
            <a:r>
              <a:rPr sz="1000" b="0" i="0">
                <a:solidFill>
                  <a:srgbClr val="424242"/>
                </a:solidFill>
              </a:rPr>
              <a:t>Medium</a:t>
            </a:r>
          </a:p>
        </p:txBody>
      </p:sp>
      <p:sp>
        <p:nvSpPr>
          <p:cNvPr id="58" name="Rectangle 57"/>
          <p:cNvSpPr/>
          <p:nvPr/>
        </p:nvSpPr>
        <p:spPr>
          <a:xfrm>
            <a:off x="365760" y="2999232"/>
            <a:ext cx="13441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80" y="3054096"/>
            <a:ext cx="1280160" cy="365760"/>
          </a:xfrm>
          <a:prstGeom prst="rect">
            <a:avLst/>
          </a:prstGeom>
          <a:noFill/>
        </p:spPr>
        <p:txBody>
          <a:bodyPr wrap="square">
            <a:spAutoFit/>
          </a:bodyPr>
          <a:lstStyle/>
          <a:p>
            <a:pPr algn="ctr"/>
            <a:r>
              <a:rPr sz="1000" b="0" i="0">
                <a:solidFill>
                  <a:srgbClr val="424242"/>
                </a:solidFill>
              </a:rPr>
              <a:t>Flower</a:t>
            </a:r>
          </a:p>
        </p:txBody>
      </p:sp>
      <p:sp>
        <p:nvSpPr>
          <p:cNvPr id="60" name="Rectangle 59"/>
          <p:cNvSpPr/>
          <p:nvPr/>
        </p:nvSpPr>
        <p:spPr>
          <a:xfrm>
            <a:off x="1737360" y="2999232"/>
            <a:ext cx="19842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783080" y="3054096"/>
            <a:ext cx="1920240" cy="365760"/>
          </a:xfrm>
          <a:prstGeom prst="rect">
            <a:avLst/>
          </a:prstGeom>
          <a:noFill/>
        </p:spPr>
        <p:txBody>
          <a:bodyPr wrap="square">
            <a:spAutoFit/>
          </a:bodyPr>
          <a:lstStyle/>
          <a:p>
            <a:pPr algn="ctr"/>
            <a:r>
              <a:rPr sz="1000" b="0" i="0">
                <a:solidFill>
                  <a:srgbClr val="424242"/>
                </a:solidFill>
              </a:rPr>
              <a:t>L2=0.172</a:t>
            </a:r>
          </a:p>
        </p:txBody>
      </p:sp>
      <p:sp>
        <p:nvSpPr>
          <p:cNvPr id="62" name="Rectangle 61"/>
          <p:cNvSpPr/>
          <p:nvPr/>
        </p:nvSpPr>
        <p:spPr>
          <a:xfrm>
            <a:off x="3749040" y="2999232"/>
            <a:ext cx="161848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794760" y="3054096"/>
            <a:ext cx="1554480" cy="365760"/>
          </a:xfrm>
          <a:prstGeom prst="rect">
            <a:avLst/>
          </a:prstGeom>
          <a:noFill/>
        </p:spPr>
        <p:txBody>
          <a:bodyPr wrap="square">
            <a:spAutoFit/>
          </a:bodyPr>
          <a:lstStyle/>
          <a:p>
            <a:pPr algn="ctr"/>
            <a:r>
              <a:rPr sz="1000" b="0" i="0">
                <a:solidFill>
                  <a:srgbClr val="424242"/>
                </a:solidFill>
              </a:rPr>
              <a:t>2×50 gelu</a:t>
            </a:r>
          </a:p>
        </p:txBody>
      </p:sp>
      <p:sp>
        <p:nvSpPr>
          <p:cNvPr id="64" name="Rectangle 63"/>
          <p:cNvSpPr/>
          <p:nvPr/>
        </p:nvSpPr>
        <p:spPr>
          <a:xfrm>
            <a:off x="5394960" y="2999232"/>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40680" y="3054096"/>
            <a:ext cx="1463040" cy="365760"/>
          </a:xfrm>
          <a:prstGeom prst="rect">
            <a:avLst/>
          </a:prstGeom>
          <a:noFill/>
        </p:spPr>
        <p:txBody>
          <a:bodyPr wrap="square">
            <a:spAutoFit/>
          </a:bodyPr>
          <a:lstStyle/>
          <a:p>
            <a:pPr algn="ctr"/>
            <a:r>
              <a:rPr sz="1000" b="0" i="0">
                <a:solidFill>
                  <a:srgbClr val="424242"/>
                </a:solidFill>
              </a:rPr>
              <a:t>0.176</a:t>
            </a:r>
          </a:p>
        </p:txBody>
      </p:sp>
      <p:sp>
        <p:nvSpPr>
          <p:cNvPr id="66" name="Rectangle 65"/>
          <p:cNvSpPr/>
          <p:nvPr/>
        </p:nvSpPr>
        <p:spPr>
          <a:xfrm>
            <a:off x="6949440" y="2999232"/>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995160" y="3054096"/>
            <a:ext cx="1463040" cy="365760"/>
          </a:xfrm>
          <a:prstGeom prst="rect">
            <a:avLst/>
          </a:prstGeom>
          <a:noFill/>
        </p:spPr>
        <p:txBody>
          <a:bodyPr wrap="square">
            <a:spAutoFit/>
          </a:bodyPr>
          <a:lstStyle/>
          <a:p>
            <a:pPr algn="ctr"/>
            <a:r>
              <a:rPr sz="1000" b="0" i="0">
                <a:solidFill>
                  <a:srgbClr val="424242"/>
                </a:solidFill>
              </a:rPr>
              <a:t>0.176</a:t>
            </a:r>
          </a:p>
        </p:txBody>
      </p:sp>
      <p:sp>
        <p:nvSpPr>
          <p:cNvPr id="68" name="Rectangle 67"/>
          <p:cNvSpPr/>
          <p:nvPr/>
        </p:nvSpPr>
        <p:spPr>
          <a:xfrm>
            <a:off x="8503920" y="2999232"/>
            <a:ext cx="12527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549640" y="3054096"/>
            <a:ext cx="1188720" cy="365760"/>
          </a:xfrm>
          <a:prstGeom prst="rect">
            <a:avLst/>
          </a:prstGeom>
          <a:noFill/>
        </p:spPr>
        <p:txBody>
          <a:bodyPr wrap="square">
            <a:spAutoFit/>
          </a:bodyPr>
          <a:lstStyle/>
          <a:p>
            <a:pPr algn="ctr"/>
            <a:r>
              <a:rPr sz="1000" b="0" i="0">
                <a:solidFill>
                  <a:srgbClr val="424242"/>
                </a:solidFill>
              </a:rPr>
              <a:t>Hard</a:t>
            </a:r>
          </a:p>
        </p:txBody>
      </p:sp>
      <p:sp>
        <p:nvSpPr>
          <p:cNvPr id="70" name="Rectangle 69"/>
          <p:cNvSpPr/>
          <p:nvPr/>
        </p:nvSpPr>
        <p:spPr>
          <a:xfrm>
            <a:off x="365760" y="3456432"/>
            <a:ext cx="13441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11480" y="3511296"/>
            <a:ext cx="1280160" cy="365760"/>
          </a:xfrm>
          <a:prstGeom prst="rect">
            <a:avLst/>
          </a:prstGeom>
          <a:noFill/>
        </p:spPr>
        <p:txBody>
          <a:bodyPr wrap="square">
            <a:spAutoFit/>
          </a:bodyPr>
          <a:lstStyle/>
          <a:p>
            <a:pPr algn="ctr"/>
            <a:r>
              <a:rPr sz="1000" b="0" i="0">
                <a:solidFill>
                  <a:srgbClr val="1B5E20"/>
                </a:solidFill>
              </a:rPr>
              <a:t>Target</a:t>
            </a:r>
          </a:p>
        </p:txBody>
      </p:sp>
      <p:sp>
        <p:nvSpPr>
          <p:cNvPr id="72" name="Rectangle 71"/>
          <p:cNvSpPr/>
          <p:nvPr/>
        </p:nvSpPr>
        <p:spPr>
          <a:xfrm>
            <a:off x="1737360" y="3456432"/>
            <a:ext cx="19842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783080" y="3511296"/>
            <a:ext cx="1920240" cy="365760"/>
          </a:xfrm>
          <a:prstGeom prst="rect">
            <a:avLst/>
          </a:prstGeom>
          <a:noFill/>
        </p:spPr>
        <p:txBody>
          <a:bodyPr wrap="square">
            <a:spAutoFit/>
          </a:bodyPr>
          <a:lstStyle/>
          <a:p>
            <a:pPr algn="ctr"/>
            <a:r>
              <a:rPr sz="1000" b="0" i="0">
                <a:solidFill>
                  <a:srgbClr val="1B5E20"/>
                </a:solidFill>
              </a:rPr>
              <a:t>L2 &lt; 0.05</a:t>
            </a:r>
          </a:p>
        </p:txBody>
      </p:sp>
      <p:sp>
        <p:nvSpPr>
          <p:cNvPr id="74" name="Rectangle 73"/>
          <p:cNvSpPr/>
          <p:nvPr/>
        </p:nvSpPr>
        <p:spPr>
          <a:xfrm>
            <a:off x="3749040" y="3456432"/>
            <a:ext cx="161848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794760" y="3511296"/>
            <a:ext cx="1554480" cy="365760"/>
          </a:xfrm>
          <a:prstGeom prst="rect">
            <a:avLst/>
          </a:prstGeom>
          <a:noFill/>
        </p:spPr>
        <p:txBody>
          <a:bodyPr wrap="square">
            <a:spAutoFit/>
          </a:bodyPr>
          <a:lstStyle/>
          <a:p>
            <a:pPr algn="ctr"/>
            <a:r>
              <a:rPr sz="1000" b="0" i="0">
                <a:solidFill>
                  <a:srgbClr val="1B5E20"/>
                </a:solidFill>
              </a:rPr>
              <a:t>—</a:t>
            </a:r>
          </a:p>
        </p:txBody>
      </p:sp>
      <p:sp>
        <p:nvSpPr>
          <p:cNvPr id="76" name="Rectangle 75"/>
          <p:cNvSpPr/>
          <p:nvPr/>
        </p:nvSpPr>
        <p:spPr>
          <a:xfrm>
            <a:off x="5394960" y="3456432"/>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40680" y="3511296"/>
            <a:ext cx="1463040" cy="365760"/>
          </a:xfrm>
          <a:prstGeom prst="rect">
            <a:avLst/>
          </a:prstGeom>
          <a:noFill/>
        </p:spPr>
        <p:txBody>
          <a:bodyPr wrap="square">
            <a:spAutoFit/>
          </a:bodyPr>
          <a:lstStyle/>
          <a:p>
            <a:pPr algn="ctr"/>
            <a:r>
              <a:rPr sz="1000" b="0" i="0">
                <a:solidFill>
                  <a:srgbClr val="1B5E20"/>
                </a:solidFill>
              </a:rPr>
              <a:t>L2 &lt; 0.05</a:t>
            </a:r>
          </a:p>
        </p:txBody>
      </p:sp>
      <p:sp>
        <p:nvSpPr>
          <p:cNvPr id="78" name="Rectangle 77"/>
          <p:cNvSpPr/>
          <p:nvPr/>
        </p:nvSpPr>
        <p:spPr>
          <a:xfrm>
            <a:off x="6949440" y="3456432"/>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995160" y="3511296"/>
            <a:ext cx="1463040" cy="365760"/>
          </a:xfrm>
          <a:prstGeom prst="rect">
            <a:avLst/>
          </a:prstGeom>
          <a:noFill/>
        </p:spPr>
        <p:txBody>
          <a:bodyPr wrap="square">
            <a:spAutoFit/>
          </a:bodyPr>
          <a:lstStyle/>
          <a:p>
            <a:pPr algn="ctr"/>
            <a:r>
              <a:rPr sz="1000" b="0" i="0">
                <a:solidFill>
                  <a:srgbClr val="1B5E20"/>
                </a:solidFill>
              </a:rPr>
              <a:t>L2 &lt; 0.05</a:t>
            </a:r>
          </a:p>
        </p:txBody>
      </p:sp>
      <p:sp>
        <p:nvSpPr>
          <p:cNvPr id="80" name="Rectangle 79"/>
          <p:cNvSpPr/>
          <p:nvPr/>
        </p:nvSpPr>
        <p:spPr>
          <a:xfrm>
            <a:off x="8503920" y="3456432"/>
            <a:ext cx="12527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49640" y="3511296"/>
            <a:ext cx="1188720" cy="365760"/>
          </a:xfrm>
          <a:prstGeom prst="rect">
            <a:avLst/>
          </a:prstGeom>
          <a:noFill/>
        </p:spPr>
        <p:txBody>
          <a:bodyPr wrap="square">
            <a:spAutoFit/>
          </a:bodyPr>
          <a:lstStyle/>
          <a:p>
            <a:pPr algn="ctr"/>
            <a:r>
              <a:rPr sz="1000" b="0" i="0">
                <a:solidFill>
                  <a:srgbClr val="1B5E20"/>
                </a:solidFill>
              </a:rPr>
              <a:t>—</a:t>
            </a:r>
          </a:p>
        </p:txBody>
      </p:sp>
      <p:pic>
        <p:nvPicPr>
          <p:cNvPr id="82" name="Picture 81" descr="pres_l7b_results.png"/>
          <p:cNvPicPr>
            <a:picLocks noChangeAspect="1"/>
          </p:cNvPicPr>
          <p:nvPr/>
        </p:nvPicPr>
        <p:blipFill>
          <a:blip r:embed="rId2"/>
          <a:stretch>
            <a:fillRect/>
          </a:stretch>
        </p:blipFill>
        <p:spPr>
          <a:xfrm>
            <a:off x="365760" y="3931920"/>
            <a:ext cx="11612880" cy="2606040"/>
          </a:xfrm>
          <a:prstGeom prst="rect">
            <a:avLst/>
          </a:prstGeom>
        </p:spPr>
      </p:pic>
      <p:sp>
        <p:nvSpPr>
          <p:cNvPr id="83" name="TextBox 82"/>
          <p:cNvSpPr txBox="1"/>
          <p:nvPr/>
        </p:nvSpPr>
        <p:spPr>
          <a:xfrm>
            <a:off x="365760" y="6519672"/>
            <a:ext cx="11521440" cy="237744"/>
          </a:xfrm>
          <a:prstGeom prst="rect">
            <a:avLst/>
          </a:prstGeom>
          <a:noFill/>
        </p:spPr>
        <p:txBody>
          <a:bodyPr wrap="square">
            <a:spAutoFit/>
          </a:bodyPr>
          <a:lstStyle/>
          <a:p>
            <a:pPr algn="l"/>
            <a:r>
              <a:rPr sz="1000" b="0" i="1">
                <a:solidFill>
                  <a:srgbClr val="424242"/>
                </a:solidFill>
              </a:rPr>
              <a:t>Note: Annulus not included — NAS did not converge for all optimizers. Flower geometry is hardest (complex 5-petal boundary). Circle is easiest (smooth).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Cross-Level Summary — L2 Progression Across All Levels</a:t>
            </a:r>
          </a:p>
        </p:txBody>
      </p:sp>
      <p:sp>
        <p:nvSpPr>
          <p:cNvPr id="5" name="Rectangle 4"/>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pic>
        <p:nvPicPr>
          <p:cNvPr id="7" name="Picture 6" descr="pres_cross_level_l2.png"/>
          <p:cNvPicPr>
            <a:picLocks noChangeAspect="1"/>
          </p:cNvPicPr>
          <p:nvPr/>
        </p:nvPicPr>
        <p:blipFill>
          <a:blip r:embed="rId2"/>
          <a:stretch>
            <a:fillRect/>
          </a:stretch>
        </p:blipFill>
        <p:spPr>
          <a:xfrm>
            <a:off x="320040" y="1078992"/>
            <a:ext cx="5943600" cy="5394960"/>
          </a:xfrm>
          <a:prstGeom prst="rect">
            <a:avLst/>
          </a:prstGeom>
        </p:spPr>
      </p:pic>
      <p:sp>
        <p:nvSpPr>
          <p:cNvPr id="8" name="Rectangle 7"/>
          <p:cNvSpPr/>
          <p:nvPr/>
        </p:nvSpPr>
        <p:spPr>
          <a:xfrm>
            <a:off x="6400800" y="1170432"/>
            <a:ext cx="79552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225296"/>
            <a:ext cx="731520" cy="347472"/>
          </a:xfrm>
          <a:prstGeom prst="rect">
            <a:avLst/>
          </a:prstGeom>
          <a:noFill/>
        </p:spPr>
        <p:txBody>
          <a:bodyPr wrap="square">
            <a:spAutoFit/>
          </a:bodyPr>
          <a:lstStyle/>
          <a:p>
            <a:pPr algn="ctr"/>
            <a:r>
              <a:rPr sz="900" b="1" i="0">
                <a:solidFill>
                  <a:srgbClr val="FFFFFF"/>
                </a:solidFill>
              </a:rPr>
              <a:t>Level</a:t>
            </a:r>
          </a:p>
        </p:txBody>
      </p:sp>
      <p:sp>
        <p:nvSpPr>
          <p:cNvPr id="10" name="Rectangle 9"/>
          <p:cNvSpPr/>
          <p:nvPr/>
        </p:nvSpPr>
        <p:spPr>
          <a:xfrm>
            <a:off x="7223760" y="1170432"/>
            <a:ext cx="22585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225296"/>
            <a:ext cx="2194560" cy="347472"/>
          </a:xfrm>
          <a:prstGeom prst="rect">
            <a:avLst/>
          </a:prstGeom>
          <a:noFill/>
        </p:spPr>
        <p:txBody>
          <a:bodyPr wrap="square">
            <a:spAutoFit/>
          </a:bodyPr>
          <a:lstStyle/>
          <a:p>
            <a:pPr algn="ctr"/>
            <a:r>
              <a:rPr sz="900" b="1" i="0">
                <a:solidFill>
                  <a:srgbClr val="FFFFFF"/>
                </a:solidFill>
              </a:rPr>
              <a:t>Method</a:t>
            </a:r>
          </a:p>
        </p:txBody>
      </p:sp>
      <p:sp>
        <p:nvSpPr>
          <p:cNvPr id="12" name="Rectangle 11"/>
          <p:cNvSpPr/>
          <p:nvPr/>
        </p:nvSpPr>
        <p:spPr>
          <a:xfrm>
            <a:off x="9509760" y="1170432"/>
            <a:ext cx="13441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55480" y="1225296"/>
            <a:ext cx="1280160" cy="347472"/>
          </a:xfrm>
          <a:prstGeom prst="rect">
            <a:avLst/>
          </a:prstGeom>
          <a:noFill/>
        </p:spPr>
        <p:txBody>
          <a:bodyPr wrap="square">
            <a:spAutoFit/>
          </a:bodyPr>
          <a:lstStyle/>
          <a:p>
            <a:pPr algn="ctr"/>
            <a:r>
              <a:rPr sz="900" b="1" i="0">
                <a:solidFill>
                  <a:srgbClr val="FFFFFF"/>
                </a:solidFill>
              </a:rPr>
              <a:t>Bayesian L2</a:t>
            </a:r>
          </a:p>
        </p:txBody>
      </p:sp>
      <p:sp>
        <p:nvSpPr>
          <p:cNvPr id="14" name="Rectangle 13"/>
          <p:cNvSpPr/>
          <p:nvPr/>
        </p:nvSpPr>
        <p:spPr>
          <a:xfrm>
            <a:off x="10881360" y="1170432"/>
            <a:ext cx="13441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7080" y="1225296"/>
            <a:ext cx="1280160" cy="347472"/>
          </a:xfrm>
          <a:prstGeom prst="rect">
            <a:avLst/>
          </a:prstGeom>
          <a:noFill/>
        </p:spPr>
        <p:txBody>
          <a:bodyPr wrap="square">
            <a:spAutoFit/>
          </a:bodyPr>
          <a:lstStyle/>
          <a:p>
            <a:pPr algn="ctr"/>
            <a:r>
              <a:rPr sz="900" b="1" i="0">
                <a:solidFill>
                  <a:srgbClr val="FFFFFF"/>
                </a:solidFill>
              </a:rPr>
              <a:t>NSGA-II L2</a:t>
            </a:r>
          </a:p>
        </p:txBody>
      </p:sp>
      <p:sp>
        <p:nvSpPr>
          <p:cNvPr id="16" name="Rectangle 15"/>
          <p:cNvSpPr/>
          <p:nvPr/>
        </p:nvSpPr>
        <p:spPr>
          <a:xfrm>
            <a:off x="12252960" y="1170432"/>
            <a:ext cx="152704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98680" y="1225296"/>
            <a:ext cx="1463040" cy="347472"/>
          </a:xfrm>
          <a:prstGeom prst="rect">
            <a:avLst/>
          </a:prstGeom>
          <a:noFill/>
        </p:spPr>
        <p:txBody>
          <a:bodyPr wrap="square">
            <a:spAutoFit/>
          </a:bodyPr>
          <a:lstStyle/>
          <a:p>
            <a:pPr algn="ctr"/>
            <a:r>
              <a:rPr sz="900" b="1" i="0">
                <a:solidFill>
                  <a:srgbClr val="FFFFFF"/>
                </a:solidFill>
              </a:rPr>
              <a:t>NSGA-III L2</a:t>
            </a:r>
          </a:p>
        </p:txBody>
      </p:sp>
      <p:sp>
        <p:nvSpPr>
          <p:cNvPr id="18" name="Rectangle 17"/>
          <p:cNvSpPr/>
          <p:nvPr/>
        </p:nvSpPr>
        <p:spPr>
          <a:xfrm>
            <a:off x="6400800" y="1609344"/>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664208"/>
            <a:ext cx="731520" cy="347472"/>
          </a:xfrm>
          <a:prstGeom prst="rect">
            <a:avLst/>
          </a:prstGeom>
          <a:noFill/>
        </p:spPr>
        <p:txBody>
          <a:bodyPr wrap="square">
            <a:spAutoFit/>
          </a:bodyPr>
          <a:lstStyle/>
          <a:p>
            <a:pPr algn="ctr"/>
            <a:r>
              <a:rPr sz="1000" b="0" i="0">
                <a:solidFill>
                  <a:srgbClr val="424242"/>
                </a:solidFill>
              </a:rPr>
              <a:t>L1</a:t>
            </a:r>
          </a:p>
        </p:txBody>
      </p:sp>
      <p:sp>
        <p:nvSpPr>
          <p:cNvPr id="20" name="Rectangle 19"/>
          <p:cNvSpPr/>
          <p:nvPr/>
        </p:nvSpPr>
        <p:spPr>
          <a:xfrm>
            <a:off x="7223760" y="1609344"/>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664208"/>
            <a:ext cx="2194560" cy="347472"/>
          </a:xfrm>
          <a:prstGeom prst="rect">
            <a:avLst/>
          </a:prstGeom>
          <a:noFill/>
        </p:spPr>
        <p:txBody>
          <a:bodyPr wrap="square">
            <a:spAutoFit/>
          </a:bodyPr>
          <a:lstStyle/>
          <a:p>
            <a:pPr algn="ctr"/>
            <a:r>
              <a:rPr sz="1000" b="0" i="0">
                <a:solidFill>
                  <a:srgbClr val="424242"/>
                </a:solidFill>
              </a:rPr>
              <a:t>Adam 20k epochs</a:t>
            </a:r>
          </a:p>
        </p:txBody>
      </p:sp>
      <p:sp>
        <p:nvSpPr>
          <p:cNvPr id="22" name="Rectangle 21"/>
          <p:cNvSpPr/>
          <p:nvPr/>
        </p:nvSpPr>
        <p:spPr>
          <a:xfrm>
            <a:off x="9509760" y="1609344"/>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55480" y="1664208"/>
            <a:ext cx="1280160" cy="347472"/>
          </a:xfrm>
          <a:prstGeom prst="rect">
            <a:avLst/>
          </a:prstGeom>
          <a:noFill/>
        </p:spPr>
        <p:txBody>
          <a:bodyPr wrap="square">
            <a:spAutoFit/>
          </a:bodyPr>
          <a:lstStyle/>
          <a:p>
            <a:pPr algn="ctr"/>
            <a:r>
              <a:rPr sz="1000" b="0" i="0">
                <a:solidFill>
                  <a:srgbClr val="424242"/>
                </a:solidFill>
              </a:rPr>
              <a:t>0.076</a:t>
            </a:r>
          </a:p>
        </p:txBody>
      </p:sp>
      <p:sp>
        <p:nvSpPr>
          <p:cNvPr id="24" name="Rectangle 23"/>
          <p:cNvSpPr/>
          <p:nvPr/>
        </p:nvSpPr>
        <p:spPr>
          <a:xfrm>
            <a:off x="10881360" y="1609344"/>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27080" y="1664208"/>
            <a:ext cx="1280160" cy="347472"/>
          </a:xfrm>
          <a:prstGeom prst="rect">
            <a:avLst/>
          </a:prstGeom>
          <a:noFill/>
        </p:spPr>
        <p:txBody>
          <a:bodyPr wrap="square">
            <a:spAutoFit/>
          </a:bodyPr>
          <a:lstStyle/>
          <a:p>
            <a:pPr algn="ctr"/>
            <a:r>
              <a:rPr sz="1000" b="0" i="0">
                <a:solidFill>
                  <a:srgbClr val="424242"/>
                </a:solidFill>
              </a:rPr>
              <a:t>0.252</a:t>
            </a:r>
          </a:p>
        </p:txBody>
      </p:sp>
      <p:sp>
        <p:nvSpPr>
          <p:cNvPr id="26" name="Rectangle 25"/>
          <p:cNvSpPr/>
          <p:nvPr/>
        </p:nvSpPr>
        <p:spPr>
          <a:xfrm>
            <a:off x="12252960" y="1609344"/>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298680" y="1664208"/>
            <a:ext cx="1463040" cy="347472"/>
          </a:xfrm>
          <a:prstGeom prst="rect">
            <a:avLst/>
          </a:prstGeom>
          <a:noFill/>
        </p:spPr>
        <p:txBody>
          <a:bodyPr wrap="square">
            <a:spAutoFit/>
          </a:bodyPr>
          <a:lstStyle/>
          <a:p>
            <a:pPr algn="ctr"/>
            <a:r>
              <a:rPr sz="1000" b="0" i="0">
                <a:solidFill>
                  <a:srgbClr val="424242"/>
                </a:solidFill>
              </a:rPr>
              <a:t>0.513</a:t>
            </a:r>
          </a:p>
        </p:txBody>
      </p:sp>
      <p:sp>
        <p:nvSpPr>
          <p:cNvPr id="28" name="Rectangle 27"/>
          <p:cNvSpPr/>
          <p:nvPr/>
        </p:nvSpPr>
        <p:spPr>
          <a:xfrm>
            <a:off x="6400800" y="2048256"/>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731520" cy="347472"/>
          </a:xfrm>
          <a:prstGeom prst="rect">
            <a:avLst/>
          </a:prstGeom>
          <a:noFill/>
        </p:spPr>
        <p:txBody>
          <a:bodyPr wrap="square">
            <a:spAutoFit/>
          </a:bodyPr>
          <a:lstStyle/>
          <a:p>
            <a:pPr algn="ctr"/>
            <a:r>
              <a:rPr sz="1000" b="0" i="0">
                <a:solidFill>
                  <a:srgbClr val="424242"/>
                </a:solidFill>
              </a:rPr>
              <a:t>L2 ★</a:t>
            </a:r>
          </a:p>
        </p:txBody>
      </p:sp>
      <p:sp>
        <p:nvSpPr>
          <p:cNvPr id="30" name="Rectangle 29"/>
          <p:cNvSpPr/>
          <p:nvPr/>
        </p:nvSpPr>
        <p:spPr>
          <a:xfrm>
            <a:off x="7223760" y="2048256"/>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69480" y="2103120"/>
            <a:ext cx="2194560" cy="347472"/>
          </a:xfrm>
          <a:prstGeom prst="rect">
            <a:avLst/>
          </a:prstGeom>
          <a:noFill/>
        </p:spPr>
        <p:txBody>
          <a:bodyPr wrap="square">
            <a:spAutoFit/>
          </a:bodyPr>
          <a:lstStyle/>
          <a:p>
            <a:pPr algn="ctr"/>
            <a:r>
              <a:rPr sz="1000" b="0" i="0">
                <a:solidFill>
                  <a:srgbClr val="424242"/>
                </a:solidFill>
              </a:rPr>
              <a:t>Skip=2 (500ep)</a:t>
            </a:r>
          </a:p>
        </p:txBody>
      </p:sp>
      <p:sp>
        <p:nvSpPr>
          <p:cNvPr id="32" name="Rectangle 31"/>
          <p:cNvSpPr/>
          <p:nvPr/>
        </p:nvSpPr>
        <p:spPr>
          <a:xfrm>
            <a:off x="9509760" y="2048256"/>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55480" y="2103120"/>
            <a:ext cx="1280160" cy="347472"/>
          </a:xfrm>
          <a:prstGeom prst="rect">
            <a:avLst/>
          </a:prstGeom>
          <a:noFill/>
        </p:spPr>
        <p:txBody>
          <a:bodyPr wrap="square">
            <a:spAutoFit/>
          </a:bodyPr>
          <a:lstStyle/>
          <a:p>
            <a:pPr algn="ctr"/>
            <a:r>
              <a:rPr sz="1000" b="0" i="0">
                <a:solidFill>
                  <a:srgbClr val="424242"/>
                </a:solidFill>
              </a:rPr>
              <a:t>0.108</a:t>
            </a:r>
          </a:p>
        </p:txBody>
      </p:sp>
      <p:sp>
        <p:nvSpPr>
          <p:cNvPr id="34" name="Rectangle 33"/>
          <p:cNvSpPr/>
          <p:nvPr/>
        </p:nvSpPr>
        <p:spPr>
          <a:xfrm>
            <a:off x="10881360" y="2048256"/>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27080" y="2103120"/>
            <a:ext cx="1280160" cy="347472"/>
          </a:xfrm>
          <a:prstGeom prst="rect">
            <a:avLst/>
          </a:prstGeom>
          <a:noFill/>
        </p:spPr>
        <p:txBody>
          <a:bodyPr wrap="square">
            <a:spAutoFit/>
          </a:bodyPr>
          <a:lstStyle/>
          <a:p>
            <a:pPr algn="ctr"/>
            <a:r>
              <a:rPr sz="1000" b="0" i="0">
                <a:solidFill>
                  <a:srgbClr val="424242"/>
                </a:solidFill>
              </a:rPr>
              <a:t>0.181</a:t>
            </a:r>
          </a:p>
        </p:txBody>
      </p:sp>
      <p:sp>
        <p:nvSpPr>
          <p:cNvPr id="36" name="Rectangle 35"/>
          <p:cNvSpPr/>
          <p:nvPr/>
        </p:nvSpPr>
        <p:spPr>
          <a:xfrm>
            <a:off x="12252960" y="2048256"/>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298680" y="2103120"/>
            <a:ext cx="1463040" cy="347472"/>
          </a:xfrm>
          <a:prstGeom prst="rect">
            <a:avLst/>
          </a:prstGeom>
          <a:noFill/>
        </p:spPr>
        <p:txBody>
          <a:bodyPr wrap="square">
            <a:spAutoFit/>
          </a:bodyPr>
          <a:lstStyle/>
          <a:p>
            <a:pPr algn="ctr"/>
            <a:r>
              <a:rPr sz="1000" b="0" i="0">
                <a:solidFill>
                  <a:srgbClr val="424242"/>
                </a:solidFill>
              </a:rPr>
              <a:t>0.217</a:t>
            </a:r>
          </a:p>
        </p:txBody>
      </p:sp>
      <p:sp>
        <p:nvSpPr>
          <p:cNvPr id="38" name="Rectangle 37"/>
          <p:cNvSpPr/>
          <p:nvPr/>
        </p:nvSpPr>
        <p:spPr>
          <a:xfrm>
            <a:off x="6400800" y="2487168"/>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2542032"/>
            <a:ext cx="731520" cy="347472"/>
          </a:xfrm>
          <a:prstGeom prst="rect">
            <a:avLst/>
          </a:prstGeom>
          <a:noFill/>
        </p:spPr>
        <p:txBody>
          <a:bodyPr wrap="square">
            <a:spAutoFit/>
          </a:bodyPr>
          <a:lstStyle/>
          <a:p>
            <a:pPr algn="ctr"/>
            <a:r>
              <a:rPr sz="1000" b="0" i="0">
                <a:solidFill>
                  <a:srgbClr val="424242"/>
                </a:solidFill>
              </a:rPr>
              <a:t>L3</a:t>
            </a:r>
          </a:p>
        </p:txBody>
      </p:sp>
      <p:sp>
        <p:nvSpPr>
          <p:cNvPr id="40" name="Rectangle 39"/>
          <p:cNvSpPr/>
          <p:nvPr/>
        </p:nvSpPr>
        <p:spPr>
          <a:xfrm>
            <a:off x="7223760" y="2487168"/>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69480" y="2542032"/>
            <a:ext cx="2194560" cy="347472"/>
          </a:xfrm>
          <a:prstGeom prst="rect">
            <a:avLst/>
          </a:prstGeom>
          <a:noFill/>
        </p:spPr>
        <p:txBody>
          <a:bodyPr wrap="square">
            <a:spAutoFit/>
          </a:bodyPr>
          <a:lstStyle/>
          <a:p>
            <a:pPr algn="ctr"/>
            <a:r>
              <a:rPr sz="1000" b="0" i="0">
                <a:solidFill>
                  <a:srgbClr val="424242"/>
                </a:solidFill>
              </a:rPr>
              <a:t>Hybrid 80% skip</a:t>
            </a:r>
          </a:p>
        </p:txBody>
      </p:sp>
      <p:sp>
        <p:nvSpPr>
          <p:cNvPr id="42" name="Rectangle 41"/>
          <p:cNvSpPr/>
          <p:nvPr/>
        </p:nvSpPr>
        <p:spPr>
          <a:xfrm>
            <a:off x="9509760" y="2487168"/>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55480" y="2542032"/>
            <a:ext cx="1280160" cy="347472"/>
          </a:xfrm>
          <a:prstGeom prst="rect">
            <a:avLst/>
          </a:prstGeom>
          <a:noFill/>
        </p:spPr>
        <p:txBody>
          <a:bodyPr wrap="square">
            <a:spAutoFit/>
          </a:bodyPr>
          <a:lstStyle/>
          <a:p>
            <a:pPr algn="ctr"/>
            <a:r>
              <a:rPr sz="1000" b="0" i="0">
                <a:solidFill>
                  <a:srgbClr val="424242"/>
                </a:solidFill>
              </a:rPr>
              <a:t>≈0.076</a:t>
            </a:r>
          </a:p>
        </p:txBody>
      </p:sp>
      <p:sp>
        <p:nvSpPr>
          <p:cNvPr id="44" name="Rectangle 43"/>
          <p:cNvSpPr/>
          <p:nvPr/>
        </p:nvSpPr>
        <p:spPr>
          <a:xfrm>
            <a:off x="10881360" y="2487168"/>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27080" y="2542032"/>
            <a:ext cx="1280160" cy="347472"/>
          </a:xfrm>
          <a:prstGeom prst="rect">
            <a:avLst/>
          </a:prstGeom>
          <a:noFill/>
        </p:spPr>
        <p:txBody>
          <a:bodyPr wrap="square">
            <a:spAutoFit/>
          </a:bodyPr>
          <a:lstStyle/>
          <a:p>
            <a:pPr algn="ctr"/>
            <a:r>
              <a:rPr sz="1000" b="0" i="0">
                <a:solidFill>
                  <a:srgbClr val="424242"/>
                </a:solidFill>
              </a:rPr>
              <a:t>≈0.127</a:t>
            </a:r>
          </a:p>
        </p:txBody>
      </p:sp>
      <p:sp>
        <p:nvSpPr>
          <p:cNvPr id="46" name="Rectangle 45"/>
          <p:cNvSpPr/>
          <p:nvPr/>
        </p:nvSpPr>
        <p:spPr>
          <a:xfrm>
            <a:off x="12252960" y="2487168"/>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298680" y="2542032"/>
            <a:ext cx="1463040" cy="347472"/>
          </a:xfrm>
          <a:prstGeom prst="rect">
            <a:avLst/>
          </a:prstGeom>
          <a:noFill/>
        </p:spPr>
        <p:txBody>
          <a:bodyPr wrap="square">
            <a:spAutoFit/>
          </a:bodyPr>
          <a:lstStyle/>
          <a:p>
            <a:pPr algn="ctr"/>
            <a:r>
              <a:rPr sz="1000" b="0" i="0">
                <a:solidFill>
                  <a:srgbClr val="424242"/>
                </a:solidFill>
              </a:rPr>
              <a:t>≈0.137</a:t>
            </a:r>
          </a:p>
        </p:txBody>
      </p:sp>
      <p:sp>
        <p:nvSpPr>
          <p:cNvPr id="48" name="Rectangle 47"/>
          <p:cNvSpPr/>
          <p:nvPr/>
        </p:nvSpPr>
        <p:spPr>
          <a:xfrm>
            <a:off x="6400800" y="2926080"/>
            <a:ext cx="79552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2980944"/>
            <a:ext cx="731520" cy="347472"/>
          </a:xfrm>
          <a:prstGeom prst="rect">
            <a:avLst/>
          </a:prstGeom>
          <a:noFill/>
        </p:spPr>
        <p:txBody>
          <a:bodyPr wrap="square">
            <a:spAutoFit/>
          </a:bodyPr>
          <a:lstStyle/>
          <a:p>
            <a:pPr algn="ctr"/>
            <a:r>
              <a:rPr sz="1000" b="0" i="0">
                <a:solidFill>
                  <a:srgbClr val="1B5E20"/>
                </a:solidFill>
              </a:rPr>
              <a:t>L5</a:t>
            </a:r>
          </a:p>
        </p:txBody>
      </p:sp>
      <p:sp>
        <p:nvSpPr>
          <p:cNvPr id="50" name="Rectangle 49"/>
          <p:cNvSpPr/>
          <p:nvPr/>
        </p:nvSpPr>
        <p:spPr>
          <a:xfrm>
            <a:off x="7223760" y="2926080"/>
            <a:ext cx="22585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69480" y="2980944"/>
            <a:ext cx="2194560" cy="347472"/>
          </a:xfrm>
          <a:prstGeom prst="rect">
            <a:avLst/>
          </a:prstGeom>
          <a:noFill/>
        </p:spPr>
        <p:txBody>
          <a:bodyPr wrap="square">
            <a:spAutoFit/>
          </a:bodyPr>
          <a:lstStyle/>
          <a:p>
            <a:pPr algn="ctr"/>
            <a:r>
              <a:rPr sz="1000" b="0" i="0">
                <a:solidFill>
                  <a:srgbClr val="1B5E20"/>
                </a:solidFill>
              </a:rPr>
              <a:t>Extended Adam</a:t>
            </a:r>
          </a:p>
        </p:txBody>
      </p:sp>
      <p:sp>
        <p:nvSpPr>
          <p:cNvPr id="52" name="Rectangle 51"/>
          <p:cNvSpPr/>
          <p:nvPr/>
        </p:nvSpPr>
        <p:spPr>
          <a:xfrm>
            <a:off x="9509760" y="2926080"/>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55480" y="2980944"/>
            <a:ext cx="1280160" cy="347472"/>
          </a:xfrm>
          <a:prstGeom prst="rect">
            <a:avLst/>
          </a:prstGeom>
          <a:noFill/>
        </p:spPr>
        <p:txBody>
          <a:bodyPr wrap="square">
            <a:spAutoFit/>
          </a:bodyPr>
          <a:lstStyle/>
          <a:p>
            <a:pPr algn="ctr"/>
            <a:r>
              <a:rPr sz="1000" b="0" i="0">
                <a:solidFill>
                  <a:srgbClr val="1B5E20"/>
                </a:solidFill>
              </a:rPr>
              <a:t>0.030 ✓</a:t>
            </a:r>
          </a:p>
        </p:txBody>
      </p:sp>
      <p:sp>
        <p:nvSpPr>
          <p:cNvPr id="54" name="Rectangle 53"/>
          <p:cNvSpPr/>
          <p:nvPr/>
        </p:nvSpPr>
        <p:spPr>
          <a:xfrm>
            <a:off x="10881360" y="2926080"/>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27080" y="2980944"/>
            <a:ext cx="1280160" cy="347472"/>
          </a:xfrm>
          <a:prstGeom prst="rect">
            <a:avLst/>
          </a:prstGeom>
          <a:noFill/>
        </p:spPr>
        <p:txBody>
          <a:bodyPr wrap="square">
            <a:spAutoFit/>
          </a:bodyPr>
          <a:lstStyle/>
          <a:p>
            <a:pPr algn="ctr"/>
            <a:r>
              <a:rPr sz="1000" b="0" i="0">
                <a:solidFill>
                  <a:srgbClr val="1B5E20"/>
                </a:solidFill>
              </a:rPr>
              <a:t>0.055 ✓</a:t>
            </a:r>
          </a:p>
        </p:txBody>
      </p:sp>
      <p:sp>
        <p:nvSpPr>
          <p:cNvPr id="56" name="Rectangle 55"/>
          <p:cNvSpPr/>
          <p:nvPr/>
        </p:nvSpPr>
        <p:spPr>
          <a:xfrm>
            <a:off x="12252960" y="2926080"/>
            <a:ext cx="152704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298680" y="2980944"/>
            <a:ext cx="1463040" cy="347472"/>
          </a:xfrm>
          <a:prstGeom prst="rect">
            <a:avLst/>
          </a:prstGeom>
          <a:noFill/>
        </p:spPr>
        <p:txBody>
          <a:bodyPr wrap="square">
            <a:spAutoFit/>
          </a:bodyPr>
          <a:lstStyle/>
          <a:p>
            <a:pPr algn="ctr"/>
            <a:r>
              <a:rPr sz="1000" b="0" i="0">
                <a:solidFill>
                  <a:srgbClr val="1B5E20"/>
                </a:solidFill>
              </a:rPr>
              <a:t>0.259</a:t>
            </a:r>
          </a:p>
        </p:txBody>
      </p:sp>
      <p:sp>
        <p:nvSpPr>
          <p:cNvPr id="58" name="Rectangle 57"/>
          <p:cNvSpPr/>
          <p:nvPr/>
        </p:nvSpPr>
        <p:spPr>
          <a:xfrm>
            <a:off x="6400800" y="3364992"/>
            <a:ext cx="79552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46520" y="3419856"/>
            <a:ext cx="731520" cy="347472"/>
          </a:xfrm>
          <a:prstGeom prst="rect">
            <a:avLst/>
          </a:prstGeom>
          <a:noFill/>
        </p:spPr>
        <p:txBody>
          <a:bodyPr wrap="square">
            <a:spAutoFit/>
          </a:bodyPr>
          <a:lstStyle/>
          <a:p>
            <a:pPr algn="ctr"/>
            <a:r>
              <a:rPr sz="1000" b="0" i="0">
                <a:solidFill>
                  <a:srgbClr val="1B5E20"/>
                </a:solidFill>
              </a:rPr>
              <a:t>L6</a:t>
            </a:r>
          </a:p>
        </p:txBody>
      </p:sp>
      <p:sp>
        <p:nvSpPr>
          <p:cNvPr id="60" name="Rectangle 59"/>
          <p:cNvSpPr/>
          <p:nvPr/>
        </p:nvSpPr>
        <p:spPr>
          <a:xfrm>
            <a:off x="7223760" y="3364992"/>
            <a:ext cx="22585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69480" y="3419856"/>
            <a:ext cx="2194560" cy="347472"/>
          </a:xfrm>
          <a:prstGeom prst="rect">
            <a:avLst/>
          </a:prstGeom>
          <a:noFill/>
        </p:spPr>
        <p:txBody>
          <a:bodyPr wrap="square">
            <a:spAutoFit/>
          </a:bodyPr>
          <a:lstStyle/>
          <a:p>
            <a:pPr algn="ctr"/>
            <a:r>
              <a:rPr sz="1000" b="0" i="0">
                <a:solidFill>
                  <a:srgbClr val="1B5E20"/>
                </a:solidFill>
              </a:rPr>
              <a:t>Poisson fine-tune</a:t>
            </a:r>
          </a:p>
        </p:txBody>
      </p:sp>
      <p:sp>
        <p:nvSpPr>
          <p:cNvPr id="62" name="Rectangle 61"/>
          <p:cNvSpPr/>
          <p:nvPr/>
        </p:nvSpPr>
        <p:spPr>
          <a:xfrm>
            <a:off x="9509760" y="3364992"/>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555480" y="3419856"/>
            <a:ext cx="1280160" cy="347472"/>
          </a:xfrm>
          <a:prstGeom prst="rect">
            <a:avLst/>
          </a:prstGeom>
          <a:noFill/>
        </p:spPr>
        <p:txBody>
          <a:bodyPr wrap="square">
            <a:spAutoFit/>
          </a:bodyPr>
          <a:lstStyle/>
          <a:p>
            <a:pPr algn="ctr"/>
            <a:r>
              <a:rPr sz="1000" b="0" i="0">
                <a:solidFill>
                  <a:srgbClr val="1B5E20"/>
                </a:solidFill>
              </a:rPr>
              <a:t>0.031 ✓</a:t>
            </a:r>
          </a:p>
        </p:txBody>
      </p:sp>
      <p:sp>
        <p:nvSpPr>
          <p:cNvPr id="64" name="Rectangle 63"/>
          <p:cNvSpPr/>
          <p:nvPr/>
        </p:nvSpPr>
        <p:spPr>
          <a:xfrm>
            <a:off x="10881360" y="3364992"/>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927080" y="3419856"/>
            <a:ext cx="1280160" cy="347472"/>
          </a:xfrm>
          <a:prstGeom prst="rect">
            <a:avLst/>
          </a:prstGeom>
          <a:noFill/>
        </p:spPr>
        <p:txBody>
          <a:bodyPr wrap="square">
            <a:spAutoFit/>
          </a:bodyPr>
          <a:lstStyle/>
          <a:p>
            <a:pPr algn="ctr"/>
            <a:r>
              <a:rPr sz="1000" b="0" i="0">
                <a:solidFill>
                  <a:srgbClr val="1B5E20"/>
                </a:solidFill>
              </a:rPr>
              <a:t>0.058 ✓</a:t>
            </a:r>
          </a:p>
        </p:txBody>
      </p:sp>
      <p:sp>
        <p:nvSpPr>
          <p:cNvPr id="66" name="Rectangle 65"/>
          <p:cNvSpPr/>
          <p:nvPr/>
        </p:nvSpPr>
        <p:spPr>
          <a:xfrm>
            <a:off x="12252960" y="3364992"/>
            <a:ext cx="152704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98680" y="3419856"/>
            <a:ext cx="1463040" cy="347472"/>
          </a:xfrm>
          <a:prstGeom prst="rect">
            <a:avLst/>
          </a:prstGeom>
          <a:noFill/>
        </p:spPr>
        <p:txBody>
          <a:bodyPr wrap="square">
            <a:spAutoFit/>
          </a:bodyPr>
          <a:lstStyle/>
          <a:p>
            <a:pPr algn="ctr"/>
            <a:r>
              <a:rPr sz="1000" b="0" i="0">
                <a:solidFill>
                  <a:srgbClr val="1B5E20"/>
                </a:solidFill>
              </a:rPr>
              <a:t>0.267</a:t>
            </a:r>
          </a:p>
        </p:txBody>
      </p:sp>
      <p:sp>
        <p:nvSpPr>
          <p:cNvPr id="68" name="Rectangle 67"/>
          <p:cNvSpPr/>
          <p:nvPr/>
        </p:nvSpPr>
        <p:spPr>
          <a:xfrm>
            <a:off x="6400800" y="3803904"/>
            <a:ext cx="79552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46520" y="3858768"/>
            <a:ext cx="731520" cy="347472"/>
          </a:xfrm>
          <a:prstGeom prst="rect">
            <a:avLst/>
          </a:prstGeom>
          <a:noFill/>
        </p:spPr>
        <p:txBody>
          <a:bodyPr wrap="square">
            <a:spAutoFit/>
          </a:bodyPr>
          <a:lstStyle/>
          <a:p>
            <a:pPr algn="ctr"/>
            <a:r>
              <a:rPr sz="1000" b="0" i="0">
                <a:solidFill>
                  <a:srgbClr val="1B5E20"/>
                </a:solidFill>
              </a:rPr>
              <a:t>Target</a:t>
            </a:r>
          </a:p>
        </p:txBody>
      </p:sp>
      <p:sp>
        <p:nvSpPr>
          <p:cNvPr id="70" name="Rectangle 69"/>
          <p:cNvSpPr/>
          <p:nvPr/>
        </p:nvSpPr>
        <p:spPr>
          <a:xfrm>
            <a:off x="7223760" y="3803904"/>
            <a:ext cx="22585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269480" y="3858768"/>
            <a:ext cx="2194560" cy="347472"/>
          </a:xfrm>
          <a:prstGeom prst="rect">
            <a:avLst/>
          </a:prstGeom>
          <a:noFill/>
        </p:spPr>
        <p:txBody>
          <a:bodyPr wrap="square">
            <a:spAutoFit/>
          </a:bodyPr>
          <a:lstStyle/>
          <a:p>
            <a:pPr algn="ctr"/>
            <a:r>
              <a:rPr sz="1000" b="0" i="0">
                <a:solidFill>
                  <a:srgbClr val="1B5E20"/>
                </a:solidFill>
              </a:rPr>
              <a:t>—</a:t>
            </a:r>
          </a:p>
        </p:txBody>
      </p:sp>
      <p:sp>
        <p:nvSpPr>
          <p:cNvPr id="72" name="Rectangle 71"/>
          <p:cNvSpPr/>
          <p:nvPr/>
        </p:nvSpPr>
        <p:spPr>
          <a:xfrm>
            <a:off x="9509760" y="3803904"/>
            <a:ext cx="13441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55480" y="3858768"/>
            <a:ext cx="1280160" cy="347472"/>
          </a:xfrm>
          <a:prstGeom prst="rect">
            <a:avLst/>
          </a:prstGeom>
          <a:noFill/>
        </p:spPr>
        <p:txBody>
          <a:bodyPr wrap="square">
            <a:spAutoFit/>
          </a:bodyPr>
          <a:lstStyle/>
          <a:p>
            <a:pPr algn="ctr"/>
            <a:r>
              <a:rPr sz="1000" b="0" i="0">
                <a:solidFill>
                  <a:srgbClr val="1B5E20"/>
                </a:solidFill>
              </a:rPr>
              <a:t>&lt; 0.10</a:t>
            </a:r>
          </a:p>
        </p:txBody>
      </p:sp>
      <p:sp>
        <p:nvSpPr>
          <p:cNvPr id="74" name="Rectangle 73"/>
          <p:cNvSpPr/>
          <p:nvPr/>
        </p:nvSpPr>
        <p:spPr>
          <a:xfrm>
            <a:off x="10881360" y="3803904"/>
            <a:ext cx="13441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927080" y="3858768"/>
            <a:ext cx="1280160" cy="347472"/>
          </a:xfrm>
          <a:prstGeom prst="rect">
            <a:avLst/>
          </a:prstGeom>
          <a:noFill/>
        </p:spPr>
        <p:txBody>
          <a:bodyPr wrap="square">
            <a:spAutoFit/>
          </a:bodyPr>
          <a:lstStyle/>
          <a:p>
            <a:pPr algn="ctr"/>
            <a:r>
              <a:rPr sz="1000" b="0" i="0">
                <a:solidFill>
                  <a:srgbClr val="1B5E20"/>
                </a:solidFill>
              </a:rPr>
              <a:t>&lt; 0.10</a:t>
            </a:r>
          </a:p>
        </p:txBody>
      </p:sp>
      <p:sp>
        <p:nvSpPr>
          <p:cNvPr id="76" name="Rectangle 75"/>
          <p:cNvSpPr/>
          <p:nvPr/>
        </p:nvSpPr>
        <p:spPr>
          <a:xfrm>
            <a:off x="12252960" y="3803904"/>
            <a:ext cx="152704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298680" y="3858768"/>
            <a:ext cx="1463040" cy="347472"/>
          </a:xfrm>
          <a:prstGeom prst="rect">
            <a:avLst/>
          </a:prstGeom>
          <a:noFill/>
        </p:spPr>
        <p:txBody>
          <a:bodyPr wrap="square">
            <a:spAutoFit/>
          </a:bodyPr>
          <a:lstStyle/>
          <a:p>
            <a:pPr algn="ctr"/>
            <a:r>
              <a:rPr sz="1000" b="0" i="0">
                <a:solidFill>
                  <a:srgbClr val="1B5E20"/>
                </a:solidFill>
              </a:rPr>
              <a:t>&lt; 0.10</a:t>
            </a:r>
          </a:p>
        </p:txBody>
      </p:sp>
      <p:sp>
        <p:nvSpPr>
          <p:cNvPr id="78" name="Rectangle 77"/>
          <p:cNvSpPr/>
          <p:nvPr/>
        </p:nvSpPr>
        <p:spPr>
          <a:xfrm>
            <a:off x="6400800" y="4297680"/>
            <a:ext cx="5577840" cy="21945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83680" y="4370832"/>
            <a:ext cx="5303520" cy="256032"/>
          </a:xfrm>
          <a:prstGeom prst="rect">
            <a:avLst/>
          </a:prstGeom>
          <a:noFill/>
        </p:spPr>
        <p:txBody>
          <a:bodyPr wrap="square">
            <a:spAutoFit/>
          </a:bodyPr>
          <a:lstStyle/>
          <a:p>
            <a:pPr algn="l"/>
            <a:r>
              <a:rPr sz="1200" b="1" i="0">
                <a:solidFill>
                  <a:srgbClr val="E65100"/>
                </a:solidFill>
              </a:rPr>
              <a:t>Key Takeaways</a:t>
            </a:r>
          </a:p>
        </p:txBody>
      </p:sp>
      <p:sp>
        <p:nvSpPr>
          <p:cNvPr id="80" name="TextBox 79"/>
          <p:cNvSpPr txBox="1"/>
          <p:nvPr/>
        </p:nvSpPr>
        <p:spPr>
          <a:xfrm>
            <a:off x="6400800" y="4617720"/>
            <a:ext cx="5577840" cy="1828800"/>
          </a:xfrm>
          <a:prstGeom prst="rect">
            <a:avLst/>
          </a:prstGeom>
          <a:noFill/>
        </p:spPr>
        <p:txBody>
          <a:bodyPr wrap="square">
            <a:spAutoFit/>
          </a:bodyPr>
          <a:lstStyle/>
          <a:p>
            <a:pPr>
              <a:spcBef>
                <a:spcPts val="400"/>
              </a:spcBef>
              <a:defRPr sz="1100">
                <a:solidFill>
                  <a:srgbClr val="424242"/>
                </a:solidFill>
              </a:defRPr>
            </a:pPr>
            <a:r>
              <a:t>▸  Bayesian consistently leads at every level</a:t>
            </a:r>
          </a:p>
          <a:p>
            <a:pPr>
              <a:spcBef>
                <a:spcPts val="400"/>
              </a:spcBef>
              <a:defRPr sz="1100">
                <a:solidFill>
                  <a:srgbClr val="424242"/>
                </a:solidFill>
              </a:defRPr>
            </a:pPr>
            <a:r>
              <a:t>▸  NSGA-II: huge gain from extended training (4.5×)</a:t>
            </a:r>
          </a:p>
          <a:p>
            <a:pPr>
              <a:spcBef>
                <a:spcPts val="400"/>
              </a:spcBef>
              <a:defRPr sz="1100">
                <a:solidFill>
                  <a:srgbClr val="424242"/>
                </a:solidFill>
              </a:defRPr>
            </a:pPr>
            <a:r>
              <a:t>▸  NSGA-III limited by architecture size (11k params)</a:t>
            </a:r>
          </a:p>
          <a:p>
            <a:pPr>
              <a:spcBef>
                <a:spcPts val="400"/>
              </a:spcBef>
              <a:defRPr sz="1100">
                <a:solidFill>
                  <a:srgbClr val="424242"/>
                </a:solidFill>
              </a:defRPr>
            </a:pPr>
            <a:r>
              <a:t>▸  Extended training (L5) is the biggest improvement step</a:t>
            </a:r>
          </a:p>
          <a:p>
            <a:pPr>
              <a:spcBef>
                <a:spcPts val="400"/>
              </a:spcBef>
              <a:defRPr sz="1100">
                <a:solidFill>
                  <a:srgbClr val="424242"/>
                </a:solidFill>
              </a:defRPr>
            </a:pPr>
            <a:r>
              <a:t>▸  Skip=2 achieves 2× FEM reduction for all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96012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972800" cy="749808"/>
          </a:xfrm>
          <a:prstGeom prst="rect">
            <a:avLst/>
          </a:prstGeom>
          <a:noFill/>
        </p:spPr>
        <p:txBody>
          <a:bodyPr wrap="square">
            <a:spAutoFit/>
          </a:bodyPr>
          <a:lstStyle/>
          <a:p>
            <a:pPr algn="l"/>
            <a:r>
              <a:rPr sz="3000" b="1" i="0">
                <a:solidFill>
                  <a:srgbClr val="FFFFFF"/>
                </a:solidFill>
              </a:rPr>
              <a:t>Conclusions &amp; Key Findings</a:t>
            </a:r>
          </a:p>
        </p:txBody>
      </p:sp>
      <p:sp>
        <p:nvSpPr>
          <p:cNvPr id="4" name="Rectangle 3"/>
          <p:cNvSpPr/>
          <p:nvPr/>
        </p:nvSpPr>
        <p:spPr>
          <a:xfrm>
            <a:off x="320040" y="114300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97864"/>
            <a:ext cx="457200" cy="402336"/>
          </a:xfrm>
          <a:prstGeom prst="rect">
            <a:avLst/>
          </a:prstGeom>
          <a:noFill/>
        </p:spPr>
        <p:txBody>
          <a:bodyPr wrap="square">
            <a:spAutoFit/>
          </a:bodyPr>
          <a:lstStyle/>
          <a:p>
            <a:pPr algn="ctr"/>
            <a:r>
              <a:rPr sz="1600" b="1" i="0">
                <a:solidFill>
                  <a:srgbClr val="FFFFFF"/>
                </a:solidFill>
              </a:rPr>
              <a:t>✓</a:t>
            </a:r>
          </a:p>
        </p:txBody>
      </p:sp>
      <p:sp>
        <p:nvSpPr>
          <p:cNvPr id="6" name="TextBox 5"/>
          <p:cNvSpPr txBox="1"/>
          <p:nvPr/>
        </p:nvSpPr>
        <p:spPr>
          <a:xfrm>
            <a:off x="877824" y="1143000"/>
            <a:ext cx="10972800" cy="347472"/>
          </a:xfrm>
          <a:prstGeom prst="rect">
            <a:avLst/>
          </a:prstGeom>
          <a:noFill/>
        </p:spPr>
        <p:txBody>
          <a:bodyPr wrap="square">
            <a:spAutoFit/>
          </a:bodyPr>
          <a:lstStyle/>
          <a:p>
            <a:pPr algn="l"/>
            <a:r>
              <a:rPr sz="1300" b="1" i="0">
                <a:solidFill>
                  <a:srgbClr val="FFFFFF"/>
                </a:solidFill>
              </a:rPr>
              <a:t>PINN replaces FEM steps without accuracy loss</a:t>
            </a:r>
          </a:p>
        </p:txBody>
      </p:sp>
      <p:sp>
        <p:nvSpPr>
          <p:cNvPr id="7" name="TextBox 6"/>
          <p:cNvSpPr txBox="1"/>
          <p:nvPr/>
        </p:nvSpPr>
        <p:spPr>
          <a:xfrm>
            <a:off x="877824" y="1508760"/>
            <a:ext cx="10972800" cy="420624"/>
          </a:xfrm>
          <a:prstGeom prst="rect">
            <a:avLst/>
          </a:prstGeom>
          <a:noFill/>
        </p:spPr>
        <p:txBody>
          <a:bodyPr wrap="square">
            <a:spAutoFit/>
          </a:bodyPr>
          <a:lstStyle/>
          <a:p>
            <a:pPr algn="l"/>
            <a:r>
              <a:rPr sz="1100" b="0" i="1">
                <a:solidFill>
                  <a:srgbClr val="BBDEFB"/>
                </a:solidFill>
              </a:rPr>
              <a:t>Bayesian: skip=2 → 33.2°C vs 43.6°C baseline (2× fewer FEM calls)</a:t>
            </a:r>
          </a:p>
        </p:txBody>
      </p:sp>
      <p:sp>
        <p:nvSpPr>
          <p:cNvPr id="8" name="Rectangle 7"/>
          <p:cNvSpPr/>
          <p:nvPr/>
        </p:nvSpPr>
        <p:spPr>
          <a:xfrm>
            <a:off x="320040" y="201168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2066544"/>
            <a:ext cx="457200" cy="402336"/>
          </a:xfrm>
          <a:prstGeom prst="rect">
            <a:avLst/>
          </a:prstGeom>
          <a:noFill/>
        </p:spPr>
        <p:txBody>
          <a:bodyPr wrap="square">
            <a:spAutoFit/>
          </a:bodyPr>
          <a:lstStyle/>
          <a:p>
            <a:pPr algn="ctr"/>
            <a:r>
              <a:rPr sz="1600" b="1" i="0">
                <a:solidFill>
                  <a:srgbClr val="FFFFFF"/>
                </a:solidFill>
              </a:rPr>
              <a:t>✓</a:t>
            </a:r>
          </a:p>
        </p:txBody>
      </p:sp>
      <p:sp>
        <p:nvSpPr>
          <p:cNvPr id="10" name="TextBox 9"/>
          <p:cNvSpPr txBox="1"/>
          <p:nvPr/>
        </p:nvSpPr>
        <p:spPr>
          <a:xfrm>
            <a:off x="877824" y="2011680"/>
            <a:ext cx="10972800" cy="347472"/>
          </a:xfrm>
          <a:prstGeom prst="rect">
            <a:avLst/>
          </a:prstGeom>
          <a:noFill/>
        </p:spPr>
        <p:txBody>
          <a:bodyPr wrap="square">
            <a:spAutoFit/>
          </a:bodyPr>
          <a:lstStyle/>
          <a:p>
            <a:pPr algn="l"/>
            <a:r>
              <a:rPr sz="1300" b="1" i="0">
                <a:solidFill>
                  <a:srgbClr val="FFFFFF"/>
                </a:solidFill>
              </a:rPr>
              <a:t>NAS architecture determines skip capability</a:t>
            </a:r>
          </a:p>
        </p:txBody>
      </p:sp>
      <p:sp>
        <p:nvSpPr>
          <p:cNvPr id="11" name="TextBox 10"/>
          <p:cNvSpPr txBox="1"/>
          <p:nvPr/>
        </p:nvSpPr>
        <p:spPr>
          <a:xfrm>
            <a:off x="877824" y="2377440"/>
            <a:ext cx="10972800" cy="420624"/>
          </a:xfrm>
          <a:prstGeom prst="rect">
            <a:avLst/>
          </a:prstGeom>
          <a:noFill/>
        </p:spPr>
        <p:txBody>
          <a:bodyPr wrap="square">
            <a:spAutoFit/>
          </a:bodyPr>
          <a:lstStyle/>
          <a:p>
            <a:pPr algn="l"/>
            <a:r>
              <a:rPr sz="1100" b="0" i="1">
                <a:solidFill>
                  <a:srgbClr val="BBDEFB"/>
                </a:solidFill>
              </a:rPr>
              <a:t>Bayesian 5×151 relu converges at skip=4; NSGA-III fails at skip=2 with 500 epochs</a:t>
            </a:r>
          </a:p>
        </p:txBody>
      </p:sp>
      <p:sp>
        <p:nvSpPr>
          <p:cNvPr id="12" name="Rectangle 11"/>
          <p:cNvSpPr/>
          <p:nvPr/>
        </p:nvSpPr>
        <p:spPr>
          <a:xfrm>
            <a:off x="320040" y="288036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35224"/>
            <a:ext cx="457200" cy="402336"/>
          </a:xfrm>
          <a:prstGeom prst="rect">
            <a:avLst/>
          </a:prstGeom>
          <a:noFill/>
        </p:spPr>
        <p:txBody>
          <a:bodyPr wrap="square">
            <a:spAutoFit/>
          </a:bodyPr>
          <a:lstStyle/>
          <a:p>
            <a:pPr algn="ctr"/>
            <a:r>
              <a:rPr sz="1600" b="1" i="0">
                <a:solidFill>
                  <a:srgbClr val="FFFFFF"/>
                </a:solidFill>
              </a:rPr>
              <a:t>✓</a:t>
            </a:r>
          </a:p>
        </p:txBody>
      </p:sp>
      <p:sp>
        <p:nvSpPr>
          <p:cNvPr id="14" name="TextBox 13"/>
          <p:cNvSpPr txBox="1"/>
          <p:nvPr/>
        </p:nvSpPr>
        <p:spPr>
          <a:xfrm>
            <a:off x="877824" y="2880360"/>
            <a:ext cx="10972800" cy="347472"/>
          </a:xfrm>
          <a:prstGeom prst="rect">
            <a:avLst/>
          </a:prstGeom>
          <a:noFill/>
        </p:spPr>
        <p:txBody>
          <a:bodyPr wrap="square">
            <a:spAutoFit/>
          </a:bodyPr>
          <a:lstStyle/>
          <a:p>
            <a:pPr algn="l"/>
            <a:r>
              <a:rPr sz="1300" b="1" i="0">
                <a:solidFill>
                  <a:srgbClr val="FFFFFF"/>
                </a:solidFill>
              </a:rPr>
              <a:t>Extended training closes the gap for all optimizers</a:t>
            </a:r>
          </a:p>
        </p:txBody>
      </p:sp>
      <p:sp>
        <p:nvSpPr>
          <p:cNvPr id="15" name="TextBox 14"/>
          <p:cNvSpPr txBox="1"/>
          <p:nvPr/>
        </p:nvSpPr>
        <p:spPr>
          <a:xfrm>
            <a:off x="877824" y="3246120"/>
            <a:ext cx="10972800" cy="420624"/>
          </a:xfrm>
          <a:prstGeom prst="rect">
            <a:avLst/>
          </a:prstGeom>
          <a:noFill/>
        </p:spPr>
        <p:txBody>
          <a:bodyPr wrap="square">
            <a:spAutoFit/>
          </a:bodyPr>
          <a:lstStyle/>
          <a:p>
            <a:pPr algn="l"/>
            <a:r>
              <a:rPr sz="1100" b="0" i="1">
                <a:solidFill>
                  <a:srgbClr val="BBDEFB"/>
                </a:solidFill>
              </a:rPr>
              <a:t>NSGA-II: 0.252 → 0.055 (4.5× improvement); meets L2 &lt; 0.10 target</a:t>
            </a:r>
          </a:p>
        </p:txBody>
      </p:sp>
      <p:sp>
        <p:nvSpPr>
          <p:cNvPr id="16" name="Rectangle 15"/>
          <p:cNvSpPr/>
          <p:nvPr/>
        </p:nvSpPr>
        <p:spPr>
          <a:xfrm>
            <a:off x="320040" y="374904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03904"/>
            <a:ext cx="457200" cy="402336"/>
          </a:xfrm>
          <a:prstGeom prst="rect">
            <a:avLst/>
          </a:prstGeom>
          <a:noFill/>
        </p:spPr>
        <p:txBody>
          <a:bodyPr wrap="square">
            <a:spAutoFit/>
          </a:bodyPr>
          <a:lstStyle/>
          <a:p>
            <a:pPr algn="ctr"/>
            <a:r>
              <a:rPr sz="1600" b="1" i="0">
                <a:solidFill>
                  <a:srgbClr val="FFFFFF"/>
                </a:solidFill>
              </a:rPr>
              <a:t>✓</a:t>
            </a:r>
          </a:p>
        </p:txBody>
      </p:sp>
      <p:sp>
        <p:nvSpPr>
          <p:cNvPr id="18" name="TextBox 17"/>
          <p:cNvSpPr txBox="1"/>
          <p:nvPr/>
        </p:nvSpPr>
        <p:spPr>
          <a:xfrm>
            <a:off x="877824" y="3749040"/>
            <a:ext cx="10972800" cy="347472"/>
          </a:xfrm>
          <a:prstGeom prst="rect">
            <a:avLst/>
          </a:prstGeom>
          <a:noFill/>
        </p:spPr>
        <p:txBody>
          <a:bodyPr wrap="square">
            <a:spAutoFit/>
          </a:bodyPr>
          <a:lstStyle/>
          <a:p>
            <a:pPr algn="l"/>
            <a:r>
              <a:rPr sz="1300" b="1" i="0">
                <a:solidFill>
                  <a:srgbClr val="FFFFFF"/>
                </a:solidFill>
              </a:rPr>
              <a:t>Hybrid routing achieves 80–95% FEM step reduction</a:t>
            </a:r>
          </a:p>
        </p:txBody>
      </p:sp>
      <p:sp>
        <p:nvSpPr>
          <p:cNvPr id="19" name="TextBox 18"/>
          <p:cNvSpPr txBox="1"/>
          <p:nvPr/>
        </p:nvSpPr>
        <p:spPr>
          <a:xfrm>
            <a:off x="877824" y="4114800"/>
            <a:ext cx="10972800" cy="420624"/>
          </a:xfrm>
          <a:prstGeom prst="rect">
            <a:avLst/>
          </a:prstGeom>
          <a:noFill/>
        </p:spPr>
        <p:txBody>
          <a:bodyPr wrap="square">
            <a:spAutoFit/>
          </a:bodyPr>
          <a:lstStyle/>
          <a:p>
            <a:pPr algn="l"/>
            <a:r>
              <a:rPr sz="1100" b="0" i="1">
                <a:solidFill>
                  <a:srgbClr val="BBDEFB"/>
                </a:solidFill>
              </a:rPr>
              <a:t>Residual-based routing (thr=0.1) gives 4–19 PINN steps per run</a:t>
            </a:r>
          </a:p>
        </p:txBody>
      </p:sp>
      <p:sp>
        <p:nvSpPr>
          <p:cNvPr id="20" name="Rectangle 19"/>
          <p:cNvSpPr/>
          <p:nvPr/>
        </p:nvSpPr>
        <p:spPr>
          <a:xfrm>
            <a:off x="320040" y="461772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4672584"/>
            <a:ext cx="457200" cy="402336"/>
          </a:xfrm>
          <a:prstGeom prst="rect">
            <a:avLst/>
          </a:prstGeom>
          <a:noFill/>
        </p:spPr>
        <p:txBody>
          <a:bodyPr wrap="square">
            <a:spAutoFit/>
          </a:bodyPr>
          <a:lstStyle/>
          <a:p>
            <a:pPr algn="ctr"/>
            <a:r>
              <a:rPr sz="1600" b="1" i="0">
                <a:solidFill>
                  <a:srgbClr val="FFFFFF"/>
                </a:solidFill>
              </a:rPr>
              <a:t>✓</a:t>
            </a:r>
          </a:p>
        </p:txBody>
      </p:sp>
      <p:sp>
        <p:nvSpPr>
          <p:cNvPr id="22" name="TextBox 21"/>
          <p:cNvSpPr txBox="1"/>
          <p:nvPr/>
        </p:nvSpPr>
        <p:spPr>
          <a:xfrm>
            <a:off x="877824" y="4617720"/>
            <a:ext cx="10972800" cy="347472"/>
          </a:xfrm>
          <a:prstGeom prst="rect">
            <a:avLst/>
          </a:prstGeom>
          <a:noFill/>
        </p:spPr>
        <p:txBody>
          <a:bodyPr wrap="square">
            <a:spAutoFit/>
          </a:bodyPr>
          <a:lstStyle/>
          <a:p>
            <a:pPr algn="l"/>
            <a:r>
              <a:rPr sz="1300" b="1" i="0">
                <a:solidFill>
                  <a:srgbClr val="FFFFFF"/>
                </a:solidFill>
              </a:rPr>
              <a:t>More training epochs fix skip convergence (not architecture)</a:t>
            </a:r>
          </a:p>
        </p:txBody>
      </p:sp>
      <p:sp>
        <p:nvSpPr>
          <p:cNvPr id="23" name="TextBox 22"/>
          <p:cNvSpPr txBox="1"/>
          <p:nvPr/>
        </p:nvSpPr>
        <p:spPr>
          <a:xfrm>
            <a:off x="877824" y="4983480"/>
            <a:ext cx="10972800" cy="420624"/>
          </a:xfrm>
          <a:prstGeom prst="rect">
            <a:avLst/>
          </a:prstGeom>
          <a:noFill/>
        </p:spPr>
        <p:txBody>
          <a:bodyPr wrap="square">
            <a:spAutoFit/>
          </a:bodyPr>
          <a:lstStyle/>
          <a:p>
            <a:pPr algn="l"/>
            <a:r>
              <a:rPr sz="1100" b="0" i="1">
                <a:solidFill>
                  <a:srgbClr val="BBDEFB"/>
                </a:solidFill>
              </a:rPr>
              <a:t>NSGA-II/III: 2 000 epochs → both converge at skip=2 (ratio ≈ 0.98–0.99×)</a:t>
            </a:r>
          </a:p>
        </p:txBody>
      </p:sp>
      <p:sp>
        <p:nvSpPr>
          <p:cNvPr id="24" name="Rectangle 23"/>
          <p:cNvSpPr/>
          <p:nvPr/>
        </p:nvSpPr>
        <p:spPr>
          <a:xfrm>
            <a:off x="320040" y="548640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5541264"/>
            <a:ext cx="457200" cy="402336"/>
          </a:xfrm>
          <a:prstGeom prst="rect">
            <a:avLst/>
          </a:prstGeom>
          <a:noFill/>
        </p:spPr>
        <p:txBody>
          <a:bodyPr wrap="square">
            <a:spAutoFit/>
          </a:bodyPr>
          <a:lstStyle/>
          <a:p>
            <a:pPr algn="ctr"/>
            <a:r>
              <a:rPr sz="1600" b="1" i="0">
                <a:solidFill>
                  <a:srgbClr val="FFFFFF"/>
                </a:solidFill>
              </a:rPr>
              <a:t>✓</a:t>
            </a:r>
          </a:p>
        </p:txBody>
      </p:sp>
      <p:sp>
        <p:nvSpPr>
          <p:cNvPr id="26" name="TextBox 25"/>
          <p:cNvSpPr txBox="1"/>
          <p:nvPr/>
        </p:nvSpPr>
        <p:spPr>
          <a:xfrm>
            <a:off x="877824" y="5486400"/>
            <a:ext cx="10972800" cy="347472"/>
          </a:xfrm>
          <a:prstGeom prst="rect">
            <a:avLst/>
          </a:prstGeom>
          <a:noFill/>
        </p:spPr>
        <p:txBody>
          <a:bodyPr wrap="square">
            <a:spAutoFit/>
          </a:bodyPr>
          <a:lstStyle/>
          <a:p>
            <a:pPr algn="l"/>
            <a:r>
              <a:rPr sz="1300" b="1" i="0">
                <a:solidFill>
                  <a:srgbClr val="FFFFFF"/>
                </a:solidFill>
              </a:rPr>
              <a:t>NAS generalises across PDE families and geometries</a:t>
            </a:r>
          </a:p>
        </p:txBody>
      </p:sp>
      <p:sp>
        <p:nvSpPr>
          <p:cNvPr id="27" name="TextBox 26"/>
          <p:cNvSpPr txBox="1"/>
          <p:nvPr/>
        </p:nvSpPr>
        <p:spPr>
          <a:xfrm>
            <a:off x="877824" y="5852160"/>
            <a:ext cx="10972800" cy="420624"/>
          </a:xfrm>
          <a:prstGeom prst="rect">
            <a:avLst/>
          </a:prstGeom>
          <a:noFill/>
        </p:spPr>
        <p:txBody>
          <a:bodyPr wrap="square">
            <a:spAutoFit/>
          </a:bodyPr>
          <a:lstStyle/>
          <a:p>
            <a:pPr algn="l"/>
            <a:r>
              <a:rPr sz="1100" b="0" i="1">
                <a:solidFill>
                  <a:srgbClr val="BBDEFB"/>
                </a:solidFill>
              </a:rPr>
              <a:t>Same Bayesian arch: circle L2=0.00014 | L-shape L2=0.028 | 5 domains tested</a:t>
            </a:r>
          </a:p>
        </p:txBody>
      </p:sp>
      <p:sp>
        <p:nvSpPr>
          <p:cNvPr id="28" name="Rectangle 27"/>
          <p:cNvSpPr/>
          <p:nvPr/>
        </p:nvSpPr>
        <p:spPr>
          <a:xfrm>
            <a:off x="0" y="6492240"/>
            <a:ext cx="12188952"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11612880" cy="320040"/>
          </a:xfrm>
          <a:prstGeom prst="rect">
            <a:avLst/>
          </a:prstGeom>
          <a:noFill/>
        </p:spPr>
        <p:txBody>
          <a:bodyPr wrap="square">
            <a:spAutoFit/>
          </a:bodyPr>
          <a:lstStyle/>
          <a:p>
            <a:pPr algn="ctr"/>
            <a:r>
              <a:rPr sz="900" b="0" i="0">
                <a:solidFill>
                  <a:srgbClr val="90CAF9"/>
                </a:solidFill>
              </a:rPr>
              <a:t>Reference: Mortensen, Noorsumar, Fjær, Babaei, Drønen (2026) — The International Journal of Advanced Manufacturing Technology — DOI: 10.1007/s00170-026-17515-w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