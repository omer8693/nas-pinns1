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0"/>
            <a:ext cx="12188952" cy="3291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NAS-PINNs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</a:rPr>
              <a:t>Neural Architecture Search for Physics-Informed Neural Networks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0CAF9"/>
                </a:solidFill>
              </a:rPr>
              <a:t>A356 Aluminum Water Quenching  ·  FEM Skip Operator  ·  Multi-Domain Poisson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L1
Single-Shot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7393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
Skip 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125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L3
Hybrid FEM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L4
Distortion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589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L5
L-BFGS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L6
Poisson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4663440"/>
            <a:ext cx="1325880" cy="7772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0536" y="4681728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L7
Multi-Dom.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B5F6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Seven-level NAS-PINN framework for thermal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640080" cy="5303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893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7101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Single-Shot PINN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30759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Global T(t,x,y) over full time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01368"/>
            <a:ext cx="116128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1892808"/>
            <a:ext cx="640080" cy="5303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947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2938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Skip 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9659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FEM at anchors, PINN fills skipped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59736"/>
            <a:ext cx="116128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51176"/>
            <a:ext cx="640080" cy="5303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606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587752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Hybrid FEM+PINN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62432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Adaptive residual-driven FEM/PINN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118104"/>
            <a:ext cx="116128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209544"/>
            <a:ext cx="640080" cy="53035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2644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24612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Distortion Mechanics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28269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Plane-stress thermal distortion at CMM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776472"/>
            <a:ext cx="116128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640080" cy="5303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392277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0448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L-BFGS Refinement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94106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Second-order polish after Adam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434840"/>
            <a:ext cx="116128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526280"/>
            <a:ext cx="640080" cy="5303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58114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562856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Poisson Benchmark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599432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Generalization to Poisson PDE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093208"/>
            <a:ext cx="1161288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184648"/>
            <a:ext cx="64008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52395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221224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</a:rPr>
              <a:t>Multi-Domain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25780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5 geometries: square, circle, annulus…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989320"/>
            <a:ext cx="11612880" cy="56692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601675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5100"/>
                </a:solidFill>
              </a:rPr>
              <a:t>Core Thesis: PINN with NAS-optimized architecture can replace sequential FEM steps — solving in fewer solver calls without accuracy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A356 Aluminum Water Quenching — Why PINNs?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</a:rPr>
              <a:t>Physical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5669280" cy="4681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Part: A356 aluminum  (1.3 × 0.6 m), T₀ = 540°C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Process: immersed in water bath at T_w = 20°C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Physics: ρCp·∂T/∂t = K·∇²T  with Robin BC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HTC: nonlinear h(T) — nucleate/film boiling regimes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Goal: predict T(x,y,t) and distortion at 47 CMM points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FEM Bottleneck: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Must solve 20 sequential time steps (t=1.5s each)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Each step recomputes full mesh → expensive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PINN opportunity: skip intermediate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5029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Key Numbers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783080"/>
            <a:ext cx="173736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83794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540°C → 20°C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745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Temperature range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468880"/>
            <a:ext cx="173736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52374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30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Total quenching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154680"/>
            <a:ext cx="173736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20954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 FEM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461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Sequential solves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840480"/>
            <a:ext cx="173736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89534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 NAS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9319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Bayesian · NSGA-II · NSGA-III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526280"/>
            <a:ext cx="173736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58114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 Levels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6177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Progressive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5212080"/>
            <a:ext cx="1737360" cy="5120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5266944"/>
            <a:ext cx="17007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 Geometries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30352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Level 7B multi-domain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1 — Single-Shot NAS-PINN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Architecture search for global T(t,x,y) predictor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NAS search space: layers ∈ {2..6}, neurons ∈ {32..256}, act ∈ {tanh, relu, swish}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Three optimizers: Bayesian (TPE) · NSGA-II · NSGA-III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Training: Adam 5000 ep, cosine LR: 1e-3 → 1e-5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Reference: analytical T(t) = 20 + 520·exp(−1.75×10⁻³·t)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37560"/>
            <a:ext cx="1792224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3410712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Optimizer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337560"/>
            <a:ext cx="1700784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9424" y="3410712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337560"/>
            <a:ext cx="1152144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86784" y="3410712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L2_rel↓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337560"/>
            <a:ext cx="1335024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3410712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MAE (°C)↓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337560"/>
            <a:ext cx="1060704" cy="411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10712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NAS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76472"/>
            <a:ext cx="1792224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3849624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Bayesian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3776472"/>
            <a:ext cx="1700784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9424" y="3849624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5×151 relu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776472"/>
            <a:ext cx="1152144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6784" y="3849624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0.076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3776472"/>
            <a:ext cx="1335024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5504" y="3849624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39.1°C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76472"/>
            <a:ext cx="1060704" cy="4114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7104" y="3849624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~180s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15384"/>
            <a:ext cx="1792224" cy="4114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4288536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NSGA-II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215384"/>
            <a:ext cx="1700784" cy="4114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9424" y="4288536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3×153 tanh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4215384"/>
            <a:ext cx="1152144" cy="4114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86784" y="4288536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0.252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4215384"/>
            <a:ext cx="1335024" cy="4114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75504" y="4288536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132.6°C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215384"/>
            <a:ext cx="1060704" cy="4114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4288536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~120s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54296"/>
            <a:ext cx="1792224" cy="41148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4727448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NSGA-III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94560" y="4654296"/>
            <a:ext cx="1700784" cy="41148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49424" y="4727448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3×75  tanh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4654296"/>
            <a:ext cx="1152144" cy="41148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86784" y="4727448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0.513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4654296"/>
            <a:ext cx="1335024" cy="41148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75504" y="4727448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270.3°C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4654296"/>
            <a:ext cx="1060704" cy="411480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47104" y="4727448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24242"/>
                </a:solidFill>
              </a:rPr>
              <a:t>~110s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093208"/>
            <a:ext cx="1792224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0624" y="5166360"/>
            <a:ext cx="17190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Target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94560" y="5093208"/>
            <a:ext cx="1700784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49424" y="5166360"/>
            <a:ext cx="1627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5093208"/>
            <a:ext cx="1152144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86784" y="5166360"/>
            <a:ext cx="1078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&lt; 0.100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0640" y="5093208"/>
            <a:ext cx="1335024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75504" y="5166360"/>
            <a:ext cx="1261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&lt; 50°C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5093208"/>
            <a:ext cx="1060704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47104" y="5166360"/>
            <a:ext cx="987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</a:rPr>
              <a:t>—</a:t>
            </a:r>
          </a:p>
        </p:txBody>
      </p:sp>
      <p:pic>
        <p:nvPicPr>
          <p:cNvPr id="61" name="Picture 60" descr="fem_vs_pinn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943600" cy="3200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65760" y="62179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65100"/>
                </a:solidFill>
              </a:rPr>
              <a:t>★ Only Bayesian meets the L2 &lt; 0.10 target at Level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2 — Temporal Skip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PINN learns T_n → T_{n+k}: FEM at anchors, PINN fills the 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FEM: 20 mandatory sequential steps  (t = 0, 1.5, 3, … 30 s)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Skip=k: FEM only at t[::k], PINN predicts skipped steps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Window PINN: input [x, y, t_local, T_prev] → T_next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IC teacher forcing: T_prev anchors each window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Convergence: MAE ratio &lt; 1.5× skip=1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931920"/>
            <a:ext cx="978408" cy="4297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005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Skip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931920"/>
            <a:ext cx="1069848" cy="4297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0050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FEM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3931920"/>
            <a:ext cx="1389888" cy="4297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Bayesian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3931920"/>
            <a:ext cx="1389888" cy="4297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NSGA-II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3931920"/>
            <a:ext cx="1389888" cy="42976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40050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NSGA-III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89120"/>
            <a:ext cx="978408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622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skip=1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389120"/>
            <a:ext cx="1069848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44622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21/21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4389120"/>
            <a:ext cx="1389888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4622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43.6°C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389120"/>
            <a:ext cx="1389888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4622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38.1°C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4389120"/>
            <a:ext cx="1389888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44622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44.4°C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46320"/>
            <a:ext cx="978408" cy="4297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194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skip=2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846320"/>
            <a:ext cx="1069848" cy="4297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7320" y="49194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11/21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4846320"/>
            <a:ext cx="1389888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4919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33.2°C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48463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4919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56.0°C 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48463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49194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75.0°C 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03520"/>
            <a:ext cx="978408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53766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skip=4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5303520"/>
            <a:ext cx="1069848" cy="4297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53766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 6/21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5303520"/>
            <a:ext cx="1389888" cy="429768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53766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57.5°C 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53035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53766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154.8°C 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53035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0" y="53766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202.1°C 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60720"/>
            <a:ext cx="978408" cy="42976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5833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skip=6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5760720"/>
            <a:ext cx="1069848" cy="42976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7320" y="58338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 4/21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57607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14600" y="58338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93.6°C 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86200" y="57607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58338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354.6°C 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5760720"/>
            <a:ext cx="1389888" cy="42976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0" y="5833872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428.6°C ✗</a:t>
            </a:r>
          </a:p>
        </p:txBody>
      </p:sp>
      <p:pic>
        <p:nvPicPr>
          <p:cNvPr id="61" name="Picture 60" descr="fem_vs_pinn_sk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760720" cy="46634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65760" y="623620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565C0"/>
                </a:solidFill>
              </a:rPr>
              <a:t>Key result: Only Bayesian NAS achieves skip=2 (2× FEM reduction) with convergence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3 — Hybrid FEM + PINN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Adaptive residual-driven routing: when to use FEM vs PINN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PDE residual r(t) computed after each step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r &gt; threshold → FEM (high uncertainty)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r ≤ threshold → PINN (safe to skip)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Threshold = 0.1, max_skip = 4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Results: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All 3 optimizers: 80% skip rate achieved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Only 4–6 FEM steps out of 20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Bayesian MAE maintained &lt; 50°C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760720" cy="4663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</a:rPr>
              <a:t>Adaptive Skip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4114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562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836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Solve step with current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4114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04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43230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Compute PDE residual r(t)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4114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9809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r &gt; 0.1 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474720"/>
            <a:ext cx="4114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02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52958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  YES → Full FEM solve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023360"/>
            <a:ext cx="4114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05079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07822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  NO  → PINN prediction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572000"/>
            <a:ext cx="41148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599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62686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Advance to t+1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25780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Outcome: 80% FEM skip across all optimizers
→ Hybrid approach generalizes even for NSGA-II/III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4 — Thermal Distortion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From PINN temperature field to CMM-point distortion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Input: T(x,y,t=30s) from Level 3 PINN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Plane-stress FEM: σ = E·α·ΔT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Output: δ (mm) at 47 CMM measurement points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Reference: paper Fig 17/18 measured distortion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Distortion Results (mean |δ|):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Bayesian:  1.67 mm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NSGA-II:   2.81 mm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NSGA-III:  4.74 mm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Note: Bayesian thermal accuracy (L2=0.076) → lowest distortion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Direct correlation: better PINN → better distortion prediction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760720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Mean Distortion |δ| (mm)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140735"/>
            <a:ext cx="1463040" cy="88846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326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1.67 mm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0749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Bayesian
5×151 relu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534239"/>
            <a:ext cx="1463040" cy="1494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186767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2.81 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0749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NSGA-II
3×153 tanh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0" y="2507451"/>
            <a:ext cx="1463040" cy="25217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215997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4.74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50749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NSGA-III
3×75 tanh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5 — L-BFGS Refinement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Second-order optimizer applied after Adam convergence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Motivation: Adam converges to region, L-BFGS fine-tunes precisely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L-BFGS: quasi-Newton, uses curvature information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Strong Wolfe line search  |  max_iter = 500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Applied to Level 1 Bayesian, NSGA-II, NSGA-III 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1801368" cy="44805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083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Optimizer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926080"/>
            <a:ext cx="1069848" cy="44805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30083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Adam L2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926080"/>
            <a:ext cx="1161288" cy="44805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0083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Adam MAE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926080"/>
            <a:ext cx="1161288" cy="44805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0083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L-BFGS L2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926080"/>
            <a:ext cx="1344168" cy="44805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0083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L-BFGS MAE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926080"/>
            <a:ext cx="1344168" cy="448056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0083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01568"/>
            <a:ext cx="1801368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8386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Bayesian 5×151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401568"/>
            <a:ext cx="1069848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4838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0.076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401568"/>
            <a:ext cx="1161288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4838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39.1°C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401568"/>
            <a:ext cx="1161288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4838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0.030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0" y="3401568"/>
            <a:ext cx="1344168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34838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14.4°C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3401568"/>
            <a:ext cx="1344168" cy="448056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348386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2.6×↓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77056"/>
            <a:ext cx="1801368" cy="44805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9593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NSGA-II  3×153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94560" y="3877056"/>
            <a:ext cx="1069848" cy="44805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0280" y="39593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0.252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3877056"/>
            <a:ext cx="1161288" cy="44805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3959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132.6°C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3877056"/>
            <a:ext cx="1161288" cy="44805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6280" y="3959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0.055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877056"/>
            <a:ext cx="1344168" cy="44805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959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28.7°C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3877056"/>
            <a:ext cx="1344168" cy="448056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86600" y="3959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4.5×↓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352544"/>
            <a:ext cx="1801368" cy="44805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434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NSGA-III 3×75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4352544"/>
            <a:ext cx="1069848" cy="44805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40280" y="44348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0.513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4352544"/>
            <a:ext cx="1161288" cy="44805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270.3°C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0560" y="4352544"/>
            <a:ext cx="1161288" cy="44805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2628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0.259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4352544"/>
            <a:ext cx="1344168" cy="44805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15000" y="4434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5E20"/>
                </a:solidFill>
              </a:rPr>
              <a:t>136.4°C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40880" y="4352544"/>
            <a:ext cx="1344168" cy="448056"/>
          </a:xfrm>
          <a:prstGeom prst="rect">
            <a:avLst/>
          </a:prstGeom>
          <a:solidFill>
            <a:srgbClr val="F1F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86600" y="44348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2.0×↓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828032"/>
            <a:ext cx="1801368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49103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Target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94560" y="4828032"/>
            <a:ext cx="1069848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40280" y="49103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0" y="4828032"/>
            <a:ext cx="1161288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49103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80560" y="4828032"/>
            <a:ext cx="1161288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26280" y="49103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&lt; 0.100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0" y="4828032"/>
            <a:ext cx="1344168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15000" y="4910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</a:rPr>
              <a:t>&lt; 50°C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040880" y="4828032"/>
            <a:ext cx="1344168" cy="44805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86600" y="4910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4242"/>
                </a:solidFill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565C0"/>
                </a:solidFill>
              </a:rPr>
              <a:t>L-BFGS brings all three optimizers closer to target:
Bayesian L2: 0.076 → 0.030 ✓  |  NSGA-II L2: 0.252 → 0.055 ✓  |  NSGA-III: 0.513 → 0.259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5760" y="61722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E65100"/>
                </a:solidFill>
              </a:rPr>
              <a:t>Note: L-BFGS per-window for Level 2 time-stepper is LESS effective — window training needs sufficient Adam pre-convergence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6 — Poisson PDE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Generalization test: does NAS-PINN work beyond heat equation?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PDE: −∇²u = f(x,y)  on unit square [0,1]²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Exact solution: u = sin(πx)·sin(πy)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Same NAS architectures from Level 1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Auxiliary loss: boundary residual + PDE residual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Results: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Bayesian:  L2 = 0.0083  ✓ (best)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NSGA-II:   L2 = 0.0412  ✓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▸  NSGA-III:  L2 = 0.1890  ✗ (marginal)</a:t>
            </a: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</a:p>
          <a:p>
            <a:pPr>
              <a:spcBef>
                <a:spcPts val="400"/>
              </a:spcBef>
              <a:defRPr sz="1300">
                <a:solidFill>
                  <a:srgbClr val="424242"/>
                </a:solidFill>
              </a:defRPr>
            </a:pPr>
            <a:r>
              <a:t>Key finding: NAS-optimized architectures generalize</a:t>
            </a:r>
            <a:br/>
            <a:r>
              <a:t>to different PDE families without re-search.</a:t>
            </a:r>
          </a:p>
        </p:txBody>
      </p:sp>
      <p:pic>
        <p:nvPicPr>
          <p:cNvPr id="11" name="Picture 10" descr="l6_heatmap_t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760720" cy="32004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217920" y="4572000"/>
            <a:ext cx="5760720" cy="1554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6634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5E20"/>
                </a:solidFill>
              </a:rPr>
              <a:t>Bayesian NAS architecture (5×151 relu) achieves L2 = 0.0083
on Poisson PDE — demonstrates cross-PDE transferability
without any architecture modification.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Level 7 — Multi-Domain &amp; Temporal Skip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7A: time-skip on quenching  |  7B: 5-geometry Poisson 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07040" y="164592"/>
            <a:ext cx="1371600" cy="5303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25328" y="182880"/>
            <a:ext cx="133502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5C0"/>
                </a:solidFill>
              </a:rPr>
              <a:t>Level 7A — Temporal Skip (Quenching)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5577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Bayesian: skip=4 still converges (L2 = 0.090)</a:t>
            </a:r>
          </a:p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NSGA-II:  skip=2 marginal (ratio 1.47×)</a:t>
            </a:r>
          </a:p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NSGA-III: skip=2 diverges (ratio 1.76×)</a:t>
            </a:r>
          </a:p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Skip efficiency: 80% FEM step reduction for Bayesian</a:t>
            </a:r>
          </a:p>
        </p:txBody>
      </p:sp>
      <p:pic>
        <p:nvPicPr>
          <p:cNvPr id="12" name="Picture 11" descr="l7a_cool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520440"/>
            <a:ext cx="5577840" cy="2560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12344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Level 7B — Multi-Domain Poisson (5 Geometries)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27632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Domains: Square · Circle · Annulus · L-shape · Flower</a:t>
            </a:r>
          </a:p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NAS optimized per geometry</a:t>
            </a:r>
          </a:p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All converge: L2 &lt; 0.05 for Bayesian</a:t>
            </a:r>
          </a:p>
          <a:p>
            <a:pPr>
              <a:spcBef>
                <a:spcPts val="400"/>
              </a:spcBef>
              <a:defRPr sz="1200">
                <a:solidFill>
                  <a:srgbClr val="424242"/>
                </a:solidFill>
              </a:defRPr>
            </a:pPr>
            <a:r>
              <a:t>▸  NSGA-III struggles on complex geometries (flower)</a:t>
            </a:r>
          </a:p>
        </p:txBody>
      </p:sp>
      <p:pic>
        <p:nvPicPr>
          <p:cNvPr id="15" name="Picture 14" descr="l7b_summar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20440"/>
            <a:ext cx="57607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Cross-Level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BDEFB"/>
                </a:solidFill>
              </a:rPr>
              <a:t>All optimizers · All levels · Unified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385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CAF9"/>
                </a:solidFill>
              </a:rPr>
              <a:t>NAS-PINNs Thesis  |  2026</a:t>
            </a:r>
          </a:p>
        </p:txBody>
      </p:sp>
      <p:pic>
        <p:nvPicPr>
          <p:cNvPr id="8" name="Picture 7" descr="cross_level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474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74320" y="4800600"/>
            <a:ext cx="1645920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4855464"/>
            <a:ext cx="16093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Bayesian 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89204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Best across all levels — only optimizer meeting ALL targets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13248"/>
            <a:ext cx="1645920" cy="47548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5468112"/>
            <a:ext cx="16093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NSGA-II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5046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L-BFGS closes gap (L2: 0.252→0.055) but skip=2 needs 5000+ epochs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025896"/>
            <a:ext cx="164592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6080760"/>
            <a:ext cx="16093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NSGA-III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11733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24242"/>
                </a:solidFill>
              </a:rPr>
              <a:t>Smallest model (11k params) — limited skip capability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Conclusions &amp;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457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430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PINN can replace FEM steps without accuracy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Bayesian skip=2 (11/21 FEM steps): MAE = 33.2°C vs 43.6°C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457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NAS architecture matters for skip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Bayesian 5×151 relu converges; NSGA-II/III (smaller) diverge at skip=2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457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L-BFGS refinement significantly improves all optimizers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46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Bayesian L2: 0.076→0.030 | NSGA-II L2: 0.252→0.055 (4.5× improvement)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49040"/>
            <a:ext cx="457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794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490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Hybrid FEM+PINN achieves 80% step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Adaptive residual routing works for all 3 optimizers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617720"/>
            <a:ext cx="4572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6634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NAS architectures generalize across PDE families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83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Same architecture: heat equation → Poisson PDE, 5 geometries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486400"/>
            <a:ext cx="45720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5321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4864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Future: NSGA-II skip=2 with 5000 epoch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BDEFB"/>
                </a:solidFill>
              </a:rPr>
              <a:t>Current 500-epoch result ratio=1.47× — just above 1.5× threshold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CAF9"/>
                </a:solidFill>
              </a:rPr>
              <a:t>NAS-PINNs: Temporal Skip Operator for FEM Acceleration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