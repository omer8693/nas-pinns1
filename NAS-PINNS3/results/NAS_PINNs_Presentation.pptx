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presentation covers the NAS-PINNs framework — a 7-level progressive system that applies Neural Architecture Search to Physics-Informed Neural Networks for thermal simulation of A356 aluminum water quenching. The core innovation is the temporal skip operator: using PINN to replace intermediate FEM time steps, reducing solver calls while maintaining accuracy. Three NAS optimizers are compared: Bayesian (TPE), NSGA-II, and NSGA-III. The framework is built in PyTorch and covers everything from single-shot prediction to multi-domain generalization.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framework is structured as seven progressive levels, each building on the previous. Levels 1-4 establish the core quenching simulation pipeline: single-shot prediction, temporal skip operator, hybrid FEM/PINN routing, and distortion mechanics. Levels 5-7 extend and validate: L-BFGS refinement improves all architectures, Level 6 tests generalization to Poisson PDE, and Level 7 combines temporal analysis with multi-domain NAS. The core thesis is that a PINN with NAS-optimized architecture can replace sequential FEM steps — solving in fewer calls without accuracy loss.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physical problem is A356 aluminum water quenching: a 1.3×0.6 meter 2D cross-section heated to 540°C is immersed in 20°C water. The governing PDE is the heat equation with nonlinear Robin boundary conditions — the heat transfer coefficient h(T) changes regime as boiling transitions from film to nucleate to forced convection. The key challenge is that FEM must solve 20 sequential time steps, each requiring a full mesh assembly and matrix solve. PINN's opportunity is to predict intermediate steps without the FEM solve, reducing the total number of expensive solver calls. The analytical reference T(t) = 20 + 520·exp(−1.75×10⁻³·t) captures the fundamental mode of the 2D Robin BC system.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Level 1 establishes the baseline NAS-PINN: a global network that takes (t, x, y) as input and predicts temperature T. Three optimizers search the architecture space (layers 2-6, neurons 32-256, activations tanh/relu/swish). Bayesian optimization with TPE finds the best architecture (5 layers × 151 neurons, relu) and achieves L2=0.076, meeting the &lt;0.10 target. NSGA-II finds a slightly smaller architecture (3×153 tanh) but achieves L2=0.252 — missing the target. NSGA-III finds an even smaller model (3×75 tanh) with L2=0.513. The key finding is that architecture quality directly impacts downstream skip capability: only Bayesian's larger, deeper network can tolerate temporal skipping.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Level 2 introduces the temporal skip operator — the core innovation. Instead of a global predictor, a window-based TimeStepperPINN takes [x, y, t_local, T_prev] as input and predicts T_next for one time window. FEM runs at anchor points t[::k], PINN fills the skipped steps. With skip=2, only 11 out of 21 time steps need FEM — a 2× speedup. The convergence criterion is that MAE at skip=k must be less than 1.5× the skip=1 baseline MAE. With 500 Adam epochs, only Bayesian achieves this. With 2000 Adam epochs, NSGA-II (ratio=0.98×) and NSGA-III (ratio=0.99×) also converge — showing that epoch count is the limiting factor, not architecture per 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Level 3 adds adaptive intelligence: instead of a fixed skip factor, the system decides at each time step whether to use FEM or PINN based on the PDE residual. If the residual exceeds threshold 0.1, FEM is called for accuracy. If it falls below, PINN handles the prediction. This achieves 80% FEM skip across all three optimizers — even NSGA-II and NSGA-III benefit from this adaptive approach, since the residual check prevents error accumulation. The key insight is that residual-based routing is more robust than fixed-skip: it automatically calls FEM when the physics are challenging.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Level 4 connects thermal simulation to structural mechanics. The PINN temperature field at t=30s is used as input to a 2D plane-stress FEM solver, which computes thermal strains and distortions. Results are compared to CMM (Coordinate Measuring Machine) measurements at 47 points from the paper (Mortensen et al. 2026). Bayesian's more accurate temperature field (L2=0.076) translates directly to lower distortion error: 1.67mm mean displacement vs 2.81mm for NSGA-II and 4.74mm for NSGA-III. This demonstrates the practical engineering consequence of NAS architecture quality: better PINN → better distortion prediction → fewer physical prototypes.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Level 5 applies L-BFGS as a second-order refinement after Adam convergence. Adam is a first-order optimizer — it finds a good region but cannot exploit curvature information. L-BFGS uses an approximation to the inverse Hessian and achieves much tighter convergence near minima. Applied to the Level 1 models: Bayesian improves from L2=0.076 to 0.030 (2.6× improvement), NSGA-II from 0.252 to 0.055 (4.5× improvement), NSGA-III from 0.513 to 0.259 (2× improvement). Notably, applying L-BFGS per-window in Level 2 is LESS effective — window training needs sufficient Adam pre-convergence before L-BFGS can help. The correct sequence is: Adam fully converge, then L-BFGS refine.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Level 6 tests generalization: can the NAS-found architectures solve a completely different PDE without re-searching? The Poisson equation −∇²u = f on the unit square has exact solution u = sin(πx)·sin(πy). The same Bayesian architecture (5×151 relu) achieves L2=0.0083 — excellent generalization. NSGA-II achieves L2=0.0412, also good. NSGA-III achieves L2=0.1890 — marginal but present. This validates a key hypothesis: NAS-optimized architectures for heat equations are not overfitted to that specific PDE. The capacity and inductive bias selected by Bayesian NAS generalizes across PDE families, making the approach practically useful for multi-physics simulations.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Level 7 has two components. Level 7A revisits temporal skip with more detailed analysis across different training regimes: with 500 epochs, only Bayesian converges at skip=2. With 2000 epochs, NSGA-II achieves ratio=0.98× and NSGA-III achieves ratio=0.99× — both converge. This shows that epoch count, not architecture, was the limiting factor. Level 7B tests NAS across 5 different geometric domains for the Poisson PDE: square, circle, annulus, L-shape, and flower. Bayesian achieves L2&lt;0.05 on all domains. NSGA-III struggles on complex geometries like the flower shape, where the boundary representation is more challenging. This demonstrates multi-domain robustness of the NAS framework.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cross-level summary shows the full progression. Bayesian NAS consistently outperforms at every level — it meets the L2&lt;0.10 target at Level 1, achieves skip=2 at Level 2 with 500 epochs, and reaches L2=0.030 after L-BFGS. NSGA-II shows the largest improvement from L-BFGS: 4.5× reduction in L2 error. NSGA-III, despite being the smallest model (11,776 parameters), still achieves useful accuracy after L-BFGS and converges at skip=2 with sufficient training. The key message is that NAS optimizer choice affects initial performance but all architectures benefit substantially from the full pipeline: Adam → L-BFGS → skip operator.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summarize the key contributions: First, the temporal skip operator is validated — PINN can replace FEM intermediate steps with 2× speedup and no accuracy loss for Bayesian. With 2000 epochs, NSGA-II and NSGA-III also achieve skip=2. Second, NAS architecture quality determines skip capability: larger deeper networks (Bayesian 5×151) converge faster at higher skip rates. Third, L-BFGS refinement dramatically improves all optimizers — particularly NSGA-II which improves 4.5×. Fourth, hybrid FEM+PINN with residual-based routing achieves 80% FEM step reduction for all optimizers. Fifth, the framework generalizes: same NAS architectures work for Poisson PDE and 5 different geometries. Future work: higher skip rates (k=4,6) for NSGA-II/III with more training epochs; real FEM coupling (Abaqus/OpenFOAM); 3D extension.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237E"/>
        </a:solidFill>
        <a:effectLst/>
      </p:bgPr>
    </p:bg>
    <p:spTree>
      <p:nvGrpSpPr>
        <p:cNvPr id="1" name=""/>
        <p:cNvGrpSpPr/>
        <p:nvPr/>
      </p:nvGrpSpPr>
      <p:grpSpPr/>
      <p:sp>
        <p:nvSpPr>
          <p:cNvPr id="2" name="Rectangle 1"/>
          <p:cNvSpPr/>
          <p:nvPr/>
        </p:nvSpPr>
        <p:spPr>
          <a:xfrm>
            <a:off x="0" y="1645920"/>
            <a:ext cx="12188952" cy="329184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645920"/>
            <a:ext cx="12188952" cy="54864"/>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828800"/>
            <a:ext cx="10058400" cy="1097280"/>
          </a:xfrm>
          <a:prstGeom prst="rect">
            <a:avLst/>
          </a:prstGeom>
          <a:noFill/>
        </p:spPr>
        <p:txBody>
          <a:bodyPr wrap="square">
            <a:spAutoFit/>
          </a:bodyPr>
          <a:lstStyle/>
          <a:p>
            <a:pPr algn="ctr"/>
            <a:r>
              <a:rPr sz="6000" b="1" i="0">
                <a:solidFill>
                  <a:srgbClr val="FFFFFF"/>
                </a:solidFill>
              </a:rPr>
              <a:t>NAS-PINNs</a:t>
            </a:r>
          </a:p>
        </p:txBody>
      </p:sp>
      <p:sp>
        <p:nvSpPr>
          <p:cNvPr id="5" name="TextBox 4"/>
          <p:cNvSpPr txBox="1"/>
          <p:nvPr/>
        </p:nvSpPr>
        <p:spPr>
          <a:xfrm>
            <a:off x="914400" y="2926080"/>
            <a:ext cx="10058400" cy="502920"/>
          </a:xfrm>
          <a:prstGeom prst="rect">
            <a:avLst/>
          </a:prstGeom>
          <a:noFill/>
        </p:spPr>
        <p:txBody>
          <a:bodyPr wrap="square">
            <a:spAutoFit/>
          </a:bodyPr>
          <a:lstStyle/>
          <a:p>
            <a:pPr algn="ctr"/>
            <a:r>
              <a:rPr sz="2000" b="0" i="0">
                <a:solidFill>
                  <a:srgbClr val="BBDEFB"/>
                </a:solidFill>
              </a:rPr>
              <a:t>Neural Architecture Search for Physics-Informed Neural Networks</a:t>
            </a:r>
          </a:p>
        </p:txBody>
      </p:sp>
      <p:sp>
        <p:nvSpPr>
          <p:cNvPr id="6" name="TextBox 5"/>
          <p:cNvSpPr txBox="1"/>
          <p:nvPr/>
        </p:nvSpPr>
        <p:spPr>
          <a:xfrm>
            <a:off x="914400" y="3429000"/>
            <a:ext cx="10058400" cy="411480"/>
          </a:xfrm>
          <a:prstGeom prst="rect">
            <a:avLst/>
          </a:prstGeom>
          <a:noFill/>
        </p:spPr>
        <p:txBody>
          <a:bodyPr wrap="square">
            <a:spAutoFit/>
          </a:bodyPr>
          <a:lstStyle/>
          <a:p>
            <a:pPr algn="ctr"/>
            <a:r>
              <a:rPr sz="1400" b="0" i="1">
                <a:solidFill>
                  <a:srgbClr val="90CAF9"/>
                </a:solidFill>
              </a:rPr>
              <a:t>A356 Aluminum Water Quenching  ·  FEM Skip Operator  ·  Multi-Domain Poisson</a:t>
            </a:r>
          </a:p>
        </p:txBody>
      </p:sp>
      <p:sp>
        <p:nvSpPr>
          <p:cNvPr id="7" name="Rectangle 6"/>
          <p:cNvSpPr/>
          <p:nvPr/>
        </p:nvSpPr>
        <p:spPr>
          <a:xfrm>
            <a:off x="320040" y="4663440"/>
            <a:ext cx="1325880" cy="77724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6616" y="4681728"/>
            <a:ext cx="1252728" cy="749808"/>
          </a:xfrm>
          <a:prstGeom prst="rect">
            <a:avLst/>
          </a:prstGeom>
          <a:noFill/>
        </p:spPr>
        <p:txBody>
          <a:bodyPr wrap="square">
            <a:spAutoFit/>
          </a:bodyPr>
          <a:lstStyle/>
          <a:p>
            <a:pPr algn="ctr"/>
            <a:r>
              <a:rPr sz="1100" b="1" i="0">
                <a:solidFill>
                  <a:srgbClr val="FFFFFF"/>
                </a:solidFill>
              </a:rPr>
              <a:t>L1
Single-Shot</a:t>
            </a:r>
          </a:p>
        </p:txBody>
      </p:sp>
      <p:sp>
        <p:nvSpPr>
          <p:cNvPr id="9" name="Rectangle 8"/>
          <p:cNvSpPr/>
          <p:nvPr/>
        </p:nvSpPr>
        <p:spPr>
          <a:xfrm>
            <a:off x="1737360" y="4663440"/>
            <a:ext cx="1325880" cy="77724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773936" y="4681728"/>
            <a:ext cx="1252728" cy="749808"/>
          </a:xfrm>
          <a:prstGeom prst="rect">
            <a:avLst/>
          </a:prstGeom>
          <a:noFill/>
        </p:spPr>
        <p:txBody>
          <a:bodyPr wrap="square">
            <a:spAutoFit/>
          </a:bodyPr>
          <a:lstStyle/>
          <a:p>
            <a:pPr algn="ctr"/>
            <a:r>
              <a:rPr sz="1100" b="1" i="0">
                <a:solidFill>
                  <a:srgbClr val="FFFFFF"/>
                </a:solidFill>
              </a:rPr>
              <a:t>L2
Skip Op.</a:t>
            </a:r>
          </a:p>
        </p:txBody>
      </p:sp>
      <p:sp>
        <p:nvSpPr>
          <p:cNvPr id="11" name="Rectangle 10"/>
          <p:cNvSpPr/>
          <p:nvPr/>
        </p:nvSpPr>
        <p:spPr>
          <a:xfrm>
            <a:off x="3154680" y="4663440"/>
            <a:ext cx="1325880" cy="77724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191256" y="4681728"/>
            <a:ext cx="1252728" cy="749808"/>
          </a:xfrm>
          <a:prstGeom prst="rect">
            <a:avLst/>
          </a:prstGeom>
          <a:noFill/>
        </p:spPr>
        <p:txBody>
          <a:bodyPr wrap="square">
            <a:spAutoFit/>
          </a:bodyPr>
          <a:lstStyle/>
          <a:p>
            <a:pPr algn="ctr"/>
            <a:r>
              <a:rPr sz="1100" b="1" i="0">
                <a:solidFill>
                  <a:srgbClr val="FFFFFF"/>
                </a:solidFill>
              </a:rPr>
              <a:t>L3
Hybrid FEM</a:t>
            </a:r>
          </a:p>
        </p:txBody>
      </p:sp>
      <p:sp>
        <p:nvSpPr>
          <p:cNvPr id="13" name="Rectangle 12"/>
          <p:cNvSpPr/>
          <p:nvPr/>
        </p:nvSpPr>
        <p:spPr>
          <a:xfrm>
            <a:off x="4572000" y="4663440"/>
            <a:ext cx="1325880" cy="77724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08576" y="4681728"/>
            <a:ext cx="1252728" cy="749808"/>
          </a:xfrm>
          <a:prstGeom prst="rect">
            <a:avLst/>
          </a:prstGeom>
          <a:noFill/>
        </p:spPr>
        <p:txBody>
          <a:bodyPr wrap="square">
            <a:spAutoFit/>
          </a:bodyPr>
          <a:lstStyle/>
          <a:p>
            <a:pPr algn="ctr"/>
            <a:r>
              <a:rPr sz="1100" b="1" i="0">
                <a:solidFill>
                  <a:srgbClr val="FFFFFF"/>
                </a:solidFill>
              </a:rPr>
              <a:t>L4
Distortion</a:t>
            </a:r>
          </a:p>
        </p:txBody>
      </p:sp>
      <p:sp>
        <p:nvSpPr>
          <p:cNvPr id="15" name="Rectangle 14"/>
          <p:cNvSpPr/>
          <p:nvPr/>
        </p:nvSpPr>
        <p:spPr>
          <a:xfrm>
            <a:off x="5989320" y="4663440"/>
            <a:ext cx="1325880" cy="77724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025896" y="4681728"/>
            <a:ext cx="1252728" cy="749808"/>
          </a:xfrm>
          <a:prstGeom prst="rect">
            <a:avLst/>
          </a:prstGeom>
          <a:noFill/>
        </p:spPr>
        <p:txBody>
          <a:bodyPr wrap="square">
            <a:spAutoFit/>
          </a:bodyPr>
          <a:lstStyle/>
          <a:p>
            <a:pPr algn="ctr"/>
            <a:r>
              <a:rPr sz="1100" b="1" i="0">
                <a:solidFill>
                  <a:srgbClr val="FFFFFF"/>
                </a:solidFill>
              </a:rPr>
              <a:t>L5
L-BFGS</a:t>
            </a:r>
          </a:p>
        </p:txBody>
      </p:sp>
      <p:sp>
        <p:nvSpPr>
          <p:cNvPr id="17" name="Rectangle 16"/>
          <p:cNvSpPr/>
          <p:nvPr/>
        </p:nvSpPr>
        <p:spPr>
          <a:xfrm>
            <a:off x="7406640" y="4663440"/>
            <a:ext cx="1325880" cy="77724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43216" y="4681728"/>
            <a:ext cx="1252728" cy="749808"/>
          </a:xfrm>
          <a:prstGeom prst="rect">
            <a:avLst/>
          </a:prstGeom>
          <a:noFill/>
        </p:spPr>
        <p:txBody>
          <a:bodyPr wrap="square">
            <a:spAutoFit/>
          </a:bodyPr>
          <a:lstStyle/>
          <a:p>
            <a:pPr algn="ctr"/>
            <a:r>
              <a:rPr sz="1100" b="1" i="0">
                <a:solidFill>
                  <a:srgbClr val="FFFFFF"/>
                </a:solidFill>
              </a:rPr>
              <a:t>L6
Poisson</a:t>
            </a:r>
          </a:p>
        </p:txBody>
      </p:sp>
      <p:sp>
        <p:nvSpPr>
          <p:cNvPr id="19" name="Rectangle 18"/>
          <p:cNvSpPr/>
          <p:nvPr/>
        </p:nvSpPr>
        <p:spPr>
          <a:xfrm>
            <a:off x="8823960" y="4663440"/>
            <a:ext cx="1325880" cy="77724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0536" y="4681728"/>
            <a:ext cx="1252728" cy="749808"/>
          </a:xfrm>
          <a:prstGeom prst="rect">
            <a:avLst/>
          </a:prstGeom>
          <a:noFill/>
        </p:spPr>
        <p:txBody>
          <a:bodyPr wrap="square">
            <a:spAutoFit/>
          </a:bodyPr>
          <a:lstStyle/>
          <a:p>
            <a:pPr algn="ctr"/>
            <a:r>
              <a:rPr sz="1100" b="1" i="0">
                <a:solidFill>
                  <a:srgbClr val="FFFFFF"/>
                </a:solidFill>
              </a:rPr>
              <a:t>L7
Multi-Dom.</a:t>
            </a:r>
          </a:p>
        </p:txBody>
      </p:sp>
      <p:sp>
        <p:nvSpPr>
          <p:cNvPr id="21" name="TextBox 20"/>
          <p:cNvSpPr txBox="1"/>
          <p:nvPr/>
        </p:nvSpPr>
        <p:spPr>
          <a:xfrm>
            <a:off x="457200" y="6217920"/>
            <a:ext cx="10972800" cy="365760"/>
          </a:xfrm>
          <a:prstGeom prst="rect">
            <a:avLst/>
          </a:prstGeom>
          <a:noFill/>
        </p:spPr>
        <p:txBody>
          <a:bodyPr wrap="square">
            <a:spAutoFit/>
          </a:bodyPr>
          <a:lstStyle/>
          <a:p>
            <a:pPr algn="ctr"/>
            <a:r>
              <a:rPr sz="1100" b="0" i="0">
                <a:solidFill>
                  <a:srgbClr val="64B5F6"/>
                </a:solidFill>
              </a:rPr>
              <a:t>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AFF"/>
        </a:solidFill>
        <a:effectLst/>
      </p:bgPr>
    </p:bg>
    <p:spTree>
      <p:nvGrpSpPr>
        <p:cNvPr id="1" name=""/>
        <p:cNvGrpSpPr/>
        <p:nvPr/>
      </p:nvGrpSpPr>
      <p:grpSpPr/>
      <p:sp>
        <p:nvSpPr>
          <p:cNvPr id="2" name="Rectangle 1"/>
          <p:cNvSpPr/>
          <p:nvPr/>
        </p:nvSpPr>
        <p:spPr>
          <a:xfrm>
            <a:off x="0" y="0"/>
            <a:ext cx="12188952" cy="105156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88952" cy="54864"/>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73152"/>
            <a:ext cx="9601200" cy="594360"/>
          </a:xfrm>
          <a:prstGeom prst="rect">
            <a:avLst/>
          </a:prstGeom>
          <a:noFill/>
        </p:spPr>
        <p:txBody>
          <a:bodyPr wrap="square">
            <a:spAutoFit/>
          </a:bodyPr>
          <a:lstStyle/>
          <a:p>
            <a:pPr algn="l"/>
            <a:r>
              <a:rPr sz="2800" b="1" i="0">
                <a:solidFill>
                  <a:srgbClr val="FFFFFF"/>
                </a:solidFill>
              </a:rPr>
              <a:t>Project Overview</a:t>
            </a:r>
          </a:p>
        </p:txBody>
      </p:sp>
      <p:sp>
        <p:nvSpPr>
          <p:cNvPr id="5" name="TextBox 4"/>
          <p:cNvSpPr txBox="1"/>
          <p:nvPr/>
        </p:nvSpPr>
        <p:spPr>
          <a:xfrm>
            <a:off x="320040" y="658368"/>
            <a:ext cx="9144000" cy="347472"/>
          </a:xfrm>
          <a:prstGeom prst="rect">
            <a:avLst/>
          </a:prstGeom>
          <a:noFill/>
        </p:spPr>
        <p:txBody>
          <a:bodyPr wrap="square">
            <a:spAutoFit/>
          </a:bodyPr>
          <a:lstStyle/>
          <a:p>
            <a:pPr algn="l"/>
            <a:r>
              <a:rPr sz="1400" b="0" i="1">
                <a:solidFill>
                  <a:srgbClr val="BBDEFB"/>
                </a:solidFill>
              </a:rPr>
              <a:t>Seven-level NAS-PINN framework for thermal simulation</a:t>
            </a:r>
          </a:p>
        </p:txBody>
      </p:sp>
      <p:sp>
        <p:nvSpPr>
          <p:cNvPr id="6" name="Rectangle 5"/>
          <p:cNvSpPr/>
          <p:nvPr/>
        </p:nvSpPr>
        <p:spPr>
          <a:xfrm>
            <a:off x="0" y="6629400"/>
            <a:ext cx="12188952" cy="22860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638544"/>
            <a:ext cx="11430000" cy="201168"/>
          </a:xfrm>
          <a:prstGeom prst="rect">
            <a:avLst/>
          </a:prstGeom>
          <a:noFill/>
        </p:spPr>
        <p:txBody>
          <a:bodyPr wrap="square">
            <a:spAutoFit/>
          </a:bodyPr>
          <a:lstStyle/>
          <a:p>
            <a:pPr algn="l"/>
            <a:r>
              <a:rPr sz="800" b="0" i="0">
                <a:solidFill>
                  <a:srgbClr val="90CAF9"/>
                </a:solidFill>
              </a:rPr>
              <a:t>NAS-PINNs Thesis  |  2026</a:t>
            </a:r>
          </a:p>
        </p:txBody>
      </p:sp>
      <p:sp>
        <p:nvSpPr>
          <p:cNvPr id="8" name="Rectangle 7"/>
          <p:cNvSpPr/>
          <p:nvPr/>
        </p:nvSpPr>
        <p:spPr>
          <a:xfrm>
            <a:off x="274320" y="1234440"/>
            <a:ext cx="640080" cy="530352"/>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1289304"/>
            <a:ext cx="640080" cy="457200"/>
          </a:xfrm>
          <a:prstGeom prst="rect">
            <a:avLst/>
          </a:prstGeom>
          <a:noFill/>
        </p:spPr>
        <p:txBody>
          <a:bodyPr wrap="square">
            <a:spAutoFit/>
          </a:bodyPr>
          <a:lstStyle/>
          <a:p>
            <a:pPr algn="ctr"/>
            <a:r>
              <a:rPr sz="1400" b="1" i="0">
                <a:solidFill>
                  <a:srgbClr val="FFFFFF"/>
                </a:solidFill>
              </a:rPr>
              <a:t>L1</a:t>
            </a:r>
          </a:p>
        </p:txBody>
      </p:sp>
      <p:sp>
        <p:nvSpPr>
          <p:cNvPr id="10" name="TextBox 9"/>
          <p:cNvSpPr txBox="1"/>
          <p:nvPr/>
        </p:nvSpPr>
        <p:spPr>
          <a:xfrm>
            <a:off x="1005840" y="1271016"/>
            <a:ext cx="2560320" cy="475488"/>
          </a:xfrm>
          <a:prstGeom prst="rect">
            <a:avLst/>
          </a:prstGeom>
          <a:noFill/>
        </p:spPr>
        <p:txBody>
          <a:bodyPr wrap="square">
            <a:spAutoFit/>
          </a:bodyPr>
          <a:lstStyle/>
          <a:p>
            <a:pPr algn="l"/>
            <a:r>
              <a:rPr sz="1300" b="1" i="0">
                <a:solidFill>
                  <a:srgbClr val="1A237E"/>
                </a:solidFill>
              </a:rPr>
              <a:t>Single-Shot PINN</a:t>
            </a:r>
          </a:p>
        </p:txBody>
      </p:sp>
      <p:sp>
        <p:nvSpPr>
          <p:cNvPr id="11" name="TextBox 10"/>
          <p:cNvSpPr txBox="1"/>
          <p:nvPr/>
        </p:nvSpPr>
        <p:spPr>
          <a:xfrm>
            <a:off x="3611880" y="1307592"/>
            <a:ext cx="8046720" cy="438912"/>
          </a:xfrm>
          <a:prstGeom prst="rect">
            <a:avLst/>
          </a:prstGeom>
          <a:noFill/>
        </p:spPr>
        <p:txBody>
          <a:bodyPr wrap="square">
            <a:spAutoFit/>
          </a:bodyPr>
          <a:lstStyle/>
          <a:p>
            <a:pPr algn="l"/>
            <a:r>
              <a:rPr sz="1200" b="0" i="0">
                <a:solidFill>
                  <a:srgbClr val="424242"/>
                </a:solidFill>
              </a:rPr>
              <a:t>Global T(t,x,y) over full time domain</a:t>
            </a:r>
          </a:p>
        </p:txBody>
      </p:sp>
      <p:sp>
        <p:nvSpPr>
          <p:cNvPr id="12" name="Rectangle 11"/>
          <p:cNvSpPr/>
          <p:nvPr/>
        </p:nvSpPr>
        <p:spPr>
          <a:xfrm>
            <a:off x="274320" y="1801368"/>
            <a:ext cx="11612880" cy="18288"/>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4320" y="1892808"/>
            <a:ext cx="640080" cy="530352"/>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4320" y="1947672"/>
            <a:ext cx="640080" cy="457200"/>
          </a:xfrm>
          <a:prstGeom prst="rect">
            <a:avLst/>
          </a:prstGeom>
          <a:noFill/>
        </p:spPr>
        <p:txBody>
          <a:bodyPr wrap="square">
            <a:spAutoFit/>
          </a:bodyPr>
          <a:lstStyle/>
          <a:p>
            <a:pPr algn="ctr"/>
            <a:r>
              <a:rPr sz="1400" b="1" i="0">
                <a:solidFill>
                  <a:srgbClr val="FFFFFF"/>
                </a:solidFill>
              </a:rPr>
              <a:t>L2</a:t>
            </a:r>
          </a:p>
        </p:txBody>
      </p:sp>
      <p:sp>
        <p:nvSpPr>
          <p:cNvPr id="15" name="TextBox 14"/>
          <p:cNvSpPr txBox="1"/>
          <p:nvPr/>
        </p:nvSpPr>
        <p:spPr>
          <a:xfrm>
            <a:off x="1005840" y="1929384"/>
            <a:ext cx="2560320" cy="475488"/>
          </a:xfrm>
          <a:prstGeom prst="rect">
            <a:avLst/>
          </a:prstGeom>
          <a:noFill/>
        </p:spPr>
        <p:txBody>
          <a:bodyPr wrap="square">
            <a:spAutoFit/>
          </a:bodyPr>
          <a:lstStyle/>
          <a:p>
            <a:pPr algn="l"/>
            <a:r>
              <a:rPr sz="1300" b="1" i="0">
                <a:solidFill>
                  <a:srgbClr val="1A237E"/>
                </a:solidFill>
              </a:rPr>
              <a:t>Skip Operator</a:t>
            </a:r>
          </a:p>
        </p:txBody>
      </p:sp>
      <p:sp>
        <p:nvSpPr>
          <p:cNvPr id="16" name="TextBox 15"/>
          <p:cNvSpPr txBox="1"/>
          <p:nvPr/>
        </p:nvSpPr>
        <p:spPr>
          <a:xfrm>
            <a:off x="3611880" y="1965960"/>
            <a:ext cx="8046720" cy="438912"/>
          </a:xfrm>
          <a:prstGeom prst="rect">
            <a:avLst/>
          </a:prstGeom>
          <a:noFill/>
        </p:spPr>
        <p:txBody>
          <a:bodyPr wrap="square">
            <a:spAutoFit/>
          </a:bodyPr>
          <a:lstStyle/>
          <a:p>
            <a:pPr algn="l"/>
            <a:r>
              <a:rPr sz="1200" b="0" i="0">
                <a:solidFill>
                  <a:srgbClr val="424242"/>
                </a:solidFill>
              </a:rPr>
              <a:t>FEM at anchors, PINN fills skipped steps</a:t>
            </a:r>
          </a:p>
        </p:txBody>
      </p:sp>
      <p:sp>
        <p:nvSpPr>
          <p:cNvPr id="17" name="Rectangle 16"/>
          <p:cNvSpPr/>
          <p:nvPr/>
        </p:nvSpPr>
        <p:spPr>
          <a:xfrm>
            <a:off x="274320" y="2459736"/>
            <a:ext cx="11612880" cy="18288"/>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74320" y="2551176"/>
            <a:ext cx="640080" cy="530352"/>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74320" y="2606040"/>
            <a:ext cx="640080" cy="457200"/>
          </a:xfrm>
          <a:prstGeom prst="rect">
            <a:avLst/>
          </a:prstGeom>
          <a:noFill/>
        </p:spPr>
        <p:txBody>
          <a:bodyPr wrap="square">
            <a:spAutoFit/>
          </a:bodyPr>
          <a:lstStyle/>
          <a:p>
            <a:pPr algn="ctr"/>
            <a:r>
              <a:rPr sz="1400" b="1" i="0">
                <a:solidFill>
                  <a:srgbClr val="FFFFFF"/>
                </a:solidFill>
              </a:rPr>
              <a:t>L3</a:t>
            </a:r>
          </a:p>
        </p:txBody>
      </p:sp>
      <p:sp>
        <p:nvSpPr>
          <p:cNvPr id="20" name="TextBox 19"/>
          <p:cNvSpPr txBox="1"/>
          <p:nvPr/>
        </p:nvSpPr>
        <p:spPr>
          <a:xfrm>
            <a:off x="1005840" y="2587752"/>
            <a:ext cx="2560320" cy="475488"/>
          </a:xfrm>
          <a:prstGeom prst="rect">
            <a:avLst/>
          </a:prstGeom>
          <a:noFill/>
        </p:spPr>
        <p:txBody>
          <a:bodyPr wrap="square">
            <a:spAutoFit/>
          </a:bodyPr>
          <a:lstStyle/>
          <a:p>
            <a:pPr algn="l"/>
            <a:r>
              <a:rPr sz="1300" b="1" i="0">
                <a:solidFill>
                  <a:srgbClr val="1A237E"/>
                </a:solidFill>
              </a:rPr>
              <a:t>Hybrid FEM+PINN</a:t>
            </a:r>
          </a:p>
        </p:txBody>
      </p:sp>
      <p:sp>
        <p:nvSpPr>
          <p:cNvPr id="21" name="TextBox 20"/>
          <p:cNvSpPr txBox="1"/>
          <p:nvPr/>
        </p:nvSpPr>
        <p:spPr>
          <a:xfrm>
            <a:off x="3611880" y="2624328"/>
            <a:ext cx="8046720" cy="438912"/>
          </a:xfrm>
          <a:prstGeom prst="rect">
            <a:avLst/>
          </a:prstGeom>
          <a:noFill/>
        </p:spPr>
        <p:txBody>
          <a:bodyPr wrap="square">
            <a:spAutoFit/>
          </a:bodyPr>
          <a:lstStyle/>
          <a:p>
            <a:pPr algn="l"/>
            <a:r>
              <a:rPr sz="1200" b="0" i="0">
                <a:solidFill>
                  <a:srgbClr val="424242"/>
                </a:solidFill>
              </a:rPr>
              <a:t>Adaptive residual-driven FEM/PINN routing</a:t>
            </a:r>
          </a:p>
        </p:txBody>
      </p:sp>
      <p:sp>
        <p:nvSpPr>
          <p:cNvPr id="22" name="Rectangle 21"/>
          <p:cNvSpPr/>
          <p:nvPr/>
        </p:nvSpPr>
        <p:spPr>
          <a:xfrm>
            <a:off x="274320" y="3118104"/>
            <a:ext cx="11612880" cy="18288"/>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74320" y="3209544"/>
            <a:ext cx="640080" cy="530352"/>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74320" y="3264408"/>
            <a:ext cx="640080" cy="457200"/>
          </a:xfrm>
          <a:prstGeom prst="rect">
            <a:avLst/>
          </a:prstGeom>
          <a:noFill/>
        </p:spPr>
        <p:txBody>
          <a:bodyPr wrap="square">
            <a:spAutoFit/>
          </a:bodyPr>
          <a:lstStyle/>
          <a:p>
            <a:pPr algn="ctr"/>
            <a:r>
              <a:rPr sz="1400" b="1" i="0">
                <a:solidFill>
                  <a:srgbClr val="FFFFFF"/>
                </a:solidFill>
              </a:rPr>
              <a:t>L4</a:t>
            </a:r>
          </a:p>
        </p:txBody>
      </p:sp>
      <p:sp>
        <p:nvSpPr>
          <p:cNvPr id="25" name="TextBox 24"/>
          <p:cNvSpPr txBox="1"/>
          <p:nvPr/>
        </p:nvSpPr>
        <p:spPr>
          <a:xfrm>
            <a:off x="1005840" y="3246120"/>
            <a:ext cx="2560320" cy="475488"/>
          </a:xfrm>
          <a:prstGeom prst="rect">
            <a:avLst/>
          </a:prstGeom>
          <a:noFill/>
        </p:spPr>
        <p:txBody>
          <a:bodyPr wrap="square">
            <a:spAutoFit/>
          </a:bodyPr>
          <a:lstStyle/>
          <a:p>
            <a:pPr algn="l"/>
            <a:r>
              <a:rPr sz="1300" b="1" i="0">
                <a:solidFill>
                  <a:srgbClr val="1A237E"/>
                </a:solidFill>
              </a:rPr>
              <a:t>Distortion Mechanics</a:t>
            </a:r>
          </a:p>
        </p:txBody>
      </p:sp>
      <p:sp>
        <p:nvSpPr>
          <p:cNvPr id="26" name="TextBox 25"/>
          <p:cNvSpPr txBox="1"/>
          <p:nvPr/>
        </p:nvSpPr>
        <p:spPr>
          <a:xfrm>
            <a:off x="3611880" y="3282696"/>
            <a:ext cx="8046720" cy="438912"/>
          </a:xfrm>
          <a:prstGeom prst="rect">
            <a:avLst/>
          </a:prstGeom>
          <a:noFill/>
        </p:spPr>
        <p:txBody>
          <a:bodyPr wrap="square">
            <a:spAutoFit/>
          </a:bodyPr>
          <a:lstStyle/>
          <a:p>
            <a:pPr algn="l"/>
            <a:r>
              <a:rPr sz="1200" b="0" i="0">
                <a:solidFill>
                  <a:srgbClr val="424242"/>
                </a:solidFill>
              </a:rPr>
              <a:t>Plane-stress thermal distortion at CMM pts</a:t>
            </a:r>
          </a:p>
        </p:txBody>
      </p:sp>
      <p:sp>
        <p:nvSpPr>
          <p:cNvPr id="27" name="Rectangle 26"/>
          <p:cNvSpPr/>
          <p:nvPr/>
        </p:nvSpPr>
        <p:spPr>
          <a:xfrm>
            <a:off x="274320" y="3776472"/>
            <a:ext cx="11612880" cy="18288"/>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74320" y="3867912"/>
            <a:ext cx="640080" cy="530352"/>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74320" y="3922776"/>
            <a:ext cx="640080" cy="457200"/>
          </a:xfrm>
          <a:prstGeom prst="rect">
            <a:avLst/>
          </a:prstGeom>
          <a:noFill/>
        </p:spPr>
        <p:txBody>
          <a:bodyPr wrap="square">
            <a:spAutoFit/>
          </a:bodyPr>
          <a:lstStyle/>
          <a:p>
            <a:pPr algn="ctr"/>
            <a:r>
              <a:rPr sz="1400" b="1" i="0">
                <a:solidFill>
                  <a:srgbClr val="FFFFFF"/>
                </a:solidFill>
              </a:rPr>
              <a:t>L5</a:t>
            </a:r>
          </a:p>
        </p:txBody>
      </p:sp>
      <p:sp>
        <p:nvSpPr>
          <p:cNvPr id="30" name="TextBox 29"/>
          <p:cNvSpPr txBox="1"/>
          <p:nvPr/>
        </p:nvSpPr>
        <p:spPr>
          <a:xfrm>
            <a:off x="1005840" y="3904488"/>
            <a:ext cx="2560320" cy="475488"/>
          </a:xfrm>
          <a:prstGeom prst="rect">
            <a:avLst/>
          </a:prstGeom>
          <a:noFill/>
        </p:spPr>
        <p:txBody>
          <a:bodyPr wrap="square">
            <a:spAutoFit/>
          </a:bodyPr>
          <a:lstStyle/>
          <a:p>
            <a:pPr algn="l"/>
            <a:r>
              <a:rPr sz="1300" b="1" i="0">
                <a:solidFill>
                  <a:srgbClr val="1A237E"/>
                </a:solidFill>
              </a:rPr>
              <a:t>L-BFGS Refinement</a:t>
            </a:r>
          </a:p>
        </p:txBody>
      </p:sp>
      <p:sp>
        <p:nvSpPr>
          <p:cNvPr id="31" name="TextBox 30"/>
          <p:cNvSpPr txBox="1"/>
          <p:nvPr/>
        </p:nvSpPr>
        <p:spPr>
          <a:xfrm>
            <a:off x="3611880" y="3941064"/>
            <a:ext cx="8046720" cy="438912"/>
          </a:xfrm>
          <a:prstGeom prst="rect">
            <a:avLst/>
          </a:prstGeom>
          <a:noFill/>
        </p:spPr>
        <p:txBody>
          <a:bodyPr wrap="square">
            <a:spAutoFit/>
          </a:bodyPr>
          <a:lstStyle/>
          <a:p>
            <a:pPr algn="l"/>
            <a:r>
              <a:rPr sz="1200" b="0" i="0">
                <a:solidFill>
                  <a:srgbClr val="424242"/>
                </a:solidFill>
              </a:rPr>
              <a:t>Second-order polish after Adam</a:t>
            </a:r>
          </a:p>
        </p:txBody>
      </p:sp>
      <p:sp>
        <p:nvSpPr>
          <p:cNvPr id="32" name="Rectangle 31"/>
          <p:cNvSpPr/>
          <p:nvPr/>
        </p:nvSpPr>
        <p:spPr>
          <a:xfrm>
            <a:off x="274320" y="4434840"/>
            <a:ext cx="11612880" cy="18288"/>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274320" y="4526280"/>
            <a:ext cx="640080" cy="530352"/>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74320" y="4581144"/>
            <a:ext cx="640080" cy="457200"/>
          </a:xfrm>
          <a:prstGeom prst="rect">
            <a:avLst/>
          </a:prstGeom>
          <a:noFill/>
        </p:spPr>
        <p:txBody>
          <a:bodyPr wrap="square">
            <a:spAutoFit/>
          </a:bodyPr>
          <a:lstStyle/>
          <a:p>
            <a:pPr algn="ctr"/>
            <a:r>
              <a:rPr sz="1400" b="1" i="0">
                <a:solidFill>
                  <a:srgbClr val="FFFFFF"/>
                </a:solidFill>
              </a:rPr>
              <a:t>L6</a:t>
            </a:r>
          </a:p>
        </p:txBody>
      </p:sp>
      <p:sp>
        <p:nvSpPr>
          <p:cNvPr id="35" name="TextBox 34"/>
          <p:cNvSpPr txBox="1"/>
          <p:nvPr/>
        </p:nvSpPr>
        <p:spPr>
          <a:xfrm>
            <a:off x="1005840" y="4562856"/>
            <a:ext cx="2560320" cy="475488"/>
          </a:xfrm>
          <a:prstGeom prst="rect">
            <a:avLst/>
          </a:prstGeom>
          <a:noFill/>
        </p:spPr>
        <p:txBody>
          <a:bodyPr wrap="square">
            <a:spAutoFit/>
          </a:bodyPr>
          <a:lstStyle/>
          <a:p>
            <a:pPr algn="l"/>
            <a:r>
              <a:rPr sz="1300" b="1" i="0">
                <a:solidFill>
                  <a:srgbClr val="1A237E"/>
                </a:solidFill>
              </a:rPr>
              <a:t>Poisson Benchmark</a:t>
            </a:r>
          </a:p>
        </p:txBody>
      </p:sp>
      <p:sp>
        <p:nvSpPr>
          <p:cNvPr id="36" name="TextBox 35"/>
          <p:cNvSpPr txBox="1"/>
          <p:nvPr/>
        </p:nvSpPr>
        <p:spPr>
          <a:xfrm>
            <a:off x="3611880" y="4599432"/>
            <a:ext cx="8046720" cy="438912"/>
          </a:xfrm>
          <a:prstGeom prst="rect">
            <a:avLst/>
          </a:prstGeom>
          <a:noFill/>
        </p:spPr>
        <p:txBody>
          <a:bodyPr wrap="square">
            <a:spAutoFit/>
          </a:bodyPr>
          <a:lstStyle/>
          <a:p>
            <a:pPr algn="l"/>
            <a:r>
              <a:rPr sz="1200" b="0" i="0">
                <a:solidFill>
                  <a:srgbClr val="424242"/>
                </a:solidFill>
              </a:rPr>
              <a:t>Generalization to Poisson PDE</a:t>
            </a:r>
          </a:p>
        </p:txBody>
      </p:sp>
      <p:sp>
        <p:nvSpPr>
          <p:cNvPr id="37" name="Rectangle 36"/>
          <p:cNvSpPr/>
          <p:nvPr/>
        </p:nvSpPr>
        <p:spPr>
          <a:xfrm>
            <a:off x="274320" y="5093208"/>
            <a:ext cx="11612880" cy="18288"/>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274320" y="5184648"/>
            <a:ext cx="640080" cy="530352"/>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74320" y="5239512"/>
            <a:ext cx="640080" cy="457200"/>
          </a:xfrm>
          <a:prstGeom prst="rect">
            <a:avLst/>
          </a:prstGeom>
          <a:noFill/>
        </p:spPr>
        <p:txBody>
          <a:bodyPr wrap="square">
            <a:spAutoFit/>
          </a:bodyPr>
          <a:lstStyle/>
          <a:p>
            <a:pPr algn="ctr"/>
            <a:r>
              <a:rPr sz="1400" b="1" i="0">
                <a:solidFill>
                  <a:srgbClr val="FFFFFF"/>
                </a:solidFill>
              </a:rPr>
              <a:t>L7</a:t>
            </a:r>
          </a:p>
        </p:txBody>
      </p:sp>
      <p:sp>
        <p:nvSpPr>
          <p:cNvPr id="40" name="TextBox 39"/>
          <p:cNvSpPr txBox="1"/>
          <p:nvPr/>
        </p:nvSpPr>
        <p:spPr>
          <a:xfrm>
            <a:off x="1005840" y="5221224"/>
            <a:ext cx="2560320" cy="475488"/>
          </a:xfrm>
          <a:prstGeom prst="rect">
            <a:avLst/>
          </a:prstGeom>
          <a:noFill/>
        </p:spPr>
        <p:txBody>
          <a:bodyPr wrap="square">
            <a:spAutoFit/>
          </a:bodyPr>
          <a:lstStyle/>
          <a:p>
            <a:pPr algn="l"/>
            <a:r>
              <a:rPr sz="1300" b="1" i="0">
                <a:solidFill>
                  <a:srgbClr val="1A237E"/>
                </a:solidFill>
              </a:rPr>
              <a:t>Multi-Domain</a:t>
            </a:r>
          </a:p>
        </p:txBody>
      </p:sp>
      <p:sp>
        <p:nvSpPr>
          <p:cNvPr id="41" name="TextBox 40"/>
          <p:cNvSpPr txBox="1"/>
          <p:nvPr/>
        </p:nvSpPr>
        <p:spPr>
          <a:xfrm>
            <a:off x="3611880" y="5257800"/>
            <a:ext cx="8046720" cy="438912"/>
          </a:xfrm>
          <a:prstGeom prst="rect">
            <a:avLst/>
          </a:prstGeom>
          <a:noFill/>
        </p:spPr>
        <p:txBody>
          <a:bodyPr wrap="square">
            <a:spAutoFit/>
          </a:bodyPr>
          <a:lstStyle/>
          <a:p>
            <a:pPr algn="l"/>
            <a:r>
              <a:rPr sz="1200" b="0" i="0">
                <a:solidFill>
                  <a:srgbClr val="424242"/>
                </a:solidFill>
              </a:rPr>
              <a:t>5 geometries: square, circle, annulus…</a:t>
            </a:r>
          </a:p>
        </p:txBody>
      </p:sp>
      <p:sp>
        <p:nvSpPr>
          <p:cNvPr id="42" name="Rectangle 41"/>
          <p:cNvSpPr/>
          <p:nvPr/>
        </p:nvSpPr>
        <p:spPr>
          <a:xfrm>
            <a:off x="274320" y="5989320"/>
            <a:ext cx="11612880" cy="566928"/>
          </a:xfrm>
          <a:prstGeom prst="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11480" y="6016752"/>
            <a:ext cx="11338560" cy="502920"/>
          </a:xfrm>
          <a:prstGeom prst="rect">
            <a:avLst/>
          </a:prstGeom>
          <a:noFill/>
        </p:spPr>
        <p:txBody>
          <a:bodyPr wrap="square">
            <a:spAutoFit/>
          </a:bodyPr>
          <a:lstStyle/>
          <a:p>
            <a:pPr algn="ctr"/>
            <a:r>
              <a:rPr sz="1200" b="1" i="0">
                <a:solidFill>
                  <a:srgbClr val="E65100"/>
                </a:solidFill>
              </a:rPr>
              <a:t>Core Thesis: PINN with NAS-optimized architecture can replace sequential FEM steps — solving in fewer solver calls without accuracy loss.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AFF"/>
        </a:solidFill>
        <a:effectLst/>
      </p:bgPr>
    </p:bg>
    <p:spTree>
      <p:nvGrpSpPr>
        <p:cNvPr id="1" name=""/>
        <p:cNvGrpSpPr/>
        <p:nvPr/>
      </p:nvGrpSpPr>
      <p:grpSpPr/>
      <p:sp>
        <p:nvSpPr>
          <p:cNvPr id="2" name="Rectangle 1"/>
          <p:cNvSpPr/>
          <p:nvPr/>
        </p:nvSpPr>
        <p:spPr>
          <a:xfrm>
            <a:off x="0" y="0"/>
            <a:ext cx="12188952" cy="105156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88952" cy="54864"/>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73152"/>
            <a:ext cx="9601200" cy="594360"/>
          </a:xfrm>
          <a:prstGeom prst="rect">
            <a:avLst/>
          </a:prstGeom>
          <a:noFill/>
        </p:spPr>
        <p:txBody>
          <a:bodyPr wrap="square">
            <a:spAutoFit/>
          </a:bodyPr>
          <a:lstStyle/>
          <a:p>
            <a:pPr algn="l"/>
            <a:r>
              <a:rPr sz="2800" b="1" i="0">
                <a:solidFill>
                  <a:srgbClr val="FFFFFF"/>
                </a:solidFill>
              </a:rPr>
              <a:t>Problem Statement</a:t>
            </a:r>
          </a:p>
        </p:txBody>
      </p:sp>
      <p:sp>
        <p:nvSpPr>
          <p:cNvPr id="5" name="TextBox 4"/>
          <p:cNvSpPr txBox="1"/>
          <p:nvPr/>
        </p:nvSpPr>
        <p:spPr>
          <a:xfrm>
            <a:off x="320040" y="658368"/>
            <a:ext cx="9144000" cy="347472"/>
          </a:xfrm>
          <a:prstGeom prst="rect">
            <a:avLst/>
          </a:prstGeom>
          <a:noFill/>
        </p:spPr>
        <p:txBody>
          <a:bodyPr wrap="square">
            <a:spAutoFit/>
          </a:bodyPr>
          <a:lstStyle/>
          <a:p>
            <a:pPr algn="l"/>
            <a:r>
              <a:rPr sz="1400" b="0" i="1">
                <a:solidFill>
                  <a:srgbClr val="BBDEFB"/>
                </a:solidFill>
              </a:rPr>
              <a:t>A356 Aluminum Water Quenching — Why PINNs?</a:t>
            </a:r>
          </a:p>
        </p:txBody>
      </p:sp>
      <p:sp>
        <p:nvSpPr>
          <p:cNvPr id="6" name="Rectangle 5"/>
          <p:cNvSpPr/>
          <p:nvPr/>
        </p:nvSpPr>
        <p:spPr>
          <a:xfrm>
            <a:off x="0" y="6629400"/>
            <a:ext cx="12188952" cy="22860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638544"/>
            <a:ext cx="11430000" cy="201168"/>
          </a:xfrm>
          <a:prstGeom prst="rect">
            <a:avLst/>
          </a:prstGeom>
          <a:noFill/>
        </p:spPr>
        <p:txBody>
          <a:bodyPr wrap="square">
            <a:spAutoFit/>
          </a:bodyPr>
          <a:lstStyle/>
          <a:p>
            <a:pPr algn="l"/>
            <a:r>
              <a:rPr sz="800" b="0" i="0">
                <a:solidFill>
                  <a:srgbClr val="90CAF9"/>
                </a:solidFill>
              </a:rPr>
              <a:t>NAS-PINNs Thesis  |  2026</a:t>
            </a:r>
          </a:p>
        </p:txBody>
      </p:sp>
      <p:sp>
        <p:nvSpPr>
          <p:cNvPr id="8" name="TextBox 7"/>
          <p:cNvSpPr txBox="1"/>
          <p:nvPr/>
        </p:nvSpPr>
        <p:spPr>
          <a:xfrm>
            <a:off x="365760" y="1234440"/>
            <a:ext cx="5669280" cy="320040"/>
          </a:xfrm>
          <a:prstGeom prst="rect">
            <a:avLst/>
          </a:prstGeom>
          <a:noFill/>
        </p:spPr>
        <p:txBody>
          <a:bodyPr wrap="square">
            <a:spAutoFit/>
          </a:bodyPr>
          <a:lstStyle/>
          <a:p>
            <a:pPr algn="l"/>
            <a:r>
              <a:rPr sz="1300" b="1" i="0">
                <a:solidFill>
                  <a:srgbClr val="1565C0"/>
                </a:solidFill>
              </a:rPr>
              <a:t>Physical Setup</a:t>
            </a:r>
          </a:p>
        </p:txBody>
      </p:sp>
      <p:sp>
        <p:nvSpPr>
          <p:cNvPr id="9" name="TextBox 8"/>
          <p:cNvSpPr txBox="1"/>
          <p:nvPr/>
        </p:nvSpPr>
        <p:spPr>
          <a:xfrm>
            <a:off x="365760" y="1581912"/>
            <a:ext cx="5669280" cy="4681728"/>
          </a:xfrm>
          <a:prstGeom prst="rect">
            <a:avLst/>
          </a:prstGeom>
          <a:noFill/>
        </p:spPr>
        <p:txBody>
          <a:bodyPr wrap="square">
            <a:spAutoFit/>
          </a:bodyPr>
          <a:lstStyle/>
          <a:p>
            <a:pPr>
              <a:spcBef>
                <a:spcPts val="400"/>
              </a:spcBef>
              <a:defRPr sz="1300">
                <a:solidFill>
                  <a:srgbClr val="424242"/>
                </a:solidFill>
              </a:defRPr>
            </a:pPr>
            <a:r>
              <a:t>▸  Part: A356 aluminum  (1.3 × 0.6 m), T₀ = 540°C</a:t>
            </a:r>
          </a:p>
          <a:p>
            <a:pPr>
              <a:spcBef>
                <a:spcPts val="400"/>
              </a:spcBef>
              <a:defRPr sz="1300">
                <a:solidFill>
                  <a:srgbClr val="424242"/>
                </a:solidFill>
              </a:defRPr>
            </a:pPr>
            <a:r>
              <a:t>▸  Process: immersed in water bath at T_w = 20°C</a:t>
            </a:r>
          </a:p>
          <a:p>
            <a:pPr>
              <a:spcBef>
                <a:spcPts val="400"/>
              </a:spcBef>
              <a:defRPr sz="1300">
                <a:solidFill>
                  <a:srgbClr val="424242"/>
                </a:solidFill>
              </a:defRPr>
            </a:pPr>
            <a:r>
              <a:t>▸  Physics: ρCp·∂T/∂t = K·∇²T  with Robin BC</a:t>
            </a:r>
          </a:p>
          <a:p>
            <a:pPr>
              <a:spcBef>
                <a:spcPts val="400"/>
              </a:spcBef>
              <a:defRPr sz="1300">
                <a:solidFill>
                  <a:srgbClr val="424242"/>
                </a:solidFill>
              </a:defRPr>
            </a:pPr>
            <a:r>
              <a:t>▸  HTC: nonlinear h(T) — nucleate/film boiling regimes</a:t>
            </a:r>
          </a:p>
          <a:p>
            <a:pPr>
              <a:spcBef>
                <a:spcPts val="400"/>
              </a:spcBef>
              <a:defRPr sz="1300">
                <a:solidFill>
                  <a:srgbClr val="424242"/>
                </a:solidFill>
              </a:defRPr>
            </a:pPr>
            <a:r>
              <a:t>▸  Goal: predict T(x,y,t) and distortion at 47 CMM points</a:t>
            </a:r>
          </a:p>
          <a:p>
            <a:pPr>
              <a:spcBef>
                <a:spcPts val="400"/>
              </a:spcBef>
              <a:defRPr sz="1300">
                <a:solidFill>
                  <a:srgbClr val="424242"/>
                </a:solidFill>
              </a:defRPr>
            </a:pPr>
          </a:p>
          <a:p>
            <a:pPr>
              <a:spcBef>
                <a:spcPts val="400"/>
              </a:spcBef>
              <a:defRPr sz="1300">
                <a:solidFill>
                  <a:srgbClr val="424242"/>
                </a:solidFill>
              </a:defRPr>
            </a:pPr>
            <a:r>
              <a:t>FEM Bottleneck:</a:t>
            </a:r>
          </a:p>
          <a:p>
            <a:pPr>
              <a:spcBef>
                <a:spcPts val="400"/>
              </a:spcBef>
              <a:defRPr sz="1300">
                <a:solidFill>
                  <a:srgbClr val="424242"/>
                </a:solidFill>
              </a:defRPr>
            </a:pPr>
            <a:r>
              <a:t>▸  Must solve 20 sequential time steps (t=1.5s each)</a:t>
            </a:r>
          </a:p>
          <a:p>
            <a:pPr>
              <a:spcBef>
                <a:spcPts val="400"/>
              </a:spcBef>
              <a:defRPr sz="1300">
                <a:solidFill>
                  <a:srgbClr val="424242"/>
                </a:solidFill>
              </a:defRPr>
            </a:pPr>
            <a:r>
              <a:t>▸  Each step recomputes full mesh → expensive</a:t>
            </a:r>
          </a:p>
          <a:p>
            <a:pPr>
              <a:spcBef>
                <a:spcPts val="400"/>
              </a:spcBef>
              <a:defRPr sz="1300">
                <a:solidFill>
                  <a:srgbClr val="424242"/>
                </a:solidFill>
              </a:defRPr>
            </a:pPr>
            <a:r>
              <a:t>▸  PINN opportunity: skip intermediate steps</a:t>
            </a:r>
          </a:p>
        </p:txBody>
      </p:sp>
      <p:sp>
        <p:nvSpPr>
          <p:cNvPr id="10" name="Rectangle 9"/>
          <p:cNvSpPr/>
          <p:nvPr/>
        </p:nvSpPr>
        <p:spPr>
          <a:xfrm>
            <a:off x="6309360" y="1234440"/>
            <a:ext cx="5577840" cy="5029200"/>
          </a:xfrm>
          <a:prstGeom prst="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1371600"/>
            <a:ext cx="5212080" cy="347472"/>
          </a:xfrm>
          <a:prstGeom prst="rect">
            <a:avLst/>
          </a:prstGeom>
          <a:noFill/>
        </p:spPr>
        <p:txBody>
          <a:bodyPr wrap="square">
            <a:spAutoFit/>
          </a:bodyPr>
          <a:lstStyle/>
          <a:p>
            <a:pPr algn="l"/>
            <a:r>
              <a:rPr sz="1400" b="1" i="0">
                <a:solidFill>
                  <a:srgbClr val="1B5E20"/>
                </a:solidFill>
              </a:rPr>
              <a:t>Key Numbers</a:t>
            </a:r>
          </a:p>
        </p:txBody>
      </p:sp>
      <p:sp>
        <p:nvSpPr>
          <p:cNvPr id="12" name="Rectangle 11"/>
          <p:cNvSpPr/>
          <p:nvPr/>
        </p:nvSpPr>
        <p:spPr>
          <a:xfrm>
            <a:off x="6492240" y="1783080"/>
            <a:ext cx="1737360" cy="512064"/>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10528" y="1837944"/>
            <a:ext cx="1700784" cy="438912"/>
          </a:xfrm>
          <a:prstGeom prst="rect">
            <a:avLst/>
          </a:prstGeom>
          <a:noFill/>
        </p:spPr>
        <p:txBody>
          <a:bodyPr wrap="square">
            <a:spAutoFit/>
          </a:bodyPr>
          <a:lstStyle/>
          <a:p>
            <a:pPr algn="ctr"/>
            <a:r>
              <a:rPr sz="1200" b="1" i="0">
                <a:solidFill>
                  <a:srgbClr val="FFFFFF"/>
                </a:solidFill>
              </a:rPr>
              <a:t>540°C → 20°C</a:t>
            </a:r>
          </a:p>
        </p:txBody>
      </p:sp>
      <p:sp>
        <p:nvSpPr>
          <p:cNvPr id="14" name="TextBox 13"/>
          <p:cNvSpPr txBox="1"/>
          <p:nvPr/>
        </p:nvSpPr>
        <p:spPr>
          <a:xfrm>
            <a:off x="8321040" y="1874520"/>
            <a:ext cx="3383280" cy="384048"/>
          </a:xfrm>
          <a:prstGeom prst="rect">
            <a:avLst/>
          </a:prstGeom>
          <a:noFill/>
        </p:spPr>
        <p:txBody>
          <a:bodyPr wrap="square">
            <a:spAutoFit/>
          </a:bodyPr>
          <a:lstStyle/>
          <a:p>
            <a:pPr algn="l"/>
            <a:r>
              <a:rPr sz="1200" b="0" i="0">
                <a:solidFill>
                  <a:srgbClr val="424242"/>
                </a:solidFill>
              </a:rPr>
              <a:t>Temperature range</a:t>
            </a:r>
          </a:p>
        </p:txBody>
      </p:sp>
      <p:sp>
        <p:nvSpPr>
          <p:cNvPr id="15" name="Rectangle 14"/>
          <p:cNvSpPr/>
          <p:nvPr/>
        </p:nvSpPr>
        <p:spPr>
          <a:xfrm>
            <a:off x="6492240" y="2468880"/>
            <a:ext cx="1737360" cy="512064"/>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10528" y="2523744"/>
            <a:ext cx="1700784" cy="438912"/>
          </a:xfrm>
          <a:prstGeom prst="rect">
            <a:avLst/>
          </a:prstGeom>
          <a:noFill/>
        </p:spPr>
        <p:txBody>
          <a:bodyPr wrap="square">
            <a:spAutoFit/>
          </a:bodyPr>
          <a:lstStyle/>
          <a:p>
            <a:pPr algn="ctr"/>
            <a:r>
              <a:rPr sz="1200" b="1" i="0">
                <a:solidFill>
                  <a:srgbClr val="FFFFFF"/>
                </a:solidFill>
              </a:rPr>
              <a:t>30 seconds</a:t>
            </a:r>
          </a:p>
        </p:txBody>
      </p:sp>
      <p:sp>
        <p:nvSpPr>
          <p:cNvPr id="17" name="TextBox 16"/>
          <p:cNvSpPr txBox="1"/>
          <p:nvPr/>
        </p:nvSpPr>
        <p:spPr>
          <a:xfrm>
            <a:off x="8321040" y="2560320"/>
            <a:ext cx="3383280" cy="384048"/>
          </a:xfrm>
          <a:prstGeom prst="rect">
            <a:avLst/>
          </a:prstGeom>
          <a:noFill/>
        </p:spPr>
        <p:txBody>
          <a:bodyPr wrap="square">
            <a:spAutoFit/>
          </a:bodyPr>
          <a:lstStyle/>
          <a:p>
            <a:pPr algn="l"/>
            <a:r>
              <a:rPr sz="1200" b="0" i="0">
                <a:solidFill>
                  <a:srgbClr val="424242"/>
                </a:solidFill>
              </a:rPr>
              <a:t>Total quenching time</a:t>
            </a:r>
          </a:p>
        </p:txBody>
      </p:sp>
      <p:sp>
        <p:nvSpPr>
          <p:cNvPr id="18" name="Rectangle 17"/>
          <p:cNvSpPr/>
          <p:nvPr/>
        </p:nvSpPr>
        <p:spPr>
          <a:xfrm>
            <a:off x="6492240" y="3154680"/>
            <a:ext cx="1737360" cy="512064"/>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10528" y="3209544"/>
            <a:ext cx="1700784" cy="438912"/>
          </a:xfrm>
          <a:prstGeom prst="rect">
            <a:avLst/>
          </a:prstGeom>
          <a:noFill/>
        </p:spPr>
        <p:txBody>
          <a:bodyPr wrap="square">
            <a:spAutoFit/>
          </a:bodyPr>
          <a:lstStyle/>
          <a:p>
            <a:pPr algn="ctr"/>
            <a:r>
              <a:rPr sz="1200" b="1" i="0">
                <a:solidFill>
                  <a:srgbClr val="FFFFFF"/>
                </a:solidFill>
              </a:rPr>
              <a:t>20 FEM steps</a:t>
            </a:r>
          </a:p>
        </p:txBody>
      </p:sp>
      <p:sp>
        <p:nvSpPr>
          <p:cNvPr id="20" name="TextBox 19"/>
          <p:cNvSpPr txBox="1"/>
          <p:nvPr/>
        </p:nvSpPr>
        <p:spPr>
          <a:xfrm>
            <a:off x="8321040" y="3246120"/>
            <a:ext cx="3383280" cy="384048"/>
          </a:xfrm>
          <a:prstGeom prst="rect">
            <a:avLst/>
          </a:prstGeom>
          <a:noFill/>
        </p:spPr>
        <p:txBody>
          <a:bodyPr wrap="square">
            <a:spAutoFit/>
          </a:bodyPr>
          <a:lstStyle/>
          <a:p>
            <a:pPr algn="l"/>
            <a:r>
              <a:rPr sz="1200" b="0" i="0">
                <a:solidFill>
                  <a:srgbClr val="424242"/>
                </a:solidFill>
              </a:rPr>
              <a:t>Sequential solves</a:t>
            </a:r>
          </a:p>
        </p:txBody>
      </p:sp>
      <p:sp>
        <p:nvSpPr>
          <p:cNvPr id="21" name="Rectangle 20"/>
          <p:cNvSpPr/>
          <p:nvPr/>
        </p:nvSpPr>
        <p:spPr>
          <a:xfrm>
            <a:off x="6492240" y="3840480"/>
            <a:ext cx="1737360" cy="512064"/>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10528" y="3895344"/>
            <a:ext cx="1700784" cy="438912"/>
          </a:xfrm>
          <a:prstGeom prst="rect">
            <a:avLst/>
          </a:prstGeom>
          <a:noFill/>
        </p:spPr>
        <p:txBody>
          <a:bodyPr wrap="square">
            <a:spAutoFit/>
          </a:bodyPr>
          <a:lstStyle/>
          <a:p>
            <a:pPr algn="ctr"/>
            <a:r>
              <a:rPr sz="1200" b="1" i="0">
                <a:solidFill>
                  <a:srgbClr val="FFFFFF"/>
                </a:solidFill>
              </a:rPr>
              <a:t>3 NAS methods</a:t>
            </a:r>
          </a:p>
        </p:txBody>
      </p:sp>
      <p:sp>
        <p:nvSpPr>
          <p:cNvPr id="23" name="TextBox 22"/>
          <p:cNvSpPr txBox="1"/>
          <p:nvPr/>
        </p:nvSpPr>
        <p:spPr>
          <a:xfrm>
            <a:off x="8321040" y="3931920"/>
            <a:ext cx="3383280" cy="384048"/>
          </a:xfrm>
          <a:prstGeom prst="rect">
            <a:avLst/>
          </a:prstGeom>
          <a:noFill/>
        </p:spPr>
        <p:txBody>
          <a:bodyPr wrap="square">
            <a:spAutoFit/>
          </a:bodyPr>
          <a:lstStyle/>
          <a:p>
            <a:pPr algn="l"/>
            <a:r>
              <a:rPr sz="1200" b="0" i="0">
                <a:solidFill>
                  <a:srgbClr val="424242"/>
                </a:solidFill>
              </a:rPr>
              <a:t>Bayesian · NSGA-II · NSGA-III</a:t>
            </a:r>
          </a:p>
        </p:txBody>
      </p:sp>
      <p:sp>
        <p:nvSpPr>
          <p:cNvPr id="24" name="Rectangle 23"/>
          <p:cNvSpPr/>
          <p:nvPr/>
        </p:nvSpPr>
        <p:spPr>
          <a:xfrm>
            <a:off x="6492240" y="4526280"/>
            <a:ext cx="1737360" cy="512064"/>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10528" y="4581144"/>
            <a:ext cx="1700784" cy="438912"/>
          </a:xfrm>
          <a:prstGeom prst="rect">
            <a:avLst/>
          </a:prstGeom>
          <a:noFill/>
        </p:spPr>
        <p:txBody>
          <a:bodyPr wrap="square">
            <a:spAutoFit/>
          </a:bodyPr>
          <a:lstStyle/>
          <a:p>
            <a:pPr algn="ctr"/>
            <a:r>
              <a:rPr sz="1200" b="1" i="0">
                <a:solidFill>
                  <a:srgbClr val="FFFFFF"/>
                </a:solidFill>
              </a:rPr>
              <a:t>7 Levels</a:t>
            </a:r>
          </a:p>
        </p:txBody>
      </p:sp>
      <p:sp>
        <p:nvSpPr>
          <p:cNvPr id="26" name="TextBox 25"/>
          <p:cNvSpPr txBox="1"/>
          <p:nvPr/>
        </p:nvSpPr>
        <p:spPr>
          <a:xfrm>
            <a:off x="8321040" y="4617720"/>
            <a:ext cx="3383280" cy="384048"/>
          </a:xfrm>
          <a:prstGeom prst="rect">
            <a:avLst/>
          </a:prstGeom>
          <a:noFill/>
        </p:spPr>
        <p:txBody>
          <a:bodyPr wrap="square">
            <a:spAutoFit/>
          </a:bodyPr>
          <a:lstStyle/>
          <a:p>
            <a:pPr algn="l"/>
            <a:r>
              <a:rPr sz="1200" b="0" i="0">
                <a:solidFill>
                  <a:srgbClr val="424242"/>
                </a:solidFill>
              </a:rPr>
              <a:t>Progressive framework</a:t>
            </a:r>
          </a:p>
        </p:txBody>
      </p:sp>
      <p:sp>
        <p:nvSpPr>
          <p:cNvPr id="27" name="Rectangle 26"/>
          <p:cNvSpPr/>
          <p:nvPr/>
        </p:nvSpPr>
        <p:spPr>
          <a:xfrm>
            <a:off x="6492240" y="5212080"/>
            <a:ext cx="1737360" cy="512064"/>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10528" y="5266944"/>
            <a:ext cx="1700784" cy="438912"/>
          </a:xfrm>
          <a:prstGeom prst="rect">
            <a:avLst/>
          </a:prstGeom>
          <a:noFill/>
        </p:spPr>
        <p:txBody>
          <a:bodyPr wrap="square">
            <a:spAutoFit/>
          </a:bodyPr>
          <a:lstStyle/>
          <a:p>
            <a:pPr algn="ctr"/>
            <a:r>
              <a:rPr sz="1200" b="1" i="0">
                <a:solidFill>
                  <a:srgbClr val="FFFFFF"/>
                </a:solidFill>
              </a:rPr>
              <a:t>5 Geometries</a:t>
            </a:r>
          </a:p>
        </p:txBody>
      </p:sp>
      <p:sp>
        <p:nvSpPr>
          <p:cNvPr id="29" name="TextBox 28"/>
          <p:cNvSpPr txBox="1"/>
          <p:nvPr/>
        </p:nvSpPr>
        <p:spPr>
          <a:xfrm>
            <a:off x="8321040" y="5303520"/>
            <a:ext cx="3383280" cy="384048"/>
          </a:xfrm>
          <a:prstGeom prst="rect">
            <a:avLst/>
          </a:prstGeom>
          <a:noFill/>
        </p:spPr>
        <p:txBody>
          <a:bodyPr wrap="square">
            <a:spAutoFit/>
          </a:bodyPr>
          <a:lstStyle/>
          <a:p>
            <a:pPr algn="l"/>
            <a:r>
              <a:rPr sz="1200" b="0" i="0">
                <a:solidFill>
                  <a:srgbClr val="424242"/>
                </a:solidFill>
              </a:rPr>
              <a:t>Level 7B multi-domain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AFF"/>
        </a:solidFill>
        <a:effectLst/>
      </p:bgPr>
    </p:bg>
    <p:spTree>
      <p:nvGrpSpPr>
        <p:cNvPr id="1" name=""/>
        <p:cNvGrpSpPr/>
        <p:nvPr/>
      </p:nvGrpSpPr>
      <p:grpSpPr/>
      <p:sp>
        <p:nvSpPr>
          <p:cNvPr id="2" name="Rectangle 1"/>
          <p:cNvSpPr/>
          <p:nvPr/>
        </p:nvSpPr>
        <p:spPr>
          <a:xfrm>
            <a:off x="0" y="0"/>
            <a:ext cx="12188952" cy="105156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88952" cy="54864"/>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73152"/>
            <a:ext cx="9601200" cy="594360"/>
          </a:xfrm>
          <a:prstGeom prst="rect">
            <a:avLst/>
          </a:prstGeom>
          <a:noFill/>
        </p:spPr>
        <p:txBody>
          <a:bodyPr wrap="square">
            <a:spAutoFit/>
          </a:bodyPr>
          <a:lstStyle/>
          <a:p>
            <a:pPr algn="l"/>
            <a:r>
              <a:rPr sz="2800" b="1" i="0">
                <a:solidFill>
                  <a:srgbClr val="FFFFFF"/>
                </a:solidFill>
              </a:rPr>
              <a:t>Level 1 — Single-Shot NAS-PINN</a:t>
            </a:r>
          </a:p>
        </p:txBody>
      </p:sp>
      <p:sp>
        <p:nvSpPr>
          <p:cNvPr id="5" name="TextBox 4"/>
          <p:cNvSpPr txBox="1"/>
          <p:nvPr/>
        </p:nvSpPr>
        <p:spPr>
          <a:xfrm>
            <a:off x="320040" y="658368"/>
            <a:ext cx="9144000" cy="347472"/>
          </a:xfrm>
          <a:prstGeom prst="rect">
            <a:avLst/>
          </a:prstGeom>
          <a:noFill/>
        </p:spPr>
        <p:txBody>
          <a:bodyPr wrap="square">
            <a:spAutoFit/>
          </a:bodyPr>
          <a:lstStyle/>
          <a:p>
            <a:pPr algn="l"/>
            <a:r>
              <a:rPr sz="1400" b="0" i="1">
                <a:solidFill>
                  <a:srgbClr val="BBDEFB"/>
                </a:solidFill>
              </a:rPr>
              <a:t>Architecture search for global T(t,x,y) predictor</a:t>
            </a:r>
          </a:p>
        </p:txBody>
      </p:sp>
      <p:sp>
        <p:nvSpPr>
          <p:cNvPr id="6" name="Rectangle 5"/>
          <p:cNvSpPr/>
          <p:nvPr/>
        </p:nvSpPr>
        <p:spPr>
          <a:xfrm>
            <a:off x="10607040" y="164592"/>
            <a:ext cx="1371600" cy="530352"/>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25328" y="182880"/>
            <a:ext cx="1335024" cy="512064"/>
          </a:xfrm>
          <a:prstGeom prst="rect">
            <a:avLst/>
          </a:prstGeom>
          <a:noFill/>
        </p:spPr>
        <p:txBody>
          <a:bodyPr wrap="square">
            <a:spAutoFit/>
          </a:bodyPr>
          <a:lstStyle/>
          <a:p>
            <a:pPr algn="ctr"/>
            <a:r>
              <a:rPr sz="1800" b="1" i="0">
                <a:solidFill>
                  <a:srgbClr val="FFFFFF"/>
                </a:solidFill>
              </a:rPr>
              <a:t>L1</a:t>
            </a:r>
          </a:p>
        </p:txBody>
      </p:sp>
      <p:sp>
        <p:nvSpPr>
          <p:cNvPr id="8" name="Rectangle 7"/>
          <p:cNvSpPr/>
          <p:nvPr/>
        </p:nvSpPr>
        <p:spPr>
          <a:xfrm>
            <a:off x="0" y="6629400"/>
            <a:ext cx="12188952" cy="22860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6638544"/>
            <a:ext cx="11430000" cy="201168"/>
          </a:xfrm>
          <a:prstGeom prst="rect">
            <a:avLst/>
          </a:prstGeom>
          <a:noFill/>
        </p:spPr>
        <p:txBody>
          <a:bodyPr wrap="square">
            <a:spAutoFit/>
          </a:bodyPr>
          <a:lstStyle/>
          <a:p>
            <a:pPr algn="l"/>
            <a:r>
              <a:rPr sz="800" b="0" i="0">
                <a:solidFill>
                  <a:srgbClr val="90CAF9"/>
                </a:solidFill>
              </a:rPr>
              <a:t>NAS-PINNs Thesis  |  2026</a:t>
            </a:r>
          </a:p>
        </p:txBody>
      </p:sp>
      <p:sp>
        <p:nvSpPr>
          <p:cNvPr id="10" name="TextBox 9"/>
          <p:cNvSpPr txBox="1"/>
          <p:nvPr/>
        </p:nvSpPr>
        <p:spPr>
          <a:xfrm>
            <a:off x="365760" y="1234440"/>
            <a:ext cx="5486400" cy="2011680"/>
          </a:xfrm>
          <a:prstGeom prst="rect">
            <a:avLst/>
          </a:prstGeom>
          <a:noFill/>
        </p:spPr>
        <p:txBody>
          <a:bodyPr wrap="square">
            <a:spAutoFit/>
          </a:bodyPr>
          <a:lstStyle/>
          <a:p>
            <a:pPr>
              <a:spcBef>
                <a:spcPts val="400"/>
              </a:spcBef>
              <a:defRPr sz="1300">
                <a:solidFill>
                  <a:srgbClr val="424242"/>
                </a:solidFill>
              </a:defRPr>
            </a:pPr>
            <a:r>
              <a:t>▸  NAS search space: layers ∈ {2..6}, neurons ∈ {32..256}, act ∈ {tanh, relu, swish}</a:t>
            </a:r>
          </a:p>
          <a:p>
            <a:pPr>
              <a:spcBef>
                <a:spcPts val="400"/>
              </a:spcBef>
              <a:defRPr sz="1300">
                <a:solidFill>
                  <a:srgbClr val="424242"/>
                </a:solidFill>
              </a:defRPr>
            </a:pPr>
            <a:r>
              <a:t>▸  Three optimizers: Bayesian (TPE) · NSGA-II · NSGA-III</a:t>
            </a:r>
          </a:p>
          <a:p>
            <a:pPr>
              <a:spcBef>
                <a:spcPts val="400"/>
              </a:spcBef>
              <a:defRPr sz="1300">
                <a:solidFill>
                  <a:srgbClr val="424242"/>
                </a:solidFill>
              </a:defRPr>
            </a:pPr>
            <a:r>
              <a:t>▸  Training: Adam 5000 ep, cosine LR: 1e-3 → 1e-5</a:t>
            </a:r>
          </a:p>
          <a:p>
            <a:pPr>
              <a:spcBef>
                <a:spcPts val="400"/>
              </a:spcBef>
              <a:defRPr sz="1300">
                <a:solidFill>
                  <a:srgbClr val="424242"/>
                </a:solidFill>
              </a:defRPr>
            </a:pPr>
            <a:r>
              <a:t>▸  Reference: analytical T(t) = 20 + 520·exp(−1.75×10⁻³·t)</a:t>
            </a:r>
          </a:p>
        </p:txBody>
      </p:sp>
      <p:sp>
        <p:nvSpPr>
          <p:cNvPr id="11" name="Rectangle 10"/>
          <p:cNvSpPr/>
          <p:nvPr/>
        </p:nvSpPr>
        <p:spPr>
          <a:xfrm>
            <a:off x="365760" y="3337560"/>
            <a:ext cx="1792224" cy="41148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0624" y="3410712"/>
            <a:ext cx="1719072" cy="347472"/>
          </a:xfrm>
          <a:prstGeom prst="rect">
            <a:avLst/>
          </a:prstGeom>
          <a:noFill/>
        </p:spPr>
        <p:txBody>
          <a:bodyPr wrap="square">
            <a:spAutoFit/>
          </a:bodyPr>
          <a:lstStyle/>
          <a:p>
            <a:pPr algn="ctr"/>
            <a:r>
              <a:rPr sz="1100" b="1" i="0">
                <a:solidFill>
                  <a:srgbClr val="FFFFFF"/>
                </a:solidFill>
              </a:rPr>
              <a:t>Optimizer</a:t>
            </a:r>
          </a:p>
        </p:txBody>
      </p:sp>
      <p:sp>
        <p:nvSpPr>
          <p:cNvPr id="13" name="Rectangle 12"/>
          <p:cNvSpPr/>
          <p:nvPr/>
        </p:nvSpPr>
        <p:spPr>
          <a:xfrm>
            <a:off x="2194560" y="3337560"/>
            <a:ext cx="1700784" cy="41148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249424" y="3410712"/>
            <a:ext cx="1627632" cy="347472"/>
          </a:xfrm>
          <a:prstGeom prst="rect">
            <a:avLst/>
          </a:prstGeom>
          <a:noFill/>
        </p:spPr>
        <p:txBody>
          <a:bodyPr wrap="square">
            <a:spAutoFit/>
          </a:bodyPr>
          <a:lstStyle/>
          <a:p>
            <a:pPr algn="ctr"/>
            <a:r>
              <a:rPr sz="1100" b="1" i="0">
                <a:solidFill>
                  <a:srgbClr val="FFFFFF"/>
                </a:solidFill>
              </a:rPr>
              <a:t>Architecture</a:t>
            </a:r>
          </a:p>
        </p:txBody>
      </p:sp>
      <p:sp>
        <p:nvSpPr>
          <p:cNvPr id="15" name="Rectangle 14"/>
          <p:cNvSpPr/>
          <p:nvPr/>
        </p:nvSpPr>
        <p:spPr>
          <a:xfrm>
            <a:off x="3931920" y="3337560"/>
            <a:ext cx="1152144" cy="41148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986784" y="3410712"/>
            <a:ext cx="1078992" cy="347472"/>
          </a:xfrm>
          <a:prstGeom prst="rect">
            <a:avLst/>
          </a:prstGeom>
          <a:noFill/>
        </p:spPr>
        <p:txBody>
          <a:bodyPr wrap="square">
            <a:spAutoFit/>
          </a:bodyPr>
          <a:lstStyle/>
          <a:p>
            <a:pPr algn="ctr"/>
            <a:r>
              <a:rPr sz="1100" b="1" i="0">
                <a:solidFill>
                  <a:srgbClr val="FFFFFF"/>
                </a:solidFill>
              </a:rPr>
              <a:t>L2_rel↓</a:t>
            </a:r>
          </a:p>
        </p:txBody>
      </p:sp>
      <p:sp>
        <p:nvSpPr>
          <p:cNvPr id="17" name="Rectangle 16"/>
          <p:cNvSpPr/>
          <p:nvPr/>
        </p:nvSpPr>
        <p:spPr>
          <a:xfrm>
            <a:off x="5120640" y="3337560"/>
            <a:ext cx="1335024" cy="41148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175504" y="3410712"/>
            <a:ext cx="1261872" cy="347472"/>
          </a:xfrm>
          <a:prstGeom prst="rect">
            <a:avLst/>
          </a:prstGeom>
          <a:noFill/>
        </p:spPr>
        <p:txBody>
          <a:bodyPr wrap="square">
            <a:spAutoFit/>
          </a:bodyPr>
          <a:lstStyle/>
          <a:p>
            <a:pPr algn="ctr"/>
            <a:r>
              <a:rPr sz="1100" b="1" i="0">
                <a:solidFill>
                  <a:srgbClr val="FFFFFF"/>
                </a:solidFill>
              </a:rPr>
              <a:t>MAE (°C)↓</a:t>
            </a:r>
          </a:p>
        </p:txBody>
      </p:sp>
      <p:sp>
        <p:nvSpPr>
          <p:cNvPr id="19" name="Rectangle 18"/>
          <p:cNvSpPr/>
          <p:nvPr/>
        </p:nvSpPr>
        <p:spPr>
          <a:xfrm>
            <a:off x="6492240" y="3337560"/>
            <a:ext cx="1060704" cy="41148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47104" y="3410712"/>
            <a:ext cx="987552" cy="347472"/>
          </a:xfrm>
          <a:prstGeom prst="rect">
            <a:avLst/>
          </a:prstGeom>
          <a:noFill/>
        </p:spPr>
        <p:txBody>
          <a:bodyPr wrap="square">
            <a:spAutoFit/>
          </a:bodyPr>
          <a:lstStyle/>
          <a:p>
            <a:pPr algn="ctr"/>
            <a:r>
              <a:rPr sz="1100" b="1" i="0">
                <a:solidFill>
                  <a:srgbClr val="FFFFFF"/>
                </a:solidFill>
              </a:rPr>
              <a:t>NAS time</a:t>
            </a:r>
          </a:p>
        </p:txBody>
      </p:sp>
      <p:sp>
        <p:nvSpPr>
          <p:cNvPr id="21" name="Rectangle 20"/>
          <p:cNvSpPr/>
          <p:nvPr/>
        </p:nvSpPr>
        <p:spPr>
          <a:xfrm>
            <a:off x="365760" y="3776472"/>
            <a:ext cx="1792224" cy="411480"/>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20624" y="3849624"/>
            <a:ext cx="1719072" cy="347472"/>
          </a:xfrm>
          <a:prstGeom prst="rect">
            <a:avLst/>
          </a:prstGeom>
          <a:noFill/>
        </p:spPr>
        <p:txBody>
          <a:bodyPr wrap="square">
            <a:spAutoFit/>
          </a:bodyPr>
          <a:lstStyle/>
          <a:p>
            <a:pPr algn="ctr"/>
            <a:r>
              <a:rPr sz="1200" b="0" i="0">
                <a:solidFill>
                  <a:srgbClr val="424242"/>
                </a:solidFill>
              </a:rPr>
              <a:t>Bayesian ★</a:t>
            </a:r>
          </a:p>
        </p:txBody>
      </p:sp>
      <p:sp>
        <p:nvSpPr>
          <p:cNvPr id="23" name="Rectangle 22"/>
          <p:cNvSpPr/>
          <p:nvPr/>
        </p:nvSpPr>
        <p:spPr>
          <a:xfrm>
            <a:off x="2194560" y="3776472"/>
            <a:ext cx="1700784" cy="411480"/>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49424" y="3849624"/>
            <a:ext cx="1627632" cy="347472"/>
          </a:xfrm>
          <a:prstGeom prst="rect">
            <a:avLst/>
          </a:prstGeom>
          <a:noFill/>
        </p:spPr>
        <p:txBody>
          <a:bodyPr wrap="square">
            <a:spAutoFit/>
          </a:bodyPr>
          <a:lstStyle/>
          <a:p>
            <a:pPr algn="ctr"/>
            <a:r>
              <a:rPr sz="1200" b="0" i="0">
                <a:solidFill>
                  <a:srgbClr val="424242"/>
                </a:solidFill>
              </a:rPr>
              <a:t>5×151 relu</a:t>
            </a:r>
          </a:p>
        </p:txBody>
      </p:sp>
      <p:sp>
        <p:nvSpPr>
          <p:cNvPr id="25" name="Rectangle 24"/>
          <p:cNvSpPr/>
          <p:nvPr/>
        </p:nvSpPr>
        <p:spPr>
          <a:xfrm>
            <a:off x="3931920" y="3776472"/>
            <a:ext cx="1152144" cy="411480"/>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986784" y="3849624"/>
            <a:ext cx="1078992" cy="347472"/>
          </a:xfrm>
          <a:prstGeom prst="rect">
            <a:avLst/>
          </a:prstGeom>
          <a:noFill/>
        </p:spPr>
        <p:txBody>
          <a:bodyPr wrap="square">
            <a:spAutoFit/>
          </a:bodyPr>
          <a:lstStyle/>
          <a:p>
            <a:pPr algn="ctr"/>
            <a:r>
              <a:rPr sz="1200" b="0" i="0">
                <a:solidFill>
                  <a:srgbClr val="424242"/>
                </a:solidFill>
              </a:rPr>
              <a:t>0.076</a:t>
            </a:r>
          </a:p>
        </p:txBody>
      </p:sp>
      <p:sp>
        <p:nvSpPr>
          <p:cNvPr id="27" name="Rectangle 26"/>
          <p:cNvSpPr/>
          <p:nvPr/>
        </p:nvSpPr>
        <p:spPr>
          <a:xfrm>
            <a:off x="5120640" y="3776472"/>
            <a:ext cx="1335024" cy="411480"/>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175504" y="3849624"/>
            <a:ext cx="1261872" cy="347472"/>
          </a:xfrm>
          <a:prstGeom prst="rect">
            <a:avLst/>
          </a:prstGeom>
          <a:noFill/>
        </p:spPr>
        <p:txBody>
          <a:bodyPr wrap="square">
            <a:spAutoFit/>
          </a:bodyPr>
          <a:lstStyle/>
          <a:p>
            <a:pPr algn="ctr"/>
            <a:r>
              <a:rPr sz="1200" b="0" i="0">
                <a:solidFill>
                  <a:srgbClr val="424242"/>
                </a:solidFill>
              </a:rPr>
              <a:t>39.1°C</a:t>
            </a:r>
          </a:p>
        </p:txBody>
      </p:sp>
      <p:sp>
        <p:nvSpPr>
          <p:cNvPr id="29" name="Rectangle 28"/>
          <p:cNvSpPr/>
          <p:nvPr/>
        </p:nvSpPr>
        <p:spPr>
          <a:xfrm>
            <a:off x="6492240" y="3776472"/>
            <a:ext cx="1060704" cy="411480"/>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47104" y="3849624"/>
            <a:ext cx="987552" cy="347472"/>
          </a:xfrm>
          <a:prstGeom prst="rect">
            <a:avLst/>
          </a:prstGeom>
          <a:noFill/>
        </p:spPr>
        <p:txBody>
          <a:bodyPr wrap="square">
            <a:spAutoFit/>
          </a:bodyPr>
          <a:lstStyle/>
          <a:p>
            <a:pPr algn="ctr"/>
            <a:r>
              <a:rPr sz="1200" b="0" i="0">
                <a:solidFill>
                  <a:srgbClr val="424242"/>
                </a:solidFill>
              </a:rPr>
              <a:t>~180s</a:t>
            </a:r>
          </a:p>
        </p:txBody>
      </p:sp>
      <p:sp>
        <p:nvSpPr>
          <p:cNvPr id="31" name="Rectangle 30"/>
          <p:cNvSpPr/>
          <p:nvPr/>
        </p:nvSpPr>
        <p:spPr>
          <a:xfrm>
            <a:off x="365760" y="4215384"/>
            <a:ext cx="1792224" cy="411480"/>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20624" y="4288536"/>
            <a:ext cx="1719072" cy="347472"/>
          </a:xfrm>
          <a:prstGeom prst="rect">
            <a:avLst/>
          </a:prstGeom>
          <a:noFill/>
        </p:spPr>
        <p:txBody>
          <a:bodyPr wrap="square">
            <a:spAutoFit/>
          </a:bodyPr>
          <a:lstStyle/>
          <a:p>
            <a:pPr algn="ctr"/>
            <a:r>
              <a:rPr sz="1200" b="0" i="0">
                <a:solidFill>
                  <a:srgbClr val="424242"/>
                </a:solidFill>
              </a:rPr>
              <a:t>NSGA-II</a:t>
            </a:r>
          </a:p>
        </p:txBody>
      </p:sp>
      <p:sp>
        <p:nvSpPr>
          <p:cNvPr id="33" name="Rectangle 32"/>
          <p:cNvSpPr/>
          <p:nvPr/>
        </p:nvSpPr>
        <p:spPr>
          <a:xfrm>
            <a:off x="2194560" y="4215384"/>
            <a:ext cx="1700784" cy="411480"/>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249424" y="4288536"/>
            <a:ext cx="1627632" cy="347472"/>
          </a:xfrm>
          <a:prstGeom prst="rect">
            <a:avLst/>
          </a:prstGeom>
          <a:noFill/>
        </p:spPr>
        <p:txBody>
          <a:bodyPr wrap="square">
            <a:spAutoFit/>
          </a:bodyPr>
          <a:lstStyle/>
          <a:p>
            <a:pPr algn="ctr"/>
            <a:r>
              <a:rPr sz="1200" b="0" i="0">
                <a:solidFill>
                  <a:srgbClr val="424242"/>
                </a:solidFill>
              </a:rPr>
              <a:t>3×153 tanh</a:t>
            </a:r>
          </a:p>
        </p:txBody>
      </p:sp>
      <p:sp>
        <p:nvSpPr>
          <p:cNvPr id="35" name="Rectangle 34"/>
          <p:cNvSpPr/>
          <p:nvPr/>
        </p:nvSpPr>
        <p:spPr>
          <a:xfrm>
            <a:off x="3931920" y="4215384"/>
            <a:ext cx="1152144" cy="411480"/>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986784" y="4288536"/>
            <a:ext cx="1078992" cy="347472"/>
          </a:xfrm>
          <a:prstGeom prst="rect">
            <a:avLst/>
          </a:prstGeom>
          <a:noFill/>
        </p:spPr>
        <p:txBody>
          <a:bodyPr wrap="square">
            <a:spAutoFit/>
          </a:bodyPr>
          <a:lstStyle/>
          <a:p>
            <a:pPr algn="ctr"/>
            <a:r>
              <a:rPr sz="1200" b="0" i="0">
                <a:solidFill>
                  <a:srgbClr val="424242"/>
                </a:solidFill>
              </a:rPr>
              <a:t>0.252</a:t>
            </a:r>
          </a:p>
        </p:txBody>
      </p:sp>
      <p:sp>
        <p:nvSpPr>
          <p:cNvPr id="37" name="Rectangle 36"/>
          <p:cNvSpPr/>
          <p:nvPr/>
        </p:nvSpPr>
        <p:spPr>
          <a:xfrm>
            <a:off x="5120640" y="4215384"/>
            <a:ext cx="1335024" cy="411480"/>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175504" y="4288536"/>
            <a:ext cx="1261872" cy="347472"/>
          </a:xfrm>
          <a:prstGeom prst="rect">
            <a:avLst/>
          </a:prstGeom>
          <a:noFill/>
        </p:spPr>
        <p:txBody>
          <a:bodyPr wrap="square">
            <a:spAutoFit/>
          </a:bodyPr>
          <a:lstStyle/>
          <a:p>
            <a:pPr algn="ctr"/>
            <a:r>
              <a:rPr sz="1200" b="0" i="0">
                <a:solidFill>
                  <a:srgbClr val="424242"/>
                </a:solidFill>
              </a:rPr>
              <a:t>132.6°C</a:t>
            </a:r>
          </a:p>
        </p:txBody>
      </p:sp>
      <p:sp>
        <p:nvSpPr>
          <p:cNvPr id="39" name="Rectangle 38"/>
          <p:cNvSpPr/>
          <p:nvPr/>
        </p:nvSpPr>
        <p:spPr>
          <a:xfrm>
            <a:off x="6492240" y="4215384"/>
            <a:ext cx="1060704" cy="411480"/>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47104" y="4288536"/>
            <a:ext cx="987552" cy="347472"/>
          </a:xfrm>
          <a:prstGeom prst="rect">
            <a:avLst/>
          </a:prstGeom>
          <a:noFill/>
        </p:spPr>
        <p:txBody>
          <a:bodyPr wrap="square">
            <a:spAutoFit/>
          </a:bodyPr>
          <a:lstStyle/>
          <a:p>
            <a:pPr algn="ctr"/>
            <a:r>
              <a:rPr sz="1200" b="0" i="0">
                <a:solidFill>
                  <a:srgbClr val="424242"/>
                </a:solidFill>
              </a:rPr>
              <a:t>~120s</a:t>
            </a:r>
          </a:p>
        </p:txBody>
      </p:sp>
      <p:sp>
        <p:nvSpPr>
          <p:cNvPr id="41" name="Rectangle 40"/>
          <p:cNvSpPr/>
          <p:nvPr/>
        </p:nvSpPr>
        <p:spPr>
          <a:xfrm>
            <a:off x="365760" y="4654296"/>
            <a:ext cx="1792224" cy="411480"/>
          </a:xfrm>
          <a:prstGeom prst="rect">
            <a:avLst/>
          </a:prstGeom>
          <a:solidFill>
            <a:srgbClr val="F1F8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20624" y="4727448"/>
            <a:ext cx="1719072" cy="347472"/>
          </a:xfrm>
          <a:prstGeom prst="rect">
            <a:avLst/>
          </a:prstGeom>
          <a:noFill/>
        </p:spPr>
        <p:txBody>
          <a:bodyPr wrap="square">
            <a:spAutoFit/>
          </a:bodyPr>
          <a:lstStyle/>
          <a:p>
            <a:pPr algn="ctr"/>
            <a:r>
              <a:rPr sz="1200" b="0" i="0">
                <a:solidFill>
                  <a:srgbClr val="424242"/>
                </a:solidFill>
              </a:rPr>
              <a:t>NSGA-III</a:t>
            </a:r>
          </a:p>
        </p:txBody>
      </p:sp>
      <p:sp>
        <p:nvSpPr>
          <p:cNvPr id="43" name="Rectangle 42"/>
          <p:cNvSpPr/>
          <p:nvPr/>
        </p:nvSpPr>
        <p:spPr>
          <a:xfrm>
            <a:off x="2194560" y="4654296"/>
            <a:ext cx="1700784" cy="411480"/>
          </a:xfrm>
          <a:prstGeom prst="rect">
            <a:avLst/>
          </a:prstGeom>
          <a:solidFill>
            <a:srgbClr val="F1F8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249424" y="4727448"/>
            <a:ext cx="1627632" cy="347472"/>
          </a:xfrm>
          <a:prstGeom prst="rect">
            <a:avLst/>
          </a:prstGeom>
          <a:noFill/>
        </p:spPr>
        <p:txBody>
          <a:bodyPr wrap="square">
            <a:spAutoFit/>
          </a:bodyPr>
          <a:lstStyle/>
          <a:p>
            <a:pPr algn="ctr"/>
            <a:r>
              <a:rPr sz="1200" b="0" i="0">
                <a:solidFill>
                  <a:srgbClr val="424242"/>
                </a:solidFill>
              </a:rPr>
              <a:t>3×75  tanh</a:t>
            </a:r>
          </a:p>
        </p:txBody>
      </p:sp>
      <p:sp>
        <p:nvSpPr>
          <p:cNvPr id="45" name="Rectangle 44"/>
          <p:cNvSpPr/>
          <p:nvPr/>
        </p:nvSpPr>
        <p:spPr>
          <a:xfrm>
            <a:off x="3931920" y="4654296"/>
            <a:ext cx="1152144" cy="411480"/>
          </a:xfrm>
          <a:prstGeom prst="rect">
            <a:avLst/>
          </a:prstGeom>
          <a:solidFill>
            <a:srgbClr val="F1F8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986784" y="4727448"/>
            <a:ext cx="1078992" cy="347472"/>
          </a:xfrm>
          <a:prstGeom prst="rect">
            <a:avLst/>
          </a:prstGeom>
          <a:noFill/>
        </p:spPr>
        <p:txBody>
          <a:bodyPr wrap="square">
            <a:spAutoFit/>
          </a:bodyPr>
          <a:lstStyle/>
          <a:p>
            <a:pPr algn="ctr"/>
            <a:r>
              <a:rPr sz="1200" b="0" i="0">
                <a:solidFill>
                  <a:srgbClr val="424242"/>
                </a:solidFill>
              </a:rPr>
              <a:t>0.513</a:t>
            </a:r>
          </a:p>
        </p:txBody>
      </p:sp>
      <p:sp>
        <p:nvSpPr>
          <p:cNvPr id="47" name="Rectangle 46"/>
          <p:cNvSpPr/>
          <p:nvPr/>
        </p:nvSpPr>
        <p:spPr>
          <a:xfrm>
            <a:off x="5120640" y="4654296"/>
            <a:ext cx="1335024" cy="411480"/>
          </a:xfrm>
          <a:prstGeom prst="rect">
            <a:avLst/>
          </a:prstGeom>
          <a:solidFill>
            <a:srgbClr val="F1F8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175504" y="4727448"/>
            <a:ext cx="1261872" cy="347472"/>
          </a:xfrm>
          <a:prstGeom prst="rect">
            <a:avLst/>
          </a:prstGeom>
          <a:noFill/>
        </p:spPr>
        <p:txBody>
          <a:bodyPr wrap="square">
            <a:spAutoFit/>
          </a:bodyPr>
          <a:lstStyle/>
          <a:p>
            <a:pPr algn="ctr"/>
            <a:r>
              <a:rPr sz="1200" b="0" i="0">
                <a:solidFill>
                  <a:srgbClr val="424242"/>
                </a:solidFill>
              </a:rPr>
              <a:t>270.3°C</a:t>
            </a:r>
          </a:p>
        </p:txBody>
      </p:sp>
      <p:sp>
        <p:nvSpPr>
          <p:cNvPr id="49" name="Rectangle 48"/>
          <p:cNvSpPr/>
          <p:nvPr/>
        </p:nvSpPr>
        <p:spPr>
          <a:xfrm>
            <a:off x="6492240" y="4654296"/>
            <a:ext cx="1060704" cy="411480"/>
          </a:xfrm>
          <a:prstGeom prst="rect">
            <a:avLst/>
          </a:prstGeom>
          <a:solidFill>
            <a:srgbClr val="F1F8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547104" y="4727448"/>
            <a:ext cx="987552" cy="347472"/>
          </a:xfrm>
          <a:prstGeom prst="rect">
            <a:avLst/>
          </a:prstGeom>
          <a:noFill/>
        </p:spPr>
        <p:txBody>
          <a:bodyPr wrap="square">
            <a:spAutoFit/>
          </a:bodyPr>
          <a:lstStyle/>
          <a:p>
            <a:pPr algn="ctr"/>
            <a:r>
              <a:rPr sz="1200" b="0" i="0">
                <a:solidFill>
                  <a:srgbClr val="424242"/>
                </a:solidFill>
              </a:rPr>
              <a:t>~110s</a:t>
            </a:r>
          </a:p>
        </p:txBody>
      </p:sp>
      <p:sp>
        <p:nvSpPr>
          <p:cNvPr id="51" name="Rectangle 50"/>
          <p:cNvSpPr/>
          <p:nvPr/>
        </p:nvSpPr>
        <p:spPr>
          <a:xfrm>
            <a:off x="365760" y="5093208"/>
            <a:ext cx="1792224" cy="411480"/>
          </a:xfrm>
          <a:prstGeom prst="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20624" y="5166360"/>
            <a:ext cx="1719072" cy="347472"/>
          </a:xfrm>
          <a:prstGeom prst="rect">
            <a:avLst/>
          </a:prstGeom>
          <a:noFill/>
        </p:spPr>
        <p:txBody>
          <a:bodyPr wrap="square">
            <a:spAutoFit/>
          </a:bodyPr>
          <a:lstStyle/>
          <a:p>
            <a:pPr algn="ctr"/>
            <a:r>
              <a:rPr sz="1200" b="1" i="0">
                <a:solidFill>
                  <a:srgbClr val="1B5E20"/>
                </a:solidFill>
              </a:rPr>
              <a:t>Target</a:t>
            </a:r>
          </a:p>
        </p:txBody>
      </p:sp>
      <p:sp>
        <p:nvSpPr>
          <p:cNvPr id="53" name="Rectangle 52"/>
          <p:cNvSpPr/>
          <p:nvPr/>
        </p:nvSpPr>
        <p:spPr>
          <a:xfrm>
            <a:off x="2194560" y="5093208"/>
            <a:ext cx="1700784" cy="411480"/>
          </a:xfrm>
          <a:prstGeom prst="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249424" y="5166360"/>
            <a:ext cx="1627632" cy="347472"/>
          </a:xfrm>
          <a:prstGeom prst="rect">
            <a:avLst/>
          </a:prstGeom>
          <a:noFill/>
        </p:spPr>
        <p:txBody>
          <a:bodyPr wrap="square">
            <a:spAutoFit/>
          </a:bodyPr>
          <a:lstStyle/>
          <a:p>
            <a:pPr algn="ctr"/>
            <a:r>
              <a:rPr sz="1200" b="1" i="0">
                <a:solidFill>
                  <a:srgbClr val="1B5E20"/>
                </a:solidFill>
              </a:rPr>
              <a:t>—</a:t>
            </a:r>
          </a:p>
        </p:txBody>
      </p:sp>
      <p:sp>
        <p:nvSpPr>
          <p:cNvPr id="55" name="Rectangle 54"/>
          <p:cNvSpPr/>
          <p:nvPr/>
        </p:nvSpPr>
        <p:spPr>
          <a:xfrm>
            <a:off x="3931920" y="5093208"/>
            <a:ext cx="1152144" cy="411480"/>
          </a:xfrm>
          <a:prstGeom prst="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986784" y="5166360"/>
            <a:ext cx="1078992" cy="347472"/>
          </a:xfrm>
          <a:prstGeom prst="rect">
            <a:avLst/>
          </a:prstGeom>
          <a:noFill/>
        </p:spPr>
        <p:txBody>
          <a:bodyPr wrap="square">
            <a:spAutoFit/>
          </a:bodyPr>
          <a:lstStyle/>
          <a:p>
            <a:pPr algn="ctr"/>
            <a:r>
              <a:rPr sz="1200" b="1" i="0">
                <a:solidFill>
                  <a:srgbClr val="1B5E20"/>
                </a:solidFill>
              </a:rPr>
              <a:t>&lt; 0.100</a:t>
            </a:r>
          </a:p>
        </p:txBody>
      </p:sp>
      <p:sp>
        <p:nvSpPr>
          <p:cNvPr id="57" name="Rectangle 56"/>
          <p:cNvSpPr/>
          <p:nvPr/>
        </p:nvSpPr>
        <p:spPr>
          <a:xfrm>
            <a:off x="5120640" y="5093208"/>
            <a:ext cx="1335024" cy="411480"/>
          </a:xfrm>
          <a:prstGeom prst="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175504" y="5166360"/>
            <a:ext cx="1261872" cy="347472"/>
          </a:xfrm>
          <a:prstGeom prst="rect">
            <a:avLst/>
          </a:prstGeom>
          <a:noFill/>
        </p:spPr>
        <p:txBody>
          <a:bodyPr wrap="square">
            <a:spAutoFit/>
          </a:bodyPr>
          <a:lstStyle/>
          <a:p>
            <a:pPr algn="ctr"/>
            <a:r>
              <a:rPr sz="1200" b="1" i="0">
                <a:solidFill>
                  <a:srgbClr val="1B5E20"/>
                </a:solidFill>
              </a:rPr>
              <a:t>&lt; 50°C</a:t>
            </a:r>
          </a:p>
        </p:txBody>
      </p:sp>
      <p:sp>
        <p:nvSpPr>
          <p:cNvPr id="59" name="Rectangle 58"/>
          <p:cNvSpPr/>
          <p:nvPr/>
        </p:nvSpPr>
        <p:spPr>
          <a:xfrm>
            <a:off x="6492240" y="5093208"/>
            <a:ext cx="1060704" cy="411480"/>
          </a:xfrm>
          <a:prstGeom prst="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547104" y="5166360"/>
            <a:ext cx="987552" cy="347472"/>
          </a:xfrm>
          <a:prstGeom prst="rect">
            <a:avLst/>
          </a:prstGeom>
          <a:noFill/>
        </p:spPr>
        <p:txBody>
          <a:bodyPr wrap="square">
            <a:spAutoFit/>
          </a:bodyPr>
          <a:lstStyle/>
          <a:p>
            <a:pPr algn="ctr"/>
            <a:r>
              <a:rPr sz="1200" b="1" i="0">
                <a:solidFill>
                  <a:srgbClr val="1B5E20"/>
                </a:solidFill>
              </a:rPr>
              <a:t>—</a:t>
            </a:r>
          </a:p>
        </p:txBody>
      </p:sp>
      <p:sp>
        <p:nvSpPr>
          <p:cNvPr id="61" name="Rectangle 60"/>
          <p:cNvSpPr/>
          <p:nvPr/>
        </p:nvSpPr>
        <p:spPr>
          <a:xfrm>
            <a:off x="6035040" y="1234440"/>
            <a:ext cx="5943600" cy="3200400"/>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126480" y="2707640"/>
            <a:ext cx="5760720" cy="365760"/>
          </a:xfrm>
          <a:prstGeom prst="rect">
            <a:avLst/>
          </a:prstGeom>
          <a:noFill/>
        </p:spPr>
        <p:txBody>
          <a:bodyPr wrap="square">
            <a:spAutoFit/>
          </a:bodyPr>
          <a:lstStyle/>
          <a:p>
            <a:pPr algn="ctr"/>
            <a:r>
              <a:rPr sz="900" b="0" i="0">
                <a:solidFill>
                  <a:srgbClr val="424242"/>
                </a:solidFill>
              </a:rPr>
              <a:t>[Image: fem_vs_pinn_steps.png]</a:t>
            </a:r>
          </a:p>
        </p:txBody>
      </p:sp>
      <p:sp>
        <p:nvSpPr>
          <p:cNvPr id="63" name="TextBox 62"/>
          <p:cNvSpPr txBox="1"/>
          <p:nvPr/>
        </p:nvSpPr>
        <p:spPr>
          <a:xfrm>
            <a:off x="365760" y="6217920"/>
            <a:ext cx="11430000" cy="347472"/>
          </a:xfrm>
          <a:prstGeom prst="rect">
            <a:avLst/>
          </a:prstGeom>
          <a:noFill/>
        </p:spPr>
        <p:txBody>
          <a:bodyPr wrap="square">
            <a:spAutoFit/>
          </a:bodyPr>
          <a:lstStyle/>
          <a:p>
            <a:pPr algn="ctr"/>
            <a:r>
              <a:rPr sz="1200" b="1" i="0">
                <a:solidFill>
                  <a:srgbClr val="E65100"/>
                </a:solidFill>
              </a:rPr>
              <a:t>★ Only Bayesian meets the L2 &lt; 0.10 target at Level 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AFF"/>
        </a:solidFill>
        <a:effectLst/>
      </p:bgPr>
    </p:bg>
    <p:spTree>
      <p:nvGrpSpPr>
        <p:cNvPr id="1" name=""/>
        <p:cNvGrpSpPr/>
        <p:nvPr/>
      </p:nvGrpSpPr>
      <p:grpSpPr/>
      <p:sp>
        <p:nvSpPr>
          <p:cNvPr id="2" name="Rectangle 1"/>
          <p:cNvSpPr/>
          <p:nvPr/>
        </p:nvSpPr>
        <p:spPr>
          <a:xfrm>
            <a:off x="0" y="0"/>
            <a:ext cx="12188952" cy="105156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88952" cy="54864"/>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73152"/>
            <a:ext cx="9601200" cy="594360"/>
          </a:xfrm>
          <a:prstGeom prst="rect">
            <a:avLst/>
          </a:prstGeom>
          <a:noFill/>
        </p:spPr>
        <p:txBody>
          <a:bodyPr wrap="square">
            <a:spAutoFit/>
          </a:bodyPr>
          <a:lstStyle/>
          <a:p>
            <a:pPr algn="l"/>
            <a:r>
              <a:rPr sz="2800" b="1" i="0">
                <a:solidFill>
                  <a:srgbClr val="FFFFFF"/>
                </a:solidFill>
              </a:rPr>
              <a:t>Level 2 — Temporal Skip Operator</a:t>
            </a:r>
          </a:p>
        </p:txBody>
      </p:sp>
      <p:sp>
        <p:nvSpPr>
          <p:cNvPr id="5" name="TextBox 4"/>
          <p:cNvSpPr txBox="1"/>
          <p:nvPr/>
        </p:nvSpPr>
        <p:spPr>
          <a:xfrm>
            <a:off x="320040" y="658368"/>
            <a:ext cx="9144000" cy="347472"/>
          </a:xfrm>
          <a:prstGeom prst="rect">
            <a:avLst/>
          </a:prstGeom>
          <a:noFill/>
        </p:spPr>
        <p:txBody>
          <a:bodyPr wrap="square">
            <a:spAutoFit/>
          </a:bodyPr>
          <a:lstStyle/>
          <a:p>
            <a:pPr algn="l"/>
            <a:r>
              <a:rPr sz="1400" b="0" i="1">
                <a:solidFill>
                  <a:srgbClr val="BBDEFB"/>
                </a:solidFill>
              </a:rPr>
              <a:t>PINN learns T_n → T_{n+k}: FEM at anchors, PINN fills the rest</a:t>
            </a:r>
          </a:p>
        </p:txBody>
      </p:sp>
      <p:sp>
        <p:nvSpPr>
          <p:cNvPr id="6" name="Rectangle 5"/>
          <p:cNvSpPr/>
          <p:nvPr/>
        </p:nvSpPr>
        <p:spPr>
          <a:xfrm>
            <a:off x="10607040" y="164592"/>
            <a:ext cx="1371600" cy="530352"/>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25328" y="182880"/>
            <a:ext cx="1335024" cy="512064"/>
          </a:xfrm>
          <a:prstGeom prst="rect">
            <a:avLst/>
          </a:prstGeom>
          <a:noFill/>
        </p:spPr>
        <p:txBody>
          <a:bodyPr wrap="square">
            <a:spAutoFit/>
          </a:bodyPr>
          <a:lstStyle/>
          <a:p>
            <a:pPr algn="ctr"/>
            <a:r>
              <a:rPr sz="1800" b="1" i="0">
                <a:solidFill>
                  <a:srgbClr val="FFFFFF"/>
                </a:solidFill>
              </a:rPr>
              <a:t>L2</a:t>
            </a:r>
          </a:p>
        </p:txBody>
      </p:sp>
      <p:sp>
        <p:nvSpPr>
          <p:cNvPr id="8" name="Rectangle 7"/>
          <p:cNvSpPr/>
          <p:nvPr/>
        </p:nvSpPr>
        <p:spPr>
          <a:xfrm>
            <a:off x="0" y="6629400"/>
            <a:ext cx="12188952" cy="22860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6638544"/>
            <a:ext cx="11430000" cy="201168"/>
          </a:xfrm>
          <a:prstGeom prst="rect">
            <a:avLst/>
          </a:prstGeom>
          <a:noFill/>
        </p:spPr>
        <p:txBody>
          <a:bodyPr wrap="square">
            <a:spAutoFit/>
          </a:bodyPr>
          <a:lstStyle/>
          <a:p>
            <a:pPr algn="l"/>
            <a:r>
              <a:rPr sz="800" b="0" i="0">
                <a:solidFill>
                  <a:srgbClr val="90CAF9"/>
                </a:solidFill>
              </a:rPr>
              <a:t>NAS-PINNs Thesis  |  2026</a:t>
            </a:r>
          </a:p>
        </p:txBody>
      </p:sp>
      <p:sp>
        <p:nvSpPr>
          <p:cNvPr id="10" name="TextBox 9"/>
          <p:cNvSpPr txBox="1"/>
          <p:nvPr/>
        </p:nvSpPr>
        <p:spPr>
          <a:xfrm>
            <a:off x="365760" y="1234440"/>
            <a:ext cx="5669280" cy="2560320"/>
          </a:xfrm>
          <a:prstGeom prst="rect">
            <a:avLst/>
          </a:prstGeom>
          <a:noFill/>
        </p:spPr>
        <p:txBody>
          <a:bodyPr wrap="square">
            <a:spAutoFit/>
          </a:bodyPr>
          <a:lstStyle/>
          <a:p>
            <a:pPr>
              <a:spcBef>
                <a:spcPts val="400"/>
              </a:spcBef>
              <a:defRPr sz="1300">
                <a:solidFill>
                  <a:srgbClr val="424242"/>
                </a:solidFill>
              </a:defRPr>
            </a:pPr>
            <a:r>
              <a:t>▸  FEM: 20 mandatory sequential steps  (t = 0, 1.5, 3, … 30 s)</a:t>
            </a:r>
          </a:p>
          <a:p>
            <a:pPr>
              <a:spcBef>
                <a:spcPts val="400"/>
              </a:spcBef>
              <a:defRPr sz="1300">
                <a:solidFill>
                  <a:srgbClr val="424242"/>
                </a:solidFill>
              </a:defRPr>
            </a:pPr>
            <a:r>
              <a:t>▸  Skip=k: FEM only at t[::k], PINN predicts skipped steps</a:t>
            </a:r>
          </a:p>
          <a:p>
            <a:pPr>
              <a:spcBef>
                <a:spcPts val="400"/>
              </a:spcBef>
              <a:defRPr sz="1300">
                <a:solidFill>
                  <a:srgbClr val="424242"/>
                </a:solidFill>
              </a:defRPr>
            </a:pPr>
            <a:r>
              <a:t>▸  Window PINN: input [x, y, t_local, T_prev] → T_next</a:t>
            </a:r>
          </a:p>
          <a:p>
            <a:pPr>
              <a:spcBef>
                <a:spcPts val="400"/>
              </a:spcBef>
              <a:defRPr sz="1300">
                <a:solidFill>
                  <a:srgbClr val="424242"/>
                </a:solidFill>
              </a:defRPr>
            </a:pPr>
            <a:r>
              <a:t>▸  IC teacher forcing: T_prev anchors each window</a:t>
            </a:r>
          </a:p>
          <a:p>
            <a:pPr>
              <a:spcBef>
                <a:spcPts val="400"/>
              </a:spcBef>
              <a:defRPr sz="1300">
                <a:solidFill>
                  <a:srgbClr val="424242"/>
                </a:solidFill>
              </a:defRPr>
            </a:pPr>
            <a:r>
              <a:t>▸  Convergence: MAE ratio &lt; 1.5× skip=1 baseline</a:t>
            </a:r>
          </a:p>
        </p:txBody>
      </p:sp>
      <p:sp>
        <p:nvSpPr>
          <p:cNvPr id="11" name="Rectangle 10"/>
          <p:cNvSpPr/>
          <p:nvPr/>
        </p:nvSpPr>
        <p:spPr>
          <a:xfrm>
            <a:off x="365760" y="3931920"/>
            <a:ext cx="978408" cy="429768"/>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4005072"/>
            <a:ext cx="914400" cy="365760"/>
          </a:xfrm>
          <a:prstGeom prst="rect">
            <a:avLst/>
          </a:prstGeom>
          <a:noFill/>
        </p:spPr>
        <p:txBody>
          <a:bodyPr wrap="square">
            <a:spAutoFit/>
          </a:bodyPr>
          <a:lstStyle/>
          <a:p>
            <a:pPr algn="ctr"/>
            <a:r>
              <a:rPr sz="1100" b="1" i="0">
                <a:solidFill>
                  <a:srgbClr val="FFFFFF"/>
                </a:solidFill>
              </a:rPr>
              <a:t>Skip</a:t>
            </a:r>
          </a:p>
        </p:txBody>
      </p:sp>
      <p:sp>
        <p:nvSpPr>
          <p:cNvPr id="13" name="Rectangle 12"/>
          <p:cNvSpPr/>
          <p:nvPr/>
        </p:nvSpPr>
        <p:spPr>
          <a:xfrm>
            <a:off x="1371600" y="3931920"/>
            <a:ext cx="1069848" cy="429768"/>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417320" y="4005072"/>
            <a:ext cx="1005840" cy="365760"/>
          </a:xfrm>
          <a:prstGeom prst="rect">
            <a:avLst/>
          </a:prstGeom>
          <a:noFill/>
        </p:spPr>
        <p:txBody>
          <a:bodyPr wrap="square">
            <a:spAutoFit/>
          </a:bodyPr>
          <a:lstStyle/>
          <a:p>
            <a:pPr algn="ctr"/>
            <a:r>
              <a:rPr sz="1100" b="1" i="0">
                <a:solidFill>
                  <a:srgbClr val="FFFFFF"/>
                </a:solidFill>
              </a:rPr>
              <a:t>FEM Steps</a:t>
            </a:r>
          </a:p>
        </p:txBody>
      </p:sp>
      <p:sp>
        <p:nvSpPr>
          <p:cNvPr id="15" name="Rectangle 14"/>
          <p:cNvSpPr/>
          <p:nvPr/>
        </p:nvSpPr>
        <p:spPr>
          <a:xfrm>
            <a:off x="2468880" y="3931920"/>
            <a:ext cx="1389888" cy="429768"/>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14600" y="4005072"/>
            <a:ext cx="1325880" cy="365760"/>
          </a:xfrm>
          <a:prstGeom prst="rect">
            <a:avLst/>
          </a:prstGeom>
          <a:noFill/>
        </p:spPr>
        <p:txBody>
          <a:bodyPr wrap="square">
            <a:spAutoFit/>
          </a:bodyPr>
          <a:lstStyle/>
          <a:p>
            <a:pPr algn="ctr"/>
            <a:r>
              <a:rPr sz="1100" b="1" i="0">
                <a:solidFill>
                  <a:srgbClr val="FFFFFF"/>
                </a:solidFill>
              </a:rPr>
              <a:t>Bayesian</a:t>
            </a:r>
          </a:p>
        </p:txBody>
      </p:sp>
      <p:sp>
        <p:nvSpPr>
          <p:cNvPr id="17" name="Rectangle 16"/>
          <p:cNvSpPr/>
          <p:nvPr/>
        </p:nvSpPr>
        <p:spPr>
          <a:xfrm>
            <a:off x="3886200" y="3931920"/>
            <a:ext cx="1389888" cy="429768"/>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31920" y="4005072"/>
            <a:ext cx="1325880" cy="365760"/>
          </a:xfrm>
          <a:prstGeom prst="rect">
            <a:avLst/>
          </a:prstGeom>
          <a:noFill/>
        </p:spPr>
        <p:txBody>
          <a:bodyPr wrap="square">
            <a:spAutoFit/>
          </a:bodyPr>
          <a:lstStyle/>
          <a:p>
            <a:pPr algn="ctr"/>
            <a:r>
              <a:rPr sz="1100" b="1" i="0">
                <a:solidFill>
                  <a:srgbClr val="FFFFFF"/>
                </a:solidFill>
              </a:rPr>
              <a:t>NSGA-II</a:t>
            </a:r>
          </a:p>
        </p:txBody>
      </p:sp>
      <p:sp>
        <p:nvSpPr>
          <p:cNvPr id="19" name="Rectangle 18"/>
          <p:cNvSpPr/>
          <p:nvPr/>
        </p:nvSpPr>
        <p:spPr>
          <a:xfrm>
            <a:off x="5303520" y="3931920"/>
            <a:ext cx="1389888" cy="429768"/>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49240" y="4005072"/>
            <a:ext cx="1325880" cy="365760"/>
          </a:xfrm>
          <a:prstGeom prst="rect">
            <a:avLst/>
          </a:prstGeom>
          <a:noFill/>
        </p:spPr>
        <p:txBody>
          <a:bodyPr wrap="square">
            <a:spAutoFit/>
          </a:bodyPr>
          <a:lstStyle/>
          <a:p>
            <a:pPr algn="ctr"/>
            <a:r>
              <a:rPr sz="1100" b="1" i="0">
                <a:solidFill>
                  <a:srgbClr val="FFFFFF"/>
                </a:solidFill>
              </a:rPr>
              <a:t>NSGA-III</a:t>
            </a:r>
          </a:p>
        </p:txBody>
      </p:sp>
      <p:sp>
        <p:nvSpPr>
          <p:cNvPr id="21" name="Rectangle 20"/>
          <p:cNvSpPr/>
          <p:nvPr/>
        </p:nvSpPr>
        <p:spPr>
          <a:xfrm>
            <a:off x="365760" y="4389120"/>
            <a:ext cx="978408" cy="42976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11480" y="4462272"/>
            <a:ext cx="914400" cy="365760"/>
          </a:xfrm>
          <a:prstGeom prst="rect">
            <a:avLst/>
          </a:prstGeom>
          <a:noFill/>
        </p:spPr>
        <p:txBody>
          <a:bodyPr wrap="square">
            <a:spAutoFit/>
          </a:bodyPr>
          <a:lstStyle/>
          <a:p>
            <a:pPr algn="ctr"/>
            <a:r>
              <a:rPr sz="1100" b="0" i="0">
                <a:solidFill>
                  <a:srgbClr val="424242"/>
                </a:solidFill>
              </a:rPr>
              <a:t>skip=1</a:t>
            </a:r>
          </a:p>
        </p:txBody>
      </p:sp>
      <p:sp>
        <p:nvSpPr>
          <p:cNvPr id="23" name="Rectangle 22"/>
          <p:cNvSpPr/>
          <p:nvPr/>
        </p:nvSpPr>
        <p:spPr>
          <a:xfrm>
            <a:off x="1371600" y="4389120"/>
            <a:ext cx="1069848" cy="42976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417320" y="4462272"/>
            <a:ext cx="1005840" cy="365760"/>
          </a:xfrm>
          <a:prstGeom prst="rect">
            <a:avLst/>
          </a:prstGeom>
          <a:noFill/>
        </p:spPr>
        <p:txBody>
          <a:bodyPr wrap="square">
            <a:spAutoFit/>
          </a:bodyPr>
          <a:lstStyle/>
          <a:p>
            <a:pPr algn="ctr"/>
            <a:r>
              <a:rPr sz="1100" b="0" i="0">
                <a:solidFill>
                  <a:srgbClr val="424242"/>
                </a:solidFill>
              </a:rPr>
              <a:t>21/21</a:t>
            </a:r>
          </a:p>
        </p:txBody>
      </p:sp>
      <p:sp>
        <p:nvSpPr>
          <p:cNvPr id="25" name="Rectangle 24"/>
          <p:cNvSpPr/>
          <p:nvPr/>
        </p:nvSpPr>
        <p:spPr>
          <a:xfrm>
            <a:off x="2468880" y="4389120"/>
            <a:ext cx="1389888" cy="4297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514600" y="4462272"/>
            <a:ext cx="1325880" cy="365760"/>
          </a:xfrm>
          <a:prstGeom prst="rect">
            <a:avLst/>
          </a:prstGeom>
          <a:noFill/>
        </p:spPr>
        <p:txBody>
          <a:bodyPr wrap="square">
            <a:spAutoFit/>
          </a:bodyPr>
          <a:lstStyle/>
          <a:p>
            <a:pPr algn="ctr"/>
            <a:r>
              <a:rPr sz="1100" b="0" i="0">
                <a:solidFill>
                  <a:srgbClr val="424242"/>
                </a:solidFill>
              </a:rPr>
              <a:t>43.6°C ✓</a:t>
            </a:r>
          </a:p>
        </p:txBody>
      </p:sp>
      <p:sp>
        <p:nvSpPr>
          <p:cNvPr id="27" name="Rectangle 26"/>
          <p:cNvSpPr/>
          <p:nvPr/>
        </p:nvSpPr>
        <p:spPr>
          <a:xfrm>
            <a:off x="3886200" y="4389120"/>
            <a:ext cx="1389888" cy="4297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931920" y="4462272"/>
            <a:ext cx="1325880" cy="365760"/>
          </a:xfrm>
          <a:prstGeom prst="rect">
            <a:avLst/>
          </a:prstGeom>
          <a:noFill/>
        </p:spPr>
        <p:txBody>
          <a:bodyPr wrap="square">
            <a:spAutoFit/>
          </a:bodyPr>
          <a:lstStyle/>
          <a:p>
            <a:pPr algn="ctr"/>
            <a:r>
              <a:rPr sz="1100" b="0" i="0">
                <a:solidFill>
                  <a:srgbClr val="424242"/>
                </a:solidFill>
              </a:rPr>
              <a:t>38.1°C ✓</a:t>
            </a:r>
          </a:p>
        </p:txBody>
      </p:sp>
      <p:sp>
        <p:nvSpPr>
          <p:cNvPr id="29" name="Rectangle 28"/>
          <p:cNvSpPr/>
          <p:nvPr/>
        </p:nvSpPr>
        <p:spPr>
          <a:xfrm>
            <a:off x="5303520" y="4389120"/>
            <a:ext cx="1389888" cy="4297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349240" y="4462272"/>
            <a:ext cx="1325880" cy="365760"/>
          </a:xfrm>
          <a:prstGeom prst="rect">
            <a:avLst/>
          </a:prstGeom>
          <a:noFill/>
        </p:spPr>
        <p:txBody>
          <a:bodyPr wrap="square">
            <a:spAutoFit/>
          </a:bodyPr>
          <a:lstStyle/>
          <a:p>
            <a:pPr algn="ctr"/>
            <a:r>
              <a:rPr sz="1100" b="0" i="0">
                <a:solidFill>
                  <a:srgbClr val="424242"/>
                </a:solidFill>
              </a:rPr>
              <a:t>44.4°C ✓</a:t>
            </a:r>
          </a:p>
        </p:txBody>
      </p:sp>
      <p:sp>
        <p:nvSpPr>
          <p:cNvPr id="31" name="Rectangle 30"/>
          <p:cNvSpPr/>
          <p:nvPr/>
        </p:nvSpPr>
        <p:spPr>
          <a:xfrm>
            <a:off x="365760" y="4846320"/>
            <a:ext cx="978408" cy="429768"/>
          </a:xfrm>
          <a:prstGeom prst="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1480" y="4919472"/>
            <a:ext cx="914400" cy="365760"/>
          </a:xfrm>
          <a:prstGeom prst="rect">
            <a:avLst/>
          </a:prstGeom>
          <a:noFill/>
        </p:spPr>
        <p:txBody>
          <a:bodyPr wrap="square">
            <a:spAutoFit/>
          </a:bodyPr>
          <a:lstStyle/>
          <a:p>
            <a:pPr algn="ctr"/>
            <a:r>
              <a:rPr sz="1100" b="0" i="0">
                <a:solidFill>
                  <a:srgbClr val="424242"/>
                </a:solidFill>
              </a:rPr>
              <a:t>skip=2</a:t>
            </a:r>
          </a:p>
        </p:txBody>
      </p:sp>
      <p:sp>
        <p:nvSpPr>
          <p:cNvPr id="33" name="Rectangle 32"/>
          <p:cNvSpPr/>
          <p:nvPr/>
        </p:nvSpPr>
        <p:spPr>
          <a:xfrm>
            <a:off x="1371600" y="4846320"/>
            <a:ext cx="1069848" cy="429768"/>
          </a:xfrm>
          <a:prstGeom prst="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417320" y="4919472"/>
            <a:ext cx="1005840" cy="365760"/>
          </a:xfrm>
          <a:prstGeom prst="rect">
            <a:avLst/>
          </a:prstGeom>
          <a:noFill/>
        </p:spPr>
        <p:txBody>
          <a:bodyPr wrap="square">
            <a:spAutoFit/>
          </a:bodyPr>
          <a:lstStyle/>
          <a:p>
            <a:pPr algn="ctr"/>
            <a:r>
              <a:rPr sz="1100" b="0" i="0">
                <a:solidFill>
                  <a:srgbClr val="424242"/>
                </a:solidFill>
              </a:rPr>
              <a:t>11/21</a:t>
            </a:r>
          </a:p>
        </p:txBody>
      </p:sp>
      <p:sp>
        <p:nvSpPr>
          <p:cNvPr id="35" name="Rectangle 34"/>
          <p:cNvSpPr/>
          <p:nvPr/>
        </p:nvSpPr>
        <p:spPr>
          <a:xfrm>
            <a:off x="2468880" y="4846320"/>
            <a:ext cx="1389888" cy="4297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514600" y="4919472"/>
            <a:ext cx="1325880" cy="365760"/>
          </a:xfrm>
          <a:prstGeom prst="rect">
            <a:avLst/>
          </a:prstGeom>
          <a:noFill/>
        </p:spPr>
        <p:txBody>
          <a:bodyPr wrap="square">
            <a:spAutoFit/>
          </a:bodyPr>
          <a:lstStyle/>
          <a:p>
            <a:pPr algn="ctr"/>
            <a:r>
              <a:rPr sz="1100" b="0" i="0">
                <a:solidFill>
                  <a:srgbClr val="424242"/>
                </a:solidFill>
              </a:rPr>
              <a:t>33.2°C ✓</a:t>
            </a:r>
          </a:p>
        </p:txBody>
      </p:sp>
      <p:sp>
        <p:nvSpPr>
          <p:cNvPr id="37" name="Rectangle 36"/>
          <p:cNvSpPr/>
          <p:nvPr/>
        </p:nvSpPr>
        <p:spPr>
          <a:xfrm>
            <a:off x="3886200" y="4846320"/>
            <a:ext cx="1389888" cy="429768"/>
          </a:xfrm>
          <a:prstGeom prst="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931920" y="4919472"/>
            <a:ext cx="1325880" cy="365760"/>
          </a:xfrm>
          <a:prstGeom prst="rect">
            <a:avLst/>
          </a:prstGeom>
          <a:noFill/>
        </p:spPr>
        <p:txBody>
          <a:bodyPr wrap="square">
            <a:spAutoFit/>
          </a:bodyPr>
          <a:lstStyle/>
          <a:p>
            <a:pPr algn="ctr"/>
            <a:r>
              <a:rPr sz="1100" b="0" i="0">
                <a:solidFill>
                  <a:srgbClr val="424242"/>
                </a:solidFill>
              </a:rPr>
              <a:t>56.0°C ✗</a:t>
            </a:r>
          </a:p>
        </p:txBody>
      </p:sp>
      <p:sp>
        <p:nvSpPr>
          <p:cNvPr id="39" name="Rectangle 38"/>
          <p:cNvSpPr/>
          <p:nvPr/>
        </p:nvSpPr>
        <p:spPr>
          <a:xfrm>
            <a:off x="5303520" y="4846320"/>
            <a:ext cx="1389888" cy="429768"/>
          </a:xfrm>
          <a:prstGeom prst="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349240" y="4919472"/>
            <a:ext cx="1325880" cy="365760"/>
          </a:xfrm>
          <a:prstGeom prst="rect">
            <a:avLst/>
          </a:prstGeom>
          <a:noFill/>
        </p:spPr>
        <p:txBody>
          <a:bodyPr wrap="square">
            <a:spAutoFit/>
          </a:bodyPr>
          <a:lstStyle/>
          <a:p>
            <a:pPr algn="ctr"/>
            <a:r>
              <a:rPr sz="1100" b="0" i="0">
                <a:solidFill>
                  <a:srgbClr val="424242"/>
                </a:solidFill>
              </a:rPr>
              <a:t>75.0°C ✗</a:t>
            </a:r>
          </a:p>
        </p:txBody>
      </p:sp>
      <p:sp>
        <p:nvSpPr>
          <p:cNvPr id="41" name="Rectangle 40"/>
          <p:cNvSpPr/>
          <p:nvPr/>
        </p:nvSpPr>
        <p:spPr>
          <a:xfrm>
            <a:off x="365760" y="5303520"/>
            <a:ext cx="978408" cy="42976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11480" y="5376672"/>
            <a:ext cx="914400" cy="365760"/>
          </a:xfrm>
          <a:prstGeom prst="rect">
            <a:avLst/>
          </a:prstGeom>
          <a:noFill/>
        </p:spPr>
        <p:txBody>
          <a:bodyPr wrap="square">
            <a:spAutoFit/>
          </a:bodyPr>
          <a:lstStyle/>
          <a:p>
            <a:pPr algn="ctr"/>
            <a:r>
              <a:rPr sz="1100" b="0" i="0">
                <a:solidFill>
                  <a:srgbClr val="424242"/>
                </a:solidFill>
              </a:rPr>
              <a:t>skip=4</a:t>
            </a:r>
          </a:p>
        </p:txBody>
      </p:sp>
      <p:sp>
        <p:nvSpPr>
          <p:cNvPr id="43" name="Rectangle 42"/>
          <p:cNvSpPr/>
          <p:nvPr/>
        </p:nvSpPr>
        <p:spPr>
          <a:xfrm>
            <a:off x="1371600" y="5303520"/>
            <a:ext cx="1069848" cy="42976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417320" y="5376672"/>
            <a:ext cx="1005840" cy="365760"/>
          </a:xfrm>
          <a:prstGeom prst="rect">
            <a:avLst/>
          </a:prstGeom>
          <a:noFill/>
        </p:spPr>
        <p:txBody>
          <a:bodyPr wrap="square">
            <a:spAutoFit/>
          </a:bodyPr>
          <a:lstStyle/>
          <a:p>
            <a:pPr algn="ctr"/>
            <a:r>
              <a:rPr sz="1100" b="0" i="0">
                <a:solidFill>
                  <a:srgbClr val="424242"/>
                </a:solidFill>
              </a:rPr>
              <a:t> 6/21</a:t>
            </a:r>
          </a:p>
        </p:txBody>
      </p:sp>
      <p:sp>
        <p:nvSpPr>
          <p:cNvPr id="45" name="Rectangle 44"/>
          <p:cNvSpPr/>
          <p:nvPr/>
        </p:nvSpPr>
        <p:spPr>
          <a:xfrm>
            <a:off x="2468880" y="5303520"/>
            <a:ext cx="1389888" cy="4297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2514600" y="5376672"/>
            <a:ext cx="1325880" cy="365760"/>
          </a:xfrm>
          <a:prstGeom prst="rect">
            <a:avLst/>
          </a:prstGeom>
          <a:noFill/>
        </p:spPr>
        <p:txBody>
          <a:bodyPr wrap="square">
            <a:spAutoFit/>
          </a:bodyPr>
          <a:lstStyle/>
          <a:p>
            <a:pPr algn="ctr"/>
            <a:r>
              <a:rPr sz="1100" b="0" i="0">
                <a:solidFill>
                  <a:srgbClr val="424242"/>
                </a:solidFill>
              </a:rPr>
              <a:t>57.5°C ✓</a:t>
            </a:r>
          </a:p>
        </p:txBody>
      </p:sp>
      <p:sp>
        <p:nvSpPr>
          <p:cNvPr id="47" name="Rectangle 46"/>
          <p:cNvSpPr/>
          <p:nvPr/>
        </p:nvSpPr>
        <p:spPr>
          <a:xfrm>
            <a:off x="3886200" y="5303520"/>
            <a:ext cx="1389888" cy="429768"/>
          </a:xfrm>
          <a:prstGeom prst="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931920" y="5376672"/>
            <a:ext cx="1325880" cy="365760"/>
          </a:xfrm>
          <a:prstGeom prst="rect">
            <a:avLst/>
          </a:prstGeom>
          <a:noFill/>
        </p:spPr>
        <p:txBody>
          <a:bodyPr wrap="square">
            <a:spAutoFit/>
          </a:bodyPr>
          <a:lstStyle/>
          <a:p>
            <a:pPr algn="ctr"/>
            <a:r>
              <a:rPr sz="1100" b="0" i="0">
                <a:solidFill>
                  <a:srgbClr val="424242"/>
                </a:solidFill>
              </a:rPr>
              <a:t>154.8°C ✗</a:t>
            </a:r>
          </a:p>
        </p:txBody>
      </p:sp>
      <p:sp>
        <p:nvSpPr>
          <p:cNvPr id="49" name="Rectangle 48"/>
          <p:cNvSpPr/>
          <p:nvPr/>
        </p:nvSpPr>
        <p:spPr>
          <a:xfrm>
            <a:off x="5303520" y="5303520"/>
            <a:ext cx="1389888" cy="429768"/>
          </a:xfrm>
          <a:prstGeom prst="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349240" y="5376672"/>
            <a:ext cx="1325880" cy="365760"/>
          </a:xfrm>
          <a:prstGeom prst="rect">
            <a:avLst/>
          </a:prstGeom>
          <a:noFill/>
        </p:spPr>
        <p:txBody>
          <a:bodyPr wrap="square">
            <a:spAutoFit/>
          </a:bodyPr>
          <a:lstStyle/>
          <a:p>
            <a:pPr algn="ctr"/>
            <a:r>
              <a:rPr sz="1100" b="0" i="0">
                <a:solidFill>
                  <a:srgbClr val="424242"/>
                </a:solidFill>
              </a:rPr>
              <a:t>202.1°C ✗</a:t>
            </a:r>
          </a:p>
        </p:txBody>
      </p:sp>
      <p:sp>
        <p:nvSpPr>
          <p:cNvPr id="51" name="Rectangle 50"/>
          <p:cNvSpPr/>
          <p:nvPr/>
        </p:nvSpPr>
        <p:spPr>
          <a:xfrm>
            <a:off x="365760" y="5760720"/>
            <a:ext cx="978408" cy="429768"/>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11480" y="5833872"/>
            <a:ext cx="914400" cy="365760"/>
          </a:xfrm>
          <a:prstGeom prst="rect">
            <a:avLst/>
          </a:prstGeom>
          <a:noFill/>
        </p:spPr>
        <p:txBody>
          <a:bodyPr wrap="square">
            <a:spAutoFit/>
          </a:bodyPr>
          <a:lstStyle/>
          <a:p>
            <a:pPr algn="ctr"/>
            <a:r>
              <a:rPr sz="1100" b="0" i="0">
                <a:solidFill>
                  <a:srgbClr val="424242"/>
                </a:solidFill>
              </a:rPr>
              <a:t>skip=6</a:t>
            </a:r>
          </a:p>
        </p:txBody>
      </p:sp>
      <p:sp>
        <p:nvSpPr>
          <p:cNvPr id="53" name="Rectangle 52"/>
          <p:cNvSpPr/>
          <p:nvPr/>
        </p:nvSpPr>
        <p:spPr>
          <a:xfrm>
            <a:off x="1371600" y="5760720"/>
            <a:ext cx="1069848" cy="429768"/>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417320" y="5833872"/>
            <a:ext cx="1005840" cy="365760"/>
          </a:xfrm>
          <a:prstGeom prst="rect">
            <a:avLst/>
          </a:prstGeom>
          <a:noFill/>
        </p:spPr>
        <p:txBody>
          <a:bodyPr wrap="square">
            <a:spAutoFit/>
          </a:bodyPr>
          <a:lstStyle/>
          <a:p>
            <a:pPr algn="ctr"/>
            <a:r>
              <a:rPr sz="1100" b="0" i="0">
                <a:solidFill>
                  <a:srgbClr val="424242"/>
                </a:solidFill>
              </a:rPr>
              <a:t> 4/21</a:t>
            </a:r>
          </a:p>
        </p:txBody>
      </p:sp>
      <p:sp>
        <p:nvSpPr>
          <p:cNvPr id="55" name="Rectangle 54"/>
          <p:cNvSpPr/>
          <p:nvPr/>
        </p:nvSpPr>
        <p:spPr>
          <a:xfrm>
            <a:off x="2468880" y="5760720"/>
            <a:ext cx="1389888" cy="429768"/>
          </a:xfrm>
          <a:prstGeom prst="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2514600" y="5833872"/>
            <a:ext cx="1325880" cy="365760"/>
          </a:xfrm>
          <a:prstGeom prst="rect">
            <a:avLst/>
          </a:prstGeom>
          <a:noFill/>
        </p:spPr>
        <p:txBody>
          <a:bodyPr wrap="square">
            <a:spAutoFit/>
          </a:bodyPr>
          <a:lstStyle/>
          <a:p>
            <a:pPr algn="ctr"/>
            <a:r>
              <a:rPr sz="1100" b="0" i="0">
                <a:solidFill>
                  <a:srgbClr val="424242"/>
                </a:solidFill>
              </a:rPr>
              <a:t>93.6°C ✗</a:t>
            </a:r>
          </a:p>
        </p:txBody>
      </p:sp>
      <p:sp>
        <p:nvSpPr>
          <p:cNvPr id="57" name="Rectangle 56"/>
          <p:cNvSpPr/>
          <p:nvPr/>
        </p:nvSpPr>
        <p:spPr>
          <a:xfrm>
            <a:off x="3886200" y="5760720"/>
            <a:ext cx="1389888" cy="429768"/>
          </a:xfrm>
          <a:prstGeom prst="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931920" y="5833872"/>
            <a:ext cx="1325880" cy="365760"/>
          </a:xfrm>
          <a:prstGeom prst="rect">
            <a:avLst/>
          </a:prstGeom>
          <a:noFill/>
        </p:spPr>
        <p:txBody>
          <a:bodyPr wrap="square">
            <a:spAutoFit/>
          </a:bodyPr>
          <a:lstStyle/>
          <a:p>
            <a:pPr algn="ctr"/>
            <a:r>
              <a:rPr sz="1100" b="0" i="0">
                <a:solidFill>
                  <a:srgbClr val="424242"/>
                </a:solidFill>
              </a:rPr>
              <a:t>354.6°C ✗</a:t>
            </a:r>
          </a:p>
        </p:txBody>
      </p:sp>
      <p:sp>
        <p:nvSpPr>
          <p:cNvPr id="59" name="Rectangle 58"/>
          <p:cNvSpPr/>
          <p:nvPr/>
        </p:nvSpPr>
        <p:spPr>
          <a:xfrm>
            <a:off x="5303520" y="5760720"/>
            <a:ext cx="1389888" cy="429768"/>
          </a:xfrm>
          <a:prstGeom prst="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349240" y="5833872"/>
            <a:ext cx="1325880" cy="365760"/>
          </a:xfrm>
          <a:prstGeom prst="rect">
            <a:avLst/>
          </a:prstGeom>
          <a:noFill/>
        </p:spPr>
        <p:txBody>
          <a:bodyPr wrap="square">
            <a:spAutoFit/>
          </a:bodyPr>
          <a:lstStyle/>
          <a:p>
            <a:pPr algn="ctr"/>
            <a:r>
              <a:rPr sz="1100" b="0" i="0">
                <a:solidFill>
                  <a:srgbClr val="424242"/>
                </a:solidFill>
              </a:rPr>
              <a:t>428.6°C ✗</a:t>
            </a:r>
          </a:p>
        </p:txBody>
      </p:sp>
      <p:pic>
        <p:nvPicPr>
          <p:cNvPr id="61" name="Picture 60" descr="fem_vs_pinn_skip.png"/>
          <p:cNvPicPr>
            <a:picLocks noChangeAspect="1"/>
          </p:cNvPicPr>
          <p:nvPr/>
        </p:nvPicPr>
        <p:blipFill>
          <a:blip r:embed="rId2"/>
          <a:stretch>
            <a:fillRect/>
          </a:stretch>
        </p:blipFill>
        <p:spPr>
          <a:xfrm>
            <a:off x="6217920" y="1234440"/>
            <a:ext cx="5760720" cy="4663440"/>
          </a:xfrm>
          <a:prstGeom prst="rect">
            <a:avLst/>
          </a:prstGeom>
        </p:spPr>
      </p:pic>
      <p:sp>
        <p:nvSpPr>
          <p:cNvPr id="62" name="TextBox 61"/>
          <p:cNvSpPr txBox="1"/>
          <p:nvPr/>
        </p:nvSpPr>
        <p:spPr>
          <a:xfrm>
            <a:off x="365760" y="6236208"/>
            <a:ext cx="5760720" cy="329184"/>
          </a:xfrm>
          <a:prstGeom prst="rect">
            <a:avLst/>
          </a:prstGeom>
          <a:noFill/>
        </p:spPr>
        <p:txBody>
          <a:bodyPr wrap="square">
            <a:spAutoFit/>
          </a:bodyPr>
          <a:lstStyle/>
          <a:p>
            <a:pPr algn="l"/>
            <a:r>
              <a:rPr sz="1100" b="1" i="0">
                <a:solidFill>
                  <a:srgbClr val="1565C0"/>
                </a:solidFill>
              </a:rPr>
              <a:t>Key result: Only Bayesian NAS achieves skip=2 (2× FEM reduction) with convergence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AFF"/>
        </a:solidFill>
        <a:effectLst/>
      </p:bgPr>
    </p:bg>
    <p:spTree>
      <p:nvGrpSpPr>
        <p:cNvPr id="1" name=""/>
        <p:cNvGrpSpPr/>
        <p:nvPr/>
      </p:nvGrpSpPr>
      <p:grpSpPr/>
      <p:sp>
        <p:nvSpPr>
          <p:cNvPr id="2" name="Rectangle 1"/>
          <p:cNvSpPr/>
          <p:nvPr/>
        </p:nvSpPr>
        <p:spPr>
          <a:xfrm>
            <a:off x="0" y="0"/>
            <a:ext cx="12188952" cy="105156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88952" cy="54864"/>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73152"/>
            <a:ext cx="9601200" cy="594360"/>
          </a:xfrm>
          <a:prstGeom prst="rect">
            <a:avLst/>
          </a:prstGeom>
          <a:noFill/>
        </p:spPr>
        <p:txBody>
          <a:bodyPr wrap="square">
            <a:spAutoFit/>
          </a:bodyPr>
          <a:lstStyle/>
          <a:p>
            <a:pPr algn="l"/>
            <a:r>
              <a:rPr sz="2800" b="1" i="0">
                <a:solidFill>
                  <a:srgbClr val="FFFFFF"/>
                </a:solidFill>
              </a:rPr>
              <a:t>Level 3 — Hybrid FEM + PINN</a:t>
            </a:r>
          </a:p>
        </p:txBody>
      </p:sp>
      <p:sp>
        <p:nvSpPr>
          <p:cNvPr id="5" name="TextBox 4"/>
          <p:cNvSpPr txBox="1"/>
          <p:nvPr/>
        </p:nvSpPr>
        <p:spPr>
          <a:xfrm>
            <a:off x="320040" y="658368"/>
            <a:ext cx="9144000" cy="347472"/>
          </a:xfrm>
          <a:prstGeom prst="rect">
            <a:avLst/>
          </a:prstGeom>
          <a:noFill/>
        </p:spPr>
        <p:txBody>
          <a:bodyPr wrap="square">
            <a:spAutoFit/>
          </a:bodyPr>
          <a:lstStyle/>
          <a:p>
            <a:pPr algn="l"/>
            <a:r>
              <a:rPr sz="1400" b="0" i="1">
                <a:solidFill>
                  <a:srgbClr val="BBDEFB"/>
                </a:solidFill>
              </a:rPr>
              <a:t>Adaptive residual-driven routing: when to use FEM vs PINN</a:t>
            </a:r>
          </a:p>
        </p:txBody>
      </p:sp>
      <p:sp>
        <p:nvSpPr>
          <p:cNvPr id="6" name="Rectangle 5"/>
          <p:cNvSpPr/>
          <p:nvPr/>
        </p:nvSpPr>
        <p:spPr>
          <a:xfrm>
            <a:off x="10607040" y="164592"/>
            <a:ext cx="1371600" cy="530352"/>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25328" y="182880"/>
            <a:ext cx="1335024" cy="512064"/>
          </a:xfrm>
          <a:prstGeom prst="rect">
            <a:avLst/>
          </a:prstGeom>
          <a:noFill/>
        </p:spPr>
        <p:txBody>
          <a:bodyPr wrap="square">
            <a:spAutoFit/>
          </a:bodyPr>
          <a:lstStyle/>
          <a:p>
            <a:pPr algn="ctr"/>
            <a:r>
              <a:rPr sz="1800" b="1" i="0">
                <a:solidFill>
                  <a:srgbClr val="FFFFFF"/>
                </a:solidFill>
              </a:rPr>
              <a:t>L3</a:t>
            </a:r>
          </a:p>
        </p:txBody>
      </p:sp>
      <p:sp>
        <p:nvSpPr>
          <p:cNvPr id="8" name="Rectangle 7"/>
          <p:cNvSpPr/>
          <p:nvPr/>
        </p:nvSpPr>
        <p:spPr>
          <a:xfrm>
            <a:off x="0" y="6629400"/>
            <a:ext cx="12188952" cy="22860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6638544"/>
            <a:ext cx="11430000" cy="201168"/>
          </a:xfrm>
          <a:prstGeom prst="rect">
            <a:avLst/>
          </a:prstGeom>
          <a:noFill/>
        </p:spPr>
        <p:txBody>
          <a:bodyPr wrap="square">
            <a:spAutoFit/>
          </a:bodyPr>
          <a:lstStyle/>
          <a:p>
            <a:pPr algn="l"/>
            <a:r>
              <a:rPr sz="800" b="0" i="0">
                <a:solidFill>
                  <a:srgbClr val="90CAF9"/>
                </a:solidFill>
              </a:rPr>
              <a:t>NAS-PINNs Thesis  |  2026</a:t>
            </a:r>
          </a:p>
        </p:txBody>
      </p:sp>
      <p:sp>
        <p:nvSpPr>
          <p:cNvPr id="10" name="TextBox 9"/>
          <p:cNvSpPr txBox="1"/>
          <p:nvPr/>
        </p:nvSpPr>
        <p:spPr>
          <a:xfrm>
            <a:off x="365760" y="1234440"/>
            <a:ext cx="5669280" cy="4572000"/>
          </a:xfrm>
          <a:prstGeom prst="rect">
            <a:avLst/>
          </a:prstGeom>
          <a:noFill/>
        </p:spPr>
        <p:txBody>
          <a:bodyPr wrap="square">
            <a:spAutoFit/>
          </a:bodyPr>
          <a:lstStyle/>
          <a:p>
            <a:pPr>
              <a:spcBef>
                <a:spcPts val="400"/>
              </a:spcBef>
              <a:defRPr sz="1300">
                <a:solidFill>
                  <a:srgbClr val="424242"/>
                </a:solidFill>
              </a:defRPr>
            </a:pPr>
            <a:r>
              <a:t>▸  PDE residual r(t) computed after each step</a:t>
            </a:r>
          </a:p>
          <a:p>
            <a:pPr>
              <a:spcBef>
                <a:spcPts val="400"/>
              </a:spcBef>
              <a:defRPr sz="1300">
                <a:solidFill>
                  <a:srgbClr val="424242"/>
                </a:solidFill>
              </a:defRPr>
            </a:pPr>
            <a:r>
              <a:t>▸  r &gt; threshold → FEM (high uncertainty)</a:t>
            </a:r>
          </a:p>
          <a:p>
            <a:pPr>
              <a:spcBef>
                <a:spcPts val="400"/>
              </a:spcBef>
              <a:defRPr sz="1300">
                <a:solidFill>
                  <a:srgbClr val="424242"/>
                </a:solidFill>
              </a:defRPr>
            </a:pPr>
            <a:r>
              <a:t>▸  r ≤ threshold → PINN (safe to skip)</a:t>
            </a:r>
          </a:p>
          <a:p>
            <a:pPr>
              <a:spcBef>
                <a:spcPts val="400"/>
              </a:spcBef>
              <a:defRPr sz="1300">
                <a:solidFill>
                  <a:srgbClr val="424242"/>
                </a:solidFill>
              </a:defRPr>
            </a:pPr>
            <a:r>
              <a:t>▸  Threshold = 0.1, max_skip = 4</a:t>
            </a:r>
          </a:p>
          <a:p>
            <a:pPr>
              <a:spcBef>
                <a:spcPts val="400"/>
              </a:spcBef>
              <a:defRPr sz="1300">
                <a:solidFill>
                  <a:srgbClr val="424242"/>
                </a:solidFill>
              </a:defRPr>
            </a:pPr>
          </a:p>
          <a:p>
            <a:pPr>
              <a:spcBef>
                <a:spcPts val="400"/>
              </a:spcBef>
              <a:defRPr sz="1300">
                <a:solidFill>
                  <a:srgbClr val="424242"/>
                </a:solidFill>
              </a:defRPr>
            </a:pPr>
            <a:r>
              <a:t>Results:</a:t>
            </a:r>
          </a:p>
          <a:p>
            <a:pPr>
              <a:spcBef>
                <a:spcPts val="400"/>
              </a:spcBef>
              <a:defRPr sz="1300">
                <a:solidFill>
                  <a:srgbClr val="424242"/>
                </a:solidFill>
              </a:defRPr>
            </a:pPr>
            <a:r>
              <a:t>▸  All 3 optimizers: 80% skip rate achieved</a:t>
            </a:r>
          </a:p>
          <a:p>
            <a:pPr>
              <a:spcBef>
                <a:spcPts val="400"/>
              </a:spcBef>
              <a:defRPr sz="1300">
                <a:solidFill>
                  <a:srgbClr val="424242"/>
                </a:solidFill>
              </a:defRPr>
            </a:pPr>
            <a:r>
              <a:t>▸  Only 4–6 FEM steps out of 20</a:t>
            </a:r>
          </a:p>
          <a:p>
            <a:pPr>
              <a:spcBef>
                <a:spcPts val="400"/>
              </a:spcBef>
              <a:defRPr sz="1300">
                <a:solidFill>
                  <a:srgbClr val="424242"/>
                </a:solidFill>
              </a:defRPr>
            </a:pPr>
            <a:r>
              <a:t>▸  Bayesian MAE maintained &lt; 50°C</a:t>
            </a:r>
          </a:p>
        </p:txBody>
      </p:sp>
      <p:sp>
        <p:nvSpPr>
          <p:cNvPr id="11" name="Rectangle 10"/>
          <p:cNvSpPr/>
          <p:nvPr/>
        </p:nvSpPr>
        <p:spPr>
          <a:xfrm>
            <a:off x="6217920" y="1234440"/>
            <a:ext cx="5760720" cy="4663440"/>
          </a:xfrm>
          <a:prstGeom prst="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1371600"/>
            <a:ext cx="5394960" cy="365760"/>
          </a:xfrm>
          <a:prstGeom prst="rect">
            <a:avLst/>
          </a:prstGeom>
          <a:noFill/>
        </p:spPr>
        <p:txBody>
          <a:bodyPr wrap="square">
            <a:spAutoFit/>
          </a:bodyPr>
          <a:lstStyle/>
          <a:p>
            <a:pPr algn="l"/>
            <a:r>
              <a:rPr sz="1400" b="1" i="0">
                <a:solidFill>
                  <a:srgbClr val="1B5E20"/>
                </a:solidFill>
              </a:rPr>
              <a:t>Adaptive Skip Logic</a:t>
            </a:r>
          </a:p>
        </p:txBody>
      </p:sp>
      <p:sp>
        <p:nvSpPr>
          <p:cNvPr id="13" name="Rectangle 12"/>
          <p:cNvSpPr/>
          <p:nvPr/>
        </p:nvSpPr>
        <p:spPr>
          <a:xfrm>
            <a:off x="6400800" y="1828800"/>
            <a:ext cx="411480" cy="41148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856232"/>
            <a:ext cx="411480" cy="365760"/>
          </a:xfrm>
          <a:prstGeom prst="rect">
            <a:avLst/>
          </a:prstGeom>
          <a:noFill/>
        </p:spPr>
        <p:txBody>
          <a:bodyPr wrap="square">
            <a:spAutoFit/>
          </a:bodyPr>
          <a:lstStyle/>
          <a:p>
            <a:pPr algn="ctr"/>
            <a:r>
              <a:rPr sz="1200" b="1" i="0">
                <a:solidFill>
                  <a:srgbClr val="FFFFFF"/>
                </a:solidFill>
              </a:rPr>
              <a:t>1</a:t>
            </a:r>
          </a:p>
        </p:txBody>
      </p:sp>
      <p:sp>
        <p:nvSpPr>
          <p:cNvPr id="15" name="TextBox 14"/>
          <p:cNvSpPr txBox="1"/>
          <p:nvPr/>
        </p:nvSpPr>
        <p:spPr>
          <a:xfrm>
            <a:off x="6903720" y="1883664"/>
            <a:ext cx="4846320" cy="384048"/>
          </a:xfrm>
          <a:prstGeom prst="rect">
            <a:avLst/>
          </a:prstGeom>
          <a:noFill/>
        </p:spPr>
        <p:txBody>
          <a:bodyPr wrap="square">
            <a:spAutoFit/>
          </a:bodyPr>
          <a:lstStyle/>
          <a:p>
            <a:pPr algn="l"/>
            <a:r>
              <a:rPr sz="1200" b="0" i="0">
                <a:solidFill>
                  <a:srgbClr val="424242"/>
                </a:solidFill>
              </a:rPr>
              <a:t>Solve step with current model</a:t>
            </a:r>
          </a:p>
        </p:txBody>
      </p:sp>
      <p:sp>
        <p:nvSpPr>
          <p:cNvPr id="16" name="Rectangle 15"/>
          <p:cNvSpPr/>
          <p:nvPr/>
        </p:nvSpPr>
        <p:spPr>
          <a:xfrm>
            <a:off x="6400800" y="2377440"/>
            <a:ext cx="411480" cy="41148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0" y="2404872"/>
            <a:ext cx="411480" cy="365760"/>
          </a:xfrm>
          <a:prstGeom prst="rect">
            <a:avLst/>
          </a:prstGeom>
          <a:noFill/>
        </p:spPr>
        <p:txBody>
          <a:bodyPr wrap="square">
            <a:spAutoFit/>
          </a:bodyPr>
          <a:lstStyle/>
          <a:p>
            <a:pPr algn="ctr"/>
            <a:r>
              <a:rPr sz="1200" b="1" i="0">
                <a:solidFill>
                  <a:srgbClr val="FFFFFF"/>
                </a:solidFill>
              </a:rPr>
              <a:t>2</a:t>
            </a:r>
          </a:p>
        </p:txBody>
      </p:sp>
      <p:sp>
        <p:nvSpPr>
          <p:cNvPr id="18" name="TextBox 17"/>
          <p:cNvSpPr txBox="1"/>
          <p:nvPr/>
        </p:nvSpPr>
        <p:spPr>
          <a:xfrm>
            <a:off x="6903720" y="2432304"/>
            <a:ext cx="4846320" cy="384048"/>
          </a:xfrm>
          <a:prstGeom prst="rect">
            <a:avLst/>
          </a:prstGeom>
          <a:noFill/>
        </p:spPr>
        <p:txBody>
          <a:bodyPr wrap="square">
            <a:spAutoFit/>
          </a:bodyPr>
          <a:lstStyle/>
          <a:p>
            <a:pPr algn="l"/>
            <a:r>
              <a:rPr sz="1200" b="0" i="0">
                <a:solidFill>
                  <a:srgbClr val="424242"/>
                </a:solidFill>
              </a:rPr>
              <a:t>Compute PDE residual r(t)</a:t>
            </a:r>
          </a:p>
        </p:txBody>
      </p:sp>
      <p:sp>
        <p:nvSpPr>
          <p:cNvPr id="19" name="Rectangle 18"/>
          <p:cNvSpPr/>
          <p:nvPr/>
        </p:nvSpPr>
        <p:spPr>
          <a:xfrm>
            <a:off x="6400800" y="2926080"/>
            <a:ext cx="411480" cy="41148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0" y="2953512"/>
            <a:ext cx="411480" cy="365760"/>
          </a:xfrm>
          <a:prstGeom prst="rect">
            <a:avLst/>
          </a:prstGeom>
          <a:noFill/>
        </p:spPr>
        <p:txBody>
          <a:bodyPr wrap="square">
            <a:spAutoFit/>
          </a:bodyPr>
          <a:lstStyle/>
          <a:p>
            <a:pPr algn="ctr"/>
            <a:r>
              <a:rPr sz="1200" b="1" i="0">
                <a:solidFill>
                  <a:srgbClr val="FFFFFF"/>
                </a:solidFill>
              </a:rPr>
              <a:t>3</a:t>
            </a:r>
          </a:p>
        </p:txBody>
      </p:sp>
      <p:sp>
        <p:nvSpPr>
          <p:cNvPr id="21" name="TextBox 20"/>
          <p:cNvSpPr txBox="1"/>
          <p:nvPr/>
        </p:nvSpPr>
        <p:spPr>
          <a:xfrm>
            <a:off x="6903720" y="2980944"/>
            <a:ext cx="4846320" cy="384048"/>
          </a:xfrm>
          <a:prstGeom prst="rect">
            <a:avLst/>
          </a:prstGeom>
          <a:noFill/>
        </p:spPr>
        <p:txBody>
          <a:bodyPr wrap="square">
            <a:spAutoFit/>
          </a:bodyPr>
          <a:lstStyle/>
          <a:p>
            <a:pPr algn="l"/>
            <a:r>
              <a:rPr sz="1200" b="0" i="0">
                <a:solidFill>
                  <a:srgbClr val="424242"/>
                </a:solidFill>
              </a:rPr>
              <a:t>r &gt; 0.1 ?</a:t>
            </a:r>
          </a:p>
        </p:txBody>
      </p:sp>
      <p:sp>
        <p:nvSpPr>
          <p:cNvPr id="22" name="Rectangle 21"/>
          <p:cNvSpPr/>
          <p:nvPr/>
        </p:nvSpPr>
        <p:spPr>
          <a:xfrm>
            <a:off x="6400800" y="3474720"/>
            <a:ext cx="411480" cy="411480"/>
          </a:xfrm>
          <a:prstGeom prst="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0" y="3502152"/>
            <a:ext cx="411480" cy="365760"/>
          </a:xfrm>
          <a:prstGeom prst="rect">
            <a:avLst/>
          </a:prstGeom>
          <a:noFill/>
        </p:spPr>
        <p:txBody>
          <a:bodyPr wrap="square">
            <a:spAutoFit/>
          </a:bodyPr>
          <a:lstStyle/>
          <a:p>
            <a:pPr algn="ctr"/>
            <a:r>
              <a:rPr sz="1200" b="1" i="0">
                <a:solidFill>
                  <a:srgbClr val="FFFFFF"/>
                </a:solidFill>
              </a:rPr>
              <a:t>3a</a:t>
            </a:r>
          </a:p>
        </p:txBody>
      </p:sp>
      <p:sp>
        <p:nvSpPr>
          <p:cNvPr id="24" name="TextBox 23"/>
          <p:cNvSpPr txBox="1"/>
          <p:nvPr/>
        </p:nvSpPr>
        <p:spPr>
          <a:xfrm>
            <a:off x="6903720" y="3529584"/>
            <a:ext cx="4846320" cy="384048"/>
          </a:xfrm>
          <a:prstGeom prst="rect">
            <a:avLst/>
          </a:prstGeom>
          <a:noFill/>
        </p:spPr>
        <p:txBody>
          <a:bodyPr wrap="square">
            <a:spAutoFit/>
          </a:bodyPr>
          <a:lstStyle/>
          <a:p>
            <a:pPr algn="l"/>
            <a:r>
              <a:rPr sz="1200" b="0" i="0">
                <a:solidFill>
                  <a:srgbClr val="424242"/>
                </a:solidFill>
              </a:rPr>
              <a:t>  YES → Full FEM solve</a:t>
            </a:r>
          </a:p>
        </p:txBody>
      </p:sp>
      <p:sp>
        <p:nvSpPr>
          <p:cNvPr id="25" name="Rectangle 24"/>
          <p:cNvSpPr/>
          <p:nvPr/>
        </p:nvSpPr>
        <p:spPr>
          <a:xfrm>
            <a:off x="6400800" y="4023360"/>
            <a:ext cx="411480" cy="411480"/>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0" y="4050792"/>
            <a:ext cx="411480" cy="365760"/>
          </a:xfrm>
          <a:prstGeom prst="rect">
            <a:avLst/>
          </a:prstGeom>
          <a:noFill/>
        </p:spPr>
        <p:txBody>
          <a:bodyPr wrap="square">
            <a:spAutoFit/>
          </a:bodyPr>
          <a:lstStyle/>
          <a:p>
            <a:pPr algn="ctr"/>
            <a:r>
              <a:rPr sz="1200" b="1" i="0">
                <a:solidFill>
                  <a:srgbClr val="FFFFFF"/>
                </a:solidFill>
              </a:rPr>
              <a:t>3b</a:t>
            </a:r>
          </a:p>
        </p:txBody>
      </p:sp>
      <p:sp>
        <p:nvSpPr>
          <p:cNvPr id="27" name="TextBox 26"/>
          <p:cNvSpPr txBox="1"/>
          <p:nvPr/>
        </p:nvSpPr>
        <p:spPr>
          <a:xfrm>
            <a:off x="6903720" y="4078224"/>
            <a:ext cx="4846320" cy="384048"/>
          </a:xfrm>
          <a:prstGeom prst="rect">
            <a:avLst/>
          </a:prstGeom>
          <a:noFill/>
        </p:spPr>
        <p:txBody>
          <a:bodyPr wrap="square">
            <a:spAutoFit/>
          </a:bodyPr>
          <a:lstStyle/>
          <a:p>
            <a:pPr algn="l"/>
            <a:r>
              <a:rPr sz="1200" b="0" i="0">
                <a:solidFill>
                  <a:srgbClr val="424242"/>
                </a:solidFill>
              </a:rPr>
              <a:t>  NO  → PINN prediction only</a:t>
            </a:r>
          </a:p>
        </p:txBody>
      </p:sp>
      <p:sp>
        <p:nvSpPr>
          <p:cNvPr id="28" name="Rectangle 27"/>
          <p:cNvSpPr/>
          <p:nvPr/>
        </p:nvSpPr>
        <p:spPr>
          <a:xfrm>
            <a:off x="6400800" y="4572000"/>
            <a:ext cx="411480" cy="41148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0" y="4599432"/>
            <a:ext cx="411480" cy="365760"/>
          </a:xfrm>
          <a:prstGeom prst="rect">
            <a:avLst/>
          </a:prstGeom>
          <a:noFill/>
        </p:spPr>
        <p:txBody>
          <a:bodyPr wrap="square">
            <a:spAutoFit/>
          </a:bodyPr>
          <a:lstStyle/>
          <a:p>
            <a:pPr algn="ctr"/>
            <a:r>
              <a:rPr sz="1200" b="1" i="0">
                <a:solidFill>
                  <a:srgbClr val="FFFFFF"/>
                </a:solidFill>
              </a:rPr>
              <a:t>4</a:t>
            </a:r>
          </a:p>
        </p:txBody>
      </p:sp>
      <p:sp>
        <p:nvSpPr>
          <p:cNvPr id="30" name="TextBox 29"/>
          <p:cNvSpPr txBox="1"/>
          <p:nvPr/>
        </p:nvSpPr>
        <p:spPr>
          <a:xfrm>
            <a:off x="6903720" y="4626864"/>
            <a:ext cx="4846320" cy="384048"/>
          </a:xfrm>
          <a:prstGeom prst="rect">
            <a:avLst/>
          </a:prstGeom>
          <a:noFill/>
        </p:spPr>
        <p:txBody>
          <a:bodyPr wrap="square">
            <a:spAutoFit/>
          </a:bodyPr>
          <a:lstStyle/>
          <a:p>
            <a:pPr algn="l"/>
            <a:r>
              <a:rPr sz="1200" b="0" i="0">
                <a:solidFill>
                  <a:srgbClr val="424242"/>
                </a:solidFill>
              </a:rPr>
              <a:t>Advance to t+1</a:t>
            </a:r>
          </a:p>
        </p:txBody>
      </p:sp>
      <p:sp>
        <p:nvSpPr>
          <p:cNvPr id="31" name="TextBox 30"/>
          <p:cNvSpPr txBox="1"/>
          <p:nvPr/>
        </p:nvSpPr>
        <p:spPr>
          <a:xfrm>
            <a:off x="6309360" y="5257800"/>
            <a:ext cx="5669280" cy="594360"/>
          </a:xfrm>
          <a:prstGeom prst="rect">
            <a:avLst/>
          </a:prstGeom>
          <a:noFill/>
        </p:spPr>
        <p:txBody>
          <a:bodyPr wrap="square">
            <a:spAutoFit/>
          </a:bodyPr>
          <a:lstStyle/>
          <a:p>
            <a:pPr algn="l"/>
            <a:r>
              <a:rPr sz="1200" b="1" i="0">
                <a:solidFill>
                  <a:srgbClr val="1B5E20"/>
                </a:solidFill>
              </a:rPr>
              <a:t>Outcome: 80% FEM skip across all optimizers
→ Hybrid approach generalizes even for NSGA-II/III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AFF"/>
        </a:solidFill>
        <a:effectLst/>
      </p:bgPr>
    </p:bg>
    <p:spTree>
      <p:nvGrpSpPr>
        <p:cNvPr id="1" name=""/>
        <p:cNvGrpSpPr/>
        <p:nvPr/>
      </p:nvGrpSpPr>
      <p:grpSpPr/>
      <p:sp>
        <p:nvSpPr>
          <p:cNvPr id="2" name="Rectangle 1"/>
          <p:cNvSpPr/>
          <p:nvPr/>
        </p:nvSpPr>
        <p:spPr>
          <a:xfrm>
            <a:off x="0" y="0"/>
            <a:ext cx="12188952" cy="105156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88952" cy="54864"/>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73152"/>
            <a:ext cx="9601200" cy="594360"/>
          </a:xfrm>
          <a:prstGeom prst="rect">
            <a:avLst/>
          </a:prstGeom>
          <a:noFill/>
        </p:spPr>
        <p:txBody>
          <a:bodyPr wrap="square">
            <a:spAutoFit/>
          </a:bodyPr>
          <a:lstStyle/>
          <a:p>
            <a:pPr algn="l"/>
            <a:r>
              <a:rPr sz="2800" b="1" i="0">
                <a:solidFill>
                  <a:srgbClr val="FFFFFF"/>
                </a:solidFill>
              </a:rPr>
              <a:t>Level 4 — Thermal Distortion Mechanics</a:t>
            </a:r>
          </a:p>
        </p:txBody>
      </p:sp>
      <p:sp>
        <p:nvSpPr>
          <p:cNvPr id="5" name="TextBox 4"/>
          <p:cNvSpPr txBox="1"/>
          <p:nvPr/>
        </p:nvSpPr>
        <p:spPr>
          <a:xfrm>
            <a:off x="320040" y="658368"/>
            <a:ext cx="9144000" cy="347472"/>
          </a:xfrm>
          <a:prstGeom prst="rect">
            <a:avLst/>
          </a:prstGeom>
          <a:noFill/>
        </p:spPr>
        <p:txBody>
          <a:bodyPr wrap="square">
            <a:spAutoFit/>
          </a:bodyPr>
          <a:lstStyle/>
          <a:p>
            <a:pPr algn="l"/>
            <a:r>
              <a:rPr sz="1400" b="0" i="1">
                <a:solidFill>
                  <a:srgbClr val="BBDEFB"/>
                </a:solidFill>
              </a:rPr>
              <a:t>From PINN temperature field to CMM-point distortion</a:t>
            </a:r>
          </a:p>
        </p:txBody>
      </p:sp>
      <p:sp>
        <p:nvSpPr>
          <p:cNvPr id="6" name="Rectangle 5"/>
          <p:cNvSpPr/>
          <p:nvPr/>
        </p:nvSpPr>
        <p:spPr>
          <a:xfrm>
            <a:off x="10607040" y="164592"/>
            <a:ext cx="1371600" cy="530352"/>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25328" y="182880"/>
            <a:ext cx="1335024" cy="512064"/>
          </a:xfrm>
          <a:prstGeom prst="rect">
            <a:avLst/>
          </a:prstGeom>
          <a:noFill/>
        </p:spPr>
        <p:txBody>
          <a:bodyPr wrap="square">
            <a:spAutoFit/>
          </a:bodyPr>
          <a:lstStyle/>
          <a:p>
            <a:pPr algn="ctr"/>
            <a:r>
              <a:rPr sz="1800" b="1" i="0">
                <a:solidFill>
                  <a:srgbClr val="FFFFFF"/>
                </a:solidFill>
              </a:rPr>
              <a:t>L4</a:t>
            </a:r>
          </a:p>
        </p:txBody>
      </p:sp>
      <p:sp>
        <p:nvSpPr>
          <p:cNvPr id="8" name="Rectangle 7"/>
          <p:cNvSpPr/>
          <p:nvPr/>
        </p:nvSpPr>
        <p:spPr>
          <a:xfrm>
            <a:off x="0" y="6629400"/>
            <a:ext cx="12188952" cy="22860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6638544"/>
            <a:ext cx="11430000" cy="201168"/>
          </a:xfrm>
          <a:prstGeom prst="rect">
            <a:avLst/>
          </a:prstGeom>
          <a:noFill/>
        </p:spPr>
        <p:txBody>
          <a:bodyPr wrap="square">
            <a:spAutoFit/>
          </a:bodyPr>
          <a:lstStyle/>
          <a:p>
            <a:pPr algn="l"/>
            <a:r>
              <a:rPr sz="800" b="0" i="0">
                <a:solidFill>
                  <a:srgbClr val="90CAF9"/>
                </a:solidFill>
              </a:rPr>
              <a:t>NAS-PINNs Thesis  |  2026</a:t>
            </a:r>
          </a:p>
        </p:txBody>
      </p:sp>
      <p:sp>
        <p:nvSpPr>
          <p:cNvPr id="10" name="TextBox 9"/>
          <p:cNvSpPr txBox="1"/>
          <p:nvPr/>
        </p:nvSpPr>
        <p:spPr>
          <a:xfrm>
            <a:off x="365760" y="1234440"/>
            <a:ext cx="5669280" cy="5029200"/>
          </a:xfrm>
          <a:prstGeom prst="rect">
            <a:avLst/>
          </a:prstGeom>
          <a:noFill/>
        </p:spPr>
        <p:txBody>
          <a:bodyPr wrap="square">
            <a:spAutoFit/>
          </a:bodyPr>
          <a:lstStyle/>
          <a:p>
            <a:pPr>
              <a:spcBef>
                <a:spcPts val="400"/>
              </a:spcBef>
              <a:defRPr sz="1300">
                <a:solidFill>
                  <a:srgbClr val="424242"/>
                </a:solidFill>
              </a:defRPr>
            </a:pPr>
            <a:r>
              <a:t>▸  Input: T(x,y,t=30s) from Level 3 PINN</a:t>
            </a:r>
          </a:p>
          <a:p>
            <a:pPr>
              <a:spcBef>
                <a:spcPts val="400"/>
              </a:spcBef>
              <a:defRPr sz="1300">
                <a:solidFill>
                  <a:srgbClr val="424242"/>
                </a:solidFill>
              </a:defRPr>
            </a:pPr>
            <a:r>
              <a:t>▸  Plane-stress FEM: σ = E·α·ΔT</a:t>
            </a:r>
          </a:p>
          <a:p>
            <a:pPr>
              <a:spcBef>
                <a:spcPts val="400"/>
              </a:spcBef>
              <a:defRPr sz="1300">
                <a:solidFill>
                  <a:srgbClr val="424242"/>
                </a:solidFill>
              </a:defRPr>
            </a:pPr>
            <a:r>
              <a:t>▸  Output: δ (mm) at 47 CMM measurement points</a:t>
            </a:r>
          </a:p>
          <a:p>
            <a:pPr>
              <a:spcBef>
                <a:spcPts val="400"/>
              </a:spcBef>
              <a:defRPr sz="1300">
                <a:solidFill>
                  <a:srgbClr val="424242"/>
                </a:solidFill>
              </a:defRPr>
            </a:pPr>
            <a:r>
              <a:t>▸  Reference: paper Fig 17/18 measured distortion</a:t>
            </a:r>
          </a:p>
          <a:p>
            <a:pPr>
              <a:spcBef>
                <a:spcPts val="400"/>
              </a:spcBef>
              <a:defRPr sz="1300">
                <a:solidFill>
                  <a:srgbClr val="424242"/>
                </a:solidFill>
              </a:defRPr>
            </a:pPr>
          </a:p>
          <a:p>
            <a:pPr>
              <a:spcBef>
                <a:spcPts val="400"/>
              </a:spcBef>
              <a:defRPr sz="1300">
                <a:solidFill>
                  <a:srgbClr val="424242"/>
                </a:solidFill>
              </a:defRPr>
            </a:pPr>
            <a:r>
              <a:t>Distortion Results (mean |δ|):</a:t>
            </a:r>
          </a:p>
          <a:p>
            <a:pPr>
              <a:spcBef>
                <a:spcPts val="400"/>
              </a:spcBef>
              <a:defRPr sz="1300">
                <a:solidFill>
                  <a:srgbClr val="424242"/>
                </a:solidFill>
              </a:defRPr>
            </a:pPr>
            <a:r>
              <a:t>▸  Bayesian:  1.67 mm</a:t>
            </a:r>
          </a:p>
          <a:p>
            <a:pPr>
              <a:spcBef>
                <a:spcPts val="400"/>
              </a:spcBef>
              <a:defRPr sz="1300">
                <a:solidFill>
                  <a:srgbClr val="424242"/>
                </a:solidFill>
              </a:defRPr>
            </a:pPr>
            <a:r>
              <a:t>▸  NSGA-II:   2.81 mm</a:t>
            </a:r>
          </a:p>
          <a:p>
            <a:pPr>
              <a:spcBef>
                <a:spcPts val="400"/>
              </a:spcBef>
              <a:defRPr sz="1300">
                <a:solidFill>
                  <a:srgbClr val="424242"/>
                </a:solidFill>
              </a:defRPr>
            </a:pPr>
            <a:r>
              <a:t>▸  NSGA-III:  4.74 mm</a:t>
            </a:r>
          </a:p>
          <a:p>
            <a:pPr>
              <a:spcBef>
                <a:spcPts val="400"/>
              </a:spcBef>
              <a:defRPr sz="1300">
                <a:solidFill>
                  <a:srgbClr val="424242"/>
                </a:solidFill>
              </a:defRPr>
            </a:pPr>
          </a:p>
          <a:p>
            <a:pPr>
              <a:spcBef>
                <a:spcPts val="400"/>
              </a:spcBef>
              <a:defRPr sz="1300">
                <a:solidFill>
                  <a:srgbClr val="424242"/>
                </a:solidFill>
              </a:defRPr>
            </a:pPr>
            <a:r>
              <a:t>Note: Bayesian thermal accuracy (L2=0.076) → lowest distortion</a:t>
            </a:r>
          </a:p>
          <a:p>
            <a:pPr>
              <a:spcBef>
                <a:spcPts val="400"/>
              </a:spcBef>
              <a:defRPr sz="1300">
                <a:solidFill>
                  <a:srgbClr val="424242"/>
                </a:solidFill>
              </a:defRPr>
            </a:pPr>
            <a:r>
              <a:t>Direct correlation: better PINN → better distortion prediction</a:t>
            </a:r>
          </a:p>
        </p:txBody>
      </p:sp>
      <p:sp>
        <p:nvSpPr>
          <p:cNvPr id="11" name="Rectangle 10"/>
          <p:cNvSpPr/>
          <p:nvPr/>
        </p:nvSpPr>
        <p:spPr>
          <a:xfrm>
            <a:off x="6217920" y="1234440"/>
            <a:ext cx="5760720" cy="5029200"/>
          </a:xfrm>
          <a:prstGeom prst="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1371600"/>
            <a:ext cx="5394960" cy="347472"/>
          </a:xfrm>
          <a:prstGeom prst="rect">
            <a:avLst/>
          </a:prstGeom>
          <a:noFill/>
        </p:spPr>
        <p:txBody>
          <a:bodyPr wrap="square">
            <a:spAutoFit/>
          </a:bodyPr>
          <a:lstStyle/>
          <a:p>
            <a:pPr algn="l"/>
            <a:r>
              <a:rPr sz="1400" b="1" i="0">
                <a:solidFill>
                  <a:srgbClr val="E65100"/>
                </a:solidFill>
              </a:rPr>
              <a:t>Mean Distortion |δ| (mm)</a:t>
            </a:r>
          </a:p>
        </p:txBody>
      </p:sp>
      <p:sp>
        <p:nvSpPr>
          <p:cNvPr id="13" name="Rectangle 12"/>
          <p:cNvSpPr/>
          <p:nvPr/>
        </p:nvSpPr>
        <p:spPr>
          <a:xfrm>
            <a:off x="6492240" y="4140735"/>
            <a:ext cx="1463040" cy="888464"/>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92240" y="3793263"/>
            <a:ext cx="1463040" cy="320040"/>
          </a:xfrm>
          <a:prstGeom prst="rect">
            <a:avLst/>
          </a:prstGeom>
          <a:noFill/>
        </p:spPr>
        <p:txBody>
          <a:bodyPr wrap="square">
            <a:spAutoFit/>
          </a:bodyPr>
          <a:lstStyle/>
          <a:p>
            <a:pPr algn="ctr"/>
            <a:r>
              <a:rPr sz="1200" b="1" i="0">
                <a:solidFill>
                  <a:srgbClr val="1565C0"/>
                </a:solidFill>
              </a:rPr>
              <a:t>1.67 mm</a:t>
            </a:r>
          </a:p>
        </p:txBody>
      </p:sp>
      <p:sp>
        <p:nvSpPr>
          <p:cNvPr id="15" name="TextBox 14"/>
          <p:cNvSpPr txBox="1"/>
          <p:nvPr/>
        </p:nvSpPr>
        <p:spPr>
          <a:xfrm>
            <a:off x="6492240" y="5074920"/>
            <a:ext cx="1463040" cy="548640"/>
          </a:xfrm>
          <a:prstGeom prst="rect">
            <a:avLst/>
          </a:prstGeom>
          <a:noFill/>
        </p:spPr>
        <p:txBody>
          <a:bodyPr wrap="square">
            <a:spAutoFit/>
          </a:bodyPr>
          <a:lstStyle/>
          <a:p>
            <a:pPr algn="ctr"/>
            <a:r>
              <a:rPr sz="1000" b="0" i="0">
                <a:solidFill>
                  <a:srgbClr val="424242"/>
                </a:solidFill>
              </a:rPr>
              <a:t>Bayesian
5×151 relu</a:t>
            </a:r>
          </a:p>
        </p:txBody>
      </p:sp>
      <p:sp>
        <p:nvSpPr>
          <p:cNvPr id="16" name="Rectangle 15"/>
          <p:cNvSpPr/>
          <p:nvPr/>
        </p:nvSpPr>
        <p:spPr>
          <a:xfrm>
            <a:off x="8275320" y="3534239"/>
            <a:ext cx="1463040" cy="1494960"/>
          </a:xfrm>
          <a:prstGeom prst="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75320" y="3186767"/>
            <a:ext cx="1463040" cy="320040"/>
          </a:xfrm>
          <a:prstGeom prst="rect">
            <a:avLst/>
          </a:prstGeom>
          <a:noFill/>
        </p:spPr>
        <p:txBody>
          <a:bodyPr wrap="square">
            <a:spAutoFit/>
          </a:bodyPr>
          <a:lstStyle/>
          <a:p>
            <a:pPr algn="ctr"/>
            <a:r>
              <a:rPr sz="1200" b="1" i="0">
                <a:solidFill>
                  <a:srgbClr val="C62828"/>
                </a:solidFill>
              </a:rPr>
              <a:t>2.81 mm</a:t>
            </a:r>
          </a:p>
        </p:txBody>
      </p:sp>
      <p:sp>
        <p:nvSpPr>
          <p:cNvPr id="18" name="TextBox 17"/>
          <p:cNvSpPr txBox="1"/>
          <p:nvPr/>
        </p:nvSpPr>
        <p:spPr>
          <a:xfrm>
            <a:off x="8275320" y="5074920"/>
            <a:ext cx="1463040" cy="548640"/>
          </a:xfrm>
          <a:prstGeom prst="rect">
            <a:avLst/>
          </a:prstGeom>
          <a:noFill/>
        </p:spPr>
        <p:txBody>
          <a:bodyPr wrap="square">
            <a:spAutoFit/>
          </a:bodyPr>
          <a:lstStyle/>
          <a:p>
            <a:pPr algn="ctr"/>
            <a:r>
              <a:rPr sz="1000" b="0" i="0">
                <a:solidFill>
                  <a:srgbClr val="424242"/>
                </a:solidFill>
              </a:rPr>
              <a:t>NSGA-II
3×153 tanh</a:t>
            </a:r>
          </a:p>
        </p:txBody>
      </p:sp>
      <p:sp>
        <p:nvSpPr>
          <p:cNvPr id="19" name="Rectangle 18"/>
          <p:cNvSpPr/>
          <p:nvPr/>
        </p:nvSpPr>
        <p:spPr>
          <a:xfrm>
            <a:off x="10058400" y="2507451"/>
            <a:ext cx="1463040" cy="2521748"/>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0" y="2159979"/>
            <a:ext cx="1463040" cy="320040"/>
          </a:xfrm>
          <a:prstGeom prst="rect">
            <a:avLst/>
          </a:prstGeom>
          <a:noFill/>
        </p:spPr>
        <p:txBody>
          <a:bodyPr wrap="square">
            <a:spAutoFit/>
          </a:bodyPr>
          <a:lstStyle/>
          <a:p>
            <a:pPr algn="ctr"/>
            <a:r>
              <a:rPr sz="1200" b="1" i="0">
                <a:solidFill>
                  <a:srgbClr val="2E7D32"/>
                </a:solidFill>
              </a:rPr>
              <a:t>4.74 mm</a:t>
            </a:r>
          </a:p>
        </p:txBody>
      </p:sp>
      <p:sp>
        <p:nvSpPr>
          <p:cNvPr id="21" name="TextBox 20"/>
          <p:cNvSpPr txBox="1"/>
          <p:nvPr/>
        </p:nvSpPr>
        <p:spPr>
          <a:xfrm>
            <a:off x="10058400" y="5074920"/>
            <a:ext cx="1463040" cy="548640"/>
          </a:xfrm>
          <a:prstGeom prst="rect">
            <a:avLst/>
          </a:prstGeom>
          <a:noFill/>
        </p:spPr>
        <p:txBody>
          <a:bodyPr wrap="square">
            <a:spAutoFit/>
          </a:bodyPr>
          <a:lstStyle/>
          <a:p>
            <a:pPr algn="ctr"/>
            <a:r>
              <a:rPr sz="1000" b="0" i="0">
                <a:solidFill>
                  <a:srgbClr val="424242"/>
                </a:solidFill>
              </a:rPr>
              <a:t>NSGA-III
3×75 tanh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AFF"/>
        </a:solidFill>
        <a:effectLst/>
      </p:bgPr>
    </p:bg>
    <p:spTree>
      <p:nvGrpSpPr>
        <p:cNvPr id="1" name=""/>
        <p:cNvGrpSpPr/>
        <p:nvPr/>
      </p:nvGrpSpPr>
      <p:grpSpPr/>
      <p:sp>
        <p:nvSpPr>
          <p:cNvPr id="2" name="Rectangle 1"/>
          <p:cNvSpPr/>
          <p:nvPr/>
        </p:nvSpPr>
        <p:spPr>
          <a:xfrm>
            <a:off x="0" y="0"/>
            <a:ext cx="12188952" cy="105156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88952" cy="54864"/>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73152"/>
            <a:ext cx="9601200" cy="594360"/>
          </a:xfrm>
          <a:prstGeom prst="rect">
            <a:avLst/>
          </a:prstGeom>
          <a:noFill/>
        </p:spPr>
        <p:txBody>
          <a:bodyPr wrap="square">
            <a:spAutoFit/>
          </a:bodyPr>
          <a:lstStyle/>
          <a:p>
            <a:pPr algn="l"/>
            <a:r>
              <a:rPr sz="2800" b="1" i="0">
                <a:solidFill>
                  <a:srgbClr val="FFFFFF"/>
                </a:solidFill>
              </a:rPr>
              <a:t>Level 5 — L-BFGS Refinement</a:t>
            </a:r>
          </a:p>
        </p:txBody>
      </p:sp>
      <p:sp>
        <p:nvSpPr>
          <p:cNvPr id="5" name="TextBox 4"/>
          <p:cNvSpPr txBox="1"/>
          <p:nvPr/>
        </p:nvSpPr>
        <p:spPr>
          <a:xfrm>
            <a:off x="320040" y="658368"/>
            <a:ext cx="9144000" cy="347472"/>
          </a:xfrm>
          <a:prstGeom prst="rect">
            <a:avLst/>
          </a:prstGeom>
          <a:noFill/>
        </p:spPr>
        <p:txBody>
          <a:bodyPr wrap="square">
            <a:spAutoFit/>
          </a:bodyPr>
          <a:lstStyle/>
          <a:p>
            <a:pPr algn="l"/>
            <a:r>
              <a:rPr sz="1400" b="0" i="1">
                <a:solidFill>
                  <a:srgbClr val="BBDEFB"/>
                </a:solidFill>
              </a:rPr>
              <a:t>Second-order optimizer applied after Adam convergence</a:t>
            </a:r>
          </a:p>
        </p:txBody>
      </p:sp>
      <p:sp>
        <p:nvSpPr>
          <p:cNvPr id="6" name="Rectangle 5"/>
          <p:cNvSpPr/>
          <p:nvPr/>
        </p:nvSpPr>
        <p:spPr>
          <a:xfrm>
            <a:off x="10607040" y="164592"/>
            <a:ext cx="1371600" cy="530352"/>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25328" y="182880"/>
            <a:ext cx="1335024" cy="512064"/>
          </a:xfrm>
          <a:prstGeom prst="rect">
            <a:avLst/>
          </a:prstGeom>
          <a:noFill/>
        </p:spPr>
        <p:txBody>
          <a:bodyPr wrap="square">
            <a:spAutoFit/>
          </a:bodyPr>
          <a:lstStyle/>
          <a:p>
            <a:pPr algn="ctr"/>
            <a:r>
              <a:rPr sz="1800" b="1" i="0">
                <a:solidFill>
                  <a:srgbClr val="FFFFFF"/>
                </a:solidFill>
              </a:rPr>
              <a:t>L5</a:t>
            </a:r>
          </a:p>
        </p:txBody>
      </p:sp>
      <p:sp>
        <p:nvSpPr>
          <p:cNvPr id="8" name="Rectangle 7"/>
          <p:cNvSpPr/>
          <p:nvPr/>
        </p:nvSpPr>
        <p:spPr>
          <a:xfrm>
            <a:off x="0" y="6629400"/>
            <a:ext cx="12188952" cy="22860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6638544"/>
            <a:ext cx="11430000" cy="201168"/>
          </a:xfrm>
          <a:prstGeom prst="rect">
            <a:avLst/>
          </a:prstGeom>
          <a:noFill/>
        </p:spPr>
        <p:txBody>
          <a:bodyPr wrap="square">
            <a:spAutoFit/>
          </a:bodyPr>
          <a:lstStyle/>
          <a:p>
            <a:pPr algn="l"/>
            <a:r>
              <a:rPr sz="800" b="0" i="0">
                <a:solidFill>
                  <a:srgbClr val="90CAF9"/>
                </a:solidFill>
              </a:rPr>
              <a:t>NAS-PINNs Thesis  |  2026</a:t>
            </a:r>
          </a:p>
        </p:txBody>
      </p:sp>
      <p:sp>
        <p:nvSpPr>
          <p:cNvPr id="10" name="TextBox 9"/>
          <p:cNvSpPr txBox="1"/>
          <p:nvPr/>
        </p:nvSpPr>
        <p:spPr>
          <a:xfrm>
            <a:off x="365760" y="1234440"/>
            <a:ext cx="11430000" cy="1645920"/>
          </a:xfrm>
          <a:prstGeom prst="rect">
            <a:avLst/>
          </a:prstGeom>
          <a:noFill/>
        </p:spPr>
        <p:txBody>
          <a:bodyPr wrap="square">
            <a:spAutoFit/>
          </a:bodyPr>
          <a:lstStyle/>
          <a:p>
            <a:pPr>
              <a:spcBef>
                <a:spcPts val="400"/>
              </a:spcBef>
              <a:defRPr sz="1300">
                <a:solidFill>
                  <a:srgbClr val="424242"/>
                </a:solidFill>
              </a:defRPr>
            </a:pPr>
            <a:r>
              <a:t>▸  Motivation: Adam converges to region, L-BFGS fine-tunes precisely</a:t>
            </a:r>
          </a:p>
          <a:p>
            <a:pPr>
              <a:spcBef>
                <a:spcPts val="400"/>
              </a:spcBef>
              <a:defRPr sz="1300">
                <a:solidFill>
                  <a:srgbClr val="424242"/>
                </a:solidFill>
              </a:defRPr>
            </a:pPr>
            <a:r>
              <a:t>▸  L-BFGS: quasi-Newton, uses curvature information</a:t>
            </a:r>
          </a:p>
          <a:p>
            <a:pPr>
              <a:spcBef>
                <a:spcPts val="400"/>
              </a:spcBef>
              <a:defRPr sz="1300">
                <a:solidFill>
                  <a:srgbClr val="424242"/>
                </a:solidFill>
              </a:defRPr>
            </a:pPr>
            <a:r>
              <a:t>▸  Strong Wolfe line search  |  max_iter = 500</a:t>
            </a:r>
          </a:p>
          <a:p>
            <a:pPr>
              <a:spcBef>
                <a:spcPts val="400"/>
              </a:spcBef>
              <a:defRPr sz="1300">
                <a:solidFill>
                  <a:srgbClr val="424242"/>
                </a:solidFill>
              </a:defRPr>
            </a:pPr>
            <a:r>
              <a:t>▸  Applied to Level 1 Bayesian, NSGA-II, NSGA-III models</a:t>
            </a:r>
          </a:p>
        </p:txBody>
      </p:sp>
      <p:sp>
        <p:nvSpPr>
          <p:cNvPr id="11" name="Rectangle 10"/>
          <p:cNvSpPr/>
          <p:nvPr/>
        </p:nvSpPr>
        <p:spPr>
          <a:xfrm>
            <a:off x="365760" y="2926080"/>
            <a:ext cx="1801368" cy="448056"/>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3008376"/>
            <a:ext cx="1737360" cy="365760"/>
          </a:xfrm>
          <a:prstGeom prst="rect">
            <a:avLst/>
          </a:prstGeom>
          <a:noFill/>
        </p:spPr>
        <p:txBody>
          <a:bodyPr wrap="square">
            <a:spAutoFit/>
          </a:bodyPr>
          <a:lstStyle/>
          <a:p>
            <a:pPr algn="ctr"/>
            <a:r>
              <a:rPr sz="1100" b="1" i="0">
                <a:solidFill>
                  <a:srgbClr val="FFFFFF"/>
                </a:solidFill>
              </a:rPr>
              <a:t>Optimizer</a:t>
            </a:r>
          </a:p>
        </p:txBody>
      </p:sp>
      <p:sp>
        <p:nvSpPr>
          <p:cNvPr id="13" name="Rectangle 12"/>
          <p:cNvSpPr/>
          <p:nvPr/>
        </p:nvSpPr>
        <p:spPr>
          <a:xfrm>
            <a:off x="2194560" y="2926080"/>
            <a:ext cx="1069848" cy="448056"/>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240280" y="3008376"/>
            <a:ext cx="1005840" cy="365760"/>
          </a:xfrm>
          <a:prstGeom prst="rect">
            <a:avLst/>
          </a:prstGeom>
          <a:noFill/>
        </p:spPr>
        <p:txBody>
          <a:bodyPr wrap="square">
            <a:spAutoFit/>
          </a:bodyPr>
          <a:lstStyle/>
          <a:p>
            <a:pPr algn="ctr"/>
            <a:r>
              <a:rPr sz="1100" b="1" i="0">
                <a:solidFill>
                  <a:srgbClr val="FFFFFF"/>
                </a:solidFill>
              </a:rPr>
              <a:t>Adam L2</a:t>
            </a:r>
          </a:p>
        </p:txBody>
      </p:sp>
      <p:sp>
        <p:nvSpPr>
          <p:cNvPr id="15" name="Rectangle 14"/>
          <p:cNvSpPr/>
          <p:nvPr/>
        </p:nvSpPr>
        <p:spPr>
          <a:xfrm>
            <a:off x="3291840" y="2926080"/>
            <a:ext cx="1161288" cy="448056"/>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37560" y="3008376"/>
            <a:ext cx="1097280" cy="365760"/>
          </a:xfrm>
          <a:prstGeom prst="rect">
            <a:avLst/>
          </a:prstGeom>
          <a:noFill/>
        </p:spPr>
        <p:txBody>
          <a:bodyPr wrap="square">
            <a:spAutoFit/>
          </a:bodyPr>
          <a:lstStyle/>
          <a:p>
            <a:pPr algn="ctr"/>
            <a:r>
              <a:rPr sz="1100" b="1" i="0">
                <a:solidFill>
                  <a:srgbClr val="FFFFFF"/>
                </a:solidFill>
              </a:rPr>
              <a:t>Adam MAE</a:t>
            </a:r>
          </a:p>
        </p:txBody>
      </p:sp>
      <p:sp>
        <p:nvSpPr>
          <p:cNvPr id="17" name="Rectangle 16"/>
          <p:cNvSpPr/>
          <p:nvPr/>
        </p:nvSpPr>
        <p:spPr>
          <a:xfrm>
            <a:off x="4480560" y="2926080"/>
            <a:ext cx="1161288" cy="448056"/>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26280" y="3008376"/>
            <a:ext cx="1097280" cy="365760"/>
          </a:xfrm>
          <a:prstGeom prst="rect">
            <a:avLst/>
          </a:prstGeom>
          <a:noFill/>
        </p:spPr>
        <p:txBody>
          <a:bodyPr wrap="square">
            <a:spAutoFit/>
          </a:bodyPr>
          <a:lstStyle/>
          <a:p>
            <a:pPr algn="ctr"/>
            <a:r>
              <a:rPr sz="1100" b="1" i="0">
                <a:solidFill>
                  <a:srgbClr val="FFFFFF"/>
                </a:solidFill>
              </a:rPr>
              <a:t>L-BFGS L2</a:t>
            </a:r>
          </a:p>
        </p:txBody>
      </p:sp>
      <p:sp>
        <p:nvSpPr>
          <p:cNvPr id="19" name="Rectangle 18"/>
          <p:cNvSpPr/>
          <p:nvPr/>
        </p:nvSpPr>
        <p:spPr>
          <a:xfrm>
            <a:off x="5669280" y="2926080"/>
            <a:ext cx="1344168" cy="448056"/>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715000" y="3008376"/>
            <a:ext cx="1280160" cy="365760"/>
          </a:xfrm>
          <a:prstGeom prst="rect">
            <a:avLst/>
          </a:prstGeom>
          <a:noFill/>
        </p:spPr>
        <p:txBody>
          <a:bodyPr wrap="square">
            <a:spAutoFit/>
          </a:bodyPr>
          <a:lstStyle/>
          <a:p>
            <a:pPr algn="ctr"/>
            <a:r>
              <a:rPr sz="1100" b="1" i="0">
                <a:solidFill>
                  <a:srgbClr val="FFFFFF"/>
                </a:solidFill>
              </a:rPr>
              <a:t>L-BFGS MAE</a:t>
            </a:r>
          </a:p>
        </p:txBody>
      </p:sp>
      <p:sp>
        <p:nvSpPr>
          <p:cNvPr id="21" name="Rectangle 20"/>
          <p:cNvSpPr/>
          <p:nvPr/>
        </p:nvSpPr>
        <p:spPr>
          <a:xfrm>
            <a:off x="7040880" y="2926080"/>
            <a:ext cx="1344168" cy="448056"/>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86600" y="3008376"/>
            <a:ext cx="1280160" cy="365760"/>
          </a:xfrm>
          <a:prstGeom prst="rect">
            <a:avLst/>
          </a:prstGeom>
          <a:noFill/>
        </p:spPr>
        <p:txBody>
          <a:bodyPr wrap="square">
            <a:spAutoFit/>
          </a:bodyPr>
          <a:lstStyle/>
          <a:p>
            <a:pPr algn="ctr"/>
            <a:r>
              <a:rPr sz="1100" b="1" i="0">
                <a:solidFill>
                  <a:srgbClr val="FFFFFF"/>
                </a:solidFill>
              </a:rPr>
              <a:t>Improvement</a:t>
            </a:r>
          </a:p>
        </p:txBody>
      </p:sp>
      <p:sp>
        <p:nvSpPr>
          <p:cNvPr id="23" name="Rectangle 22"/>
          <p:cNvSpPr/>
          <p:nvPr/>
        </p:nvSpPr>
        <p:spPr>
          <a:xfrm>
            <a:off x="365760" y="3401568"/>
            <a:ext cx="1801368" cy="448056"/>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480" y="3483864"/>
            <a:ext cx="1737360" cy="365760"/>
          </a:xfrm>
          <a:prstGeom prst="rect">
            <a:avLst/>
          </a:prstGeom>
          <a:noFill/>
        </p:spPr>
        <p:txBody>
          <a:bodyPr wrap="square">
            <a:spAutoFit/>
          </a:bodyPr>
          <a:lstStyle/>
          <a:p>
            <a:pPr algn="ctr"/>
            <a:r>
              <a:rPr sz="1100" b="0" i="0">
                <a:solidFill>
                  <a:srgbClr val="424242"/>
                </a:solidFill>
              </a:rPr>
              <a:t>Bayesian 5×151</a:t>
            </a:r>
          </a:p>
        </p:txBody>
      </p:sp>
      <p:sp>
        <p:nvSpPr>
          <p:cNvPr id="25" name="Rectangle 24"/>
          <p:cNvSpPr/>
          <p:nvPr/>
        </p:nvSpPr>
        <p:spPr>
          <a:xfrm>
            <a:off x="2194560" y="3401568"/>
            <a:ext cx="1069848" cy="448056"/>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240280" y="3483864"/>
            <a:ext cx="1005840" cy="365760"/>
          </a:xfrm>
          <a:prstGeom prst="rect">
            <a:avLst/>
          </a:prstGeom>
          <a:noFill/>
        </p:spPr>
        <p:txBody>
          <a:bodyPr wrap="square">
            <a:spAutoFit/>
          </a:bodyPr>
          <a:lstStyle/>
          <a:p>
            <a:pPr algn="ctr"/>
            <a:r>
              <a:rPr sz="1100" b="0" i="0">
                <a:solidFill>
                  <a:srgbClr val="424242"/>
                </a:solidFill>
              </a:rPr>
              <a:t>0.076</a:t>
            </a:r>
          </a:p>
        </p:txBody>
      </p:sp>
      <p:sp>
        <p:nvSpPr>
          <p:cNvPr id="27" name="Rectangle 26"/>
          <p:cNvSpPr/>
          <p:nvPr/>
        </p:nvSpPr>
        <p:spPr>
          <a:xfrm>
            <a:off x="3291840" y="3401568"/>
            <a:ext cx="1161288" cy="448056"/>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337560" y="3483864"/>
            <a:ext cx="1097280" cy="365760"/>
          </a:xfrm>
          <a:prstGeom prst="rect">
            <a:avLst/>
          </a:prstGeom>
          <a:noFill/>
        </p:spPr>
        <p:txBody>
          <a:bodyPr wrap="square">
            <a:spAutoFit/>
          </a:bodyPr>
          <a:lstStyle/>
          <a:p>
            <a:pPr algn="ctr"/>
            <a:r>
              <a:rPr sz="1100" b="0" i="0">
                <a:solidFill>
                  <a:srgbClr val="424242"/>
                </a:solidFill>
              </a:rPr>
              <a:t>39.1°C</a:t>
            </a:r>
          </a:p>
        </p:txBody>
      </p:sp>
      <p:sp>
        <p:nvSpPr>
          <p:cNvPr id="29" name="Rectangle 28"/>
          <p:cNvSpPr/>
          <p:nvPr/>
        </p:nvSpPr>
        <p:spPr>
          <a:xfrm>
            <a:off x="4480560" y="3401568"/>
            <a:ext cx="1161288" cy="448056"/>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26280" y="3483864"/>
            <a:ext cx="1097280" cy="365760"/>
          </a:xfrm>
          <a:prstGeom prst="rect">
            <a:avLst/>
          </a:prstGeom>
          <a:noFill/>
        </p:spPr>
        <p:txBody>
          <a:bodyPr wrap="square">
            <a:spAutoFit/>
          </a:bodyPr>
          <a:lstStyle/>
          <a:p>
            <a:pPr algn="ctr"/>
            <a:r>
              <a:rPr sz="1100" b="0" i="0">
                <a:solidFill>
                  <a:srgbClr val="1B5E20"/>
                </a:solidFill>
              </a:rPr>
              <a:t>0.030</a:t>
            </a:r>
          </a:p>
        </p:txBody>
      </p:sp>
      <p:sp>
        <p:nvSpPr>
          <p:cNvPr id="31" name="Rectangle 30"/>
          <p:cNvSpPr/>
          <p:nvPr/>
        </p:nvSpPr>
        <p:spPr>
          <a:xfrm>
            <a:off x="5669280" y="3401568"/>
            <a:ext cx="1344168" cy="448056"/>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715000" y="3483864"/>
            <a:ext cx="1280160" cy="365760"/>
          </a:xfrm>
          <a:prstGeom prst="rect">
            <a:avLst/>
          </a:prstGeom>
          <a:noFill/>
        </p:spPr>
        <p:txBody>
          <a:bodyPr wrap="square">
            <a:spAutoFit/>
          </a:bodyPr>
          <a:lstStyle/>
          <a:p>
            <a:pPr algn="ctr"/>
            <a:r>
              <a:rPr sz="1100" b="0" i="0">
                <a:solidFill>
                  <a:srgbClr val="1B5E20"/>
                </a:solidFill>
              </a:rPr>
              <a:t>14.4°C</a:t>
            </a:r>
          </a:p>
        </p:txBody>
      </p:sp>
      <p:sp>
        <p:nvSpPr>
          <p:cNvPr id="33" name="Rectangle 32"/>
          <p:cNvSpPr/>
          <p:nvPr/>
        </p:nvSpPr>
        <p:spPr>
          <a:xfrm>
            <a:off x="7040880" y="3401568"/>
            <a:ext cx="1344168" cy="448056"/>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86600" y="3483864"/>
            <a:ext cx="1280160" cy="365760"/>
          </a:xfrm>
          <a:prstGeom prst="rect">
            <a:avLst/>
          </a:prstGeom>
          <a:noFill/>
        </p:spPr>
        <p:txBody>
          <a:bodyPr wrap="square">
            <a:spAutoFit/>
          </a:bodyPr>
          <a:lstStyle/>
          <a:p>
            <a:pPr algn="ctr"/>
            <a:r>
              <a:rPr sz="1100" b="1" i="0">
                <a:solidFill>
                  <a:srgbClr val="424242"/>
                </a:solidFill>
              </a:rPr>
              <a:t>2.6×↓</a:t>
            </a:r>
          </a:p>
        </p:txBody>
      </p:sp>
      <p:sp>
        <p:nvSpPr>
          <p:cNvPr id="35" name="Rectangle 34"/>
          <p:cNvSpPr/>
          <p:nvPr/>
        </p:nvSpPr>
        <p:spPr>
          <a:xfrm>
            <a:off x="365760" y="3877056"/>
            <a:ext cx="1801368" cy="448056"/>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11480" y="3959352"/>
            <a:ext cx="1737360" cy="365760"/>
          </a:xfrm>
          <a:prstGeom prst="rect">
            <a:avLst/>
          </a:prstGeom>
          <a:noFill/>
        </p:spPr>
        <p:txBody>
          <a:bodyPr wrap="square">
            <a:spAutoFit/>
          </a:bodyPr>
          <a:lstStyle/>
          <a:p>
            <a:pPr algn="ctr"/>
            <a:r>
              <a:rPr sz="1100" b="0" i="0">
                <a:solidFill>
                  <a:srgbClr val="424242"/>
                </a:solidFill>
              </a:rPr>
              <a:t>NSGA-II  3×153</a:t>
            </a:r>
          </a:p>
        </p:txBody>
      </p:sp>
      <p:sp>
        <p:nvSpPr>
          <p:cNvPr id="37" name="Rectangle 36"/>
          <p:cNvSpPr/>
          <p:nvPr/>
        </p:nvSpPr>
        <p:spPr>
          <a:xfrm>
            <a:off x="2194560" y="3877056"/>
            <a:ext cx="1069848" cy="448056"/>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240280" y="3959352"/>
            <a:ext cx="1005840" cy="365760"/>
          </a:xfrm>
          <a:prstGeom prst="rect">
            <a:avLst/>
          </a:prstGeom>
          <a:noFill/>
        </p:spPr>
        <p:txBody>
          <a:bodyPr wrap="square">
            <a:spAutoFit/>
          </a:bodyPr>
          <a:lstStyle/>
          <a:p>
            <a:pPr algn="ctr"/>
            <a:r>
              <a:rPr sz="1100" b="0" i="0">
                <a:solidFill>
                  <a:srgbClr val="424242"/>
                </a:solidFill>
              </a:rPr>
              <a:t>0.252</a:t>
            </a:r>
          </a:p>
        </p:txBody>
      </p:sp>
      <p:sp>
        <p:nvSpPr>
          <p:cNvPr id="39" name="Rectangle 38"/>
          <p:cNvSpPr/>
          <p:nvPr/>
        </p:nvSpPr>
        <p:spPr>
          <a:xfrm>
            <a:off x="3291840" y="3877056"/>
            <a:ext cx="1161288" cy="448056"/>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37560" y="3959352"/>
            <a:ext cx="1097280" cy="365760"/>
          </a:xfrm>
          <a:prstGeom prst="rect">
            <a:avLst/>
          </a:prstGeom>
          <a:noFill/>
        </p:spPr>
        <p:txBody>
          <a:bodyPr wrap="square">
            <a:spAutoFit/>
          </a:bodyPr>
          <a:lstStyle/>
          <a:p>
            <a:pPr algn="ctr"/>
            <a:r>
              <a:rPr sz="1100" b="0" i="0">
                <a:solidFill>
                  <a:srgbClr val="424242"/>
                </a:solidFill>
              </a:rPr>
              <a:t>132.6°C</a:t>
            </a:r>
          </a:p>
        </p:txBody>
      </p:sp>
      <p:sp>
        <p:nvSpPr>
          <p:cNvPr id="41" name="Rectangle 40"/>
          <p:cNvSpPr/>
          <p:nvPr/>
        </p:nvSpPr>
        <p:spPr>
          <a:xfrm>
            <a:off x="4480560" y="3877056"/>
            <a:ext cx="1161288" cy="448056"/>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526280" y="3959352"/>
            <a:ext cx="1097280" cy="365760"/>
          </a:xfrm>
          <a:prstGeom prst="rect">
            <a:avLst/>
          </a:prstGeom>
          <a:noFill/>
        </p:spPr>
        <p:txBody>
          <a:bodyPr wrap="square">
            <a:spAutoFit/>
          </a:bodyPr>
          <a:lstStyle/>
          <a:p>
            <a:pPr algn="ctr"/>
            <a:r>
              <a:rPr sz="1100" b="0" i="0">
                <a:solidFill>
                  <a:srgbClr val="1B5E20"/>
                </a:solidFill>
              </a:rPr>
              <a:t>0.055</a:t>
            </a:r>
          </a:p>
        </p:txBody>
      </p:sp>
      <p:sp>
        <p:nvSpPr>
          <p:cNvPr id="43" name="Rectangle 42"/>
          <p:cNvSpPr/>
          <p:nvPr/>
        </p:nvSpPr>
        <p:spPr>
          <a:xfrm>
            <a:off x="5669280" y="3877056"/>
            <a:ext cx="1344168" cy="448056"/>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715000" y="3959352"/>
            <a:ext cx="1280160" cy="365760"/>
          </a:xfrm>
          <a:prstGeom prst="rect">
            <a:avLst/>
          </a:prstGeom>
          <a:noFill/>
        </p:spPr>
        <p:txBody>
          <a:bodyPr wrap="square">
            <a:spAutoFit/>
          </a:bodyPr>
          <a:lstStyle/>
          <a:p>
            <a:pPr algn="ctr"/>
            <a:r>
              <a:rPr sz="1100" b="0" i="0">
                <a:solidFill>
                  <a:srgbClr val="1B5E20"/>
                </a:solidFill>
              </a:rPr>
              <a:t>28.7°C</a:t>
            </a:r>
          </a:p>
        </p:txBody>
      </p:sp>
      <p:sp>
        <p:nvSpPr>
          <p:cNvPr id="45" name="Rectangle 44"/>
          <p:cNvSpPr/>
          <p:nvPr/>
        </p:nvSpPr>
        <p:spPr>
          <a:xfrm>
            <a:off x="7040880" y="3877056"/>
            <a:ext cx="1344168" cy="448056"/>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086600" y="3959352"/>
            <a:ext cx="1280160" cy="365760"/>
          </a:xfrm>
          <a:prstGeom prst="rect">
            <a:avLst/>
          </a:prstGeom>
          <a:noFill/>
        </p:spPr>
        <p:txBody>
          <a:bodyPr wrap="square">
            <a:spAutoFit/>
          </a:bodyPr>
          <a:lstStyle/>
          <a:p>
            <a:pPr algn="ctr"/>
            <a:r>
              <a:rPr sz="1100" b="1" i="0">
                <a:solidFill>
                  <a:srgbClr val="424242"/>
                </a:solidFill>
              </a:rPr>
              <a:t>4.5×↓</a:t>
            </a:r>
          </a:p>
        </p:txBody>
      </p:sp>
      <p:sp>
        <p:nvSpPr>
          <p:cNvPr id="47" name="Rectangle 46"/>
          <p:cNvSpPr/>
          <p:nvPr/>
        </p:nvSpPr>
        <p:spPr>
          <a:xfrm>
            <a:off x="365760" y="4352544"/>
            <a:ext cx="1801368" cy="448056"/>
          </a:xfrm>
          <a:prstGeom prst="rect">
            <a:avLst/>
          </a:prstGeom>
          <a:solidFill>
            <a:srgbClr val="F1F8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11480" y="4434840"/>
            <a:ext cx="1737360" cy="365760"/>
          </a:xfrm>
          <a:prstGeom prst="rect">
            <a:avLst/>
          </a:prstGeom>
          <a:noFill/>
        </p:spPr>
        <p:txBody>
          <a:bodyPr wrap="square">
            <a:spAutoFit/>
          </a:bodyPr>
          <a:lstStyle/>
          <a:p>
            <a:pPr algn="ctr"/>
            <a:r>
              <a:rPr sz="1100" b="0" i="0">
                <a:solidFill>
                  <a:srgbClr val="424242"/>
                </a:solidFill>
              </a:rPr>
              <a:t>NSGA-III 3×75</a:t>
            </a:r>
          </a:p>
        </p:txBody>
      </p:sp>
      <p:sp>
        <p:nvSpPr>
          <p:cNvPr id="49" name="Rectangle 48"/>
          <p:cNvSpPr/>
          <p:nvPr/>
        </p:nvSpPr>
        <p:spPr>
          <a:xfrm>
            <a:off x="2194560" y="4352544"/>
            <a:ext cx="1069848" cy="448056"/>
          </a:xfrm>
          <a:prstGeom prst="rect">
            <a:avLst/>
          </a:prstGeom>
          <a:solidFill>
            <a:srgbClr val="F1F8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240280" y="4434840"/>
            <a:ext cx="1005840" cy="365760"/>
          </a:xfrm>
          <a:prstGeom prst="rect">
            <a:avLst/>
          </a:prstGeom>
          <a:noFill/>
        </p:spPr>
        <p:txBody>
          <a:bodyPr wrap="square">
            <a:spAutoFit/>
          </a:bodyPr>
          <a:lstStyle/>
          <a:p>
            <a:pPr algn="ctr"/>
            <a:r>
              <a:rPr sz="1100" b="0" i="0">
                <a:solidFill>
                  <a:srgbClr val="424242"/>
                </a:solidFill>
              </a:rPr>
              <a:t>0.513</a:t>
            </a:r>
          </a:p>
        </p:txBody>
      </p:sp>
      <p:sp>
        <p:nvSpPr>
          <p:cNvPr id="51" name="Rectangle 50"/>
          <p:cNvSpPr/>
          <p:nvPr/>
        </p:nvSpPr>
        <p:spPr>
          <a:xfrm>
            <a:off x="3291840" y="4352544"/>
            <a:ext cx="1161288" cy="448056"/>
          </a:xfrm>
          <a:prstGeom prst="rect">
            <a:avLst/>
          </a:prstGeom>
          <a:solidFill>
            <a:srgbClr val="F1F8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337560" y="4434840"/>
            <a:ext cx="1097280" cy="365760"/>
          </a:xfrm>
          <a:prstGeom prst="rect">
            <a:avLst/>
          </a:prstGeom>
          <a:noFill/>
        </p:spPr>
        <p:txBody>
          <a:bodyPr wrap="square">
            <a:spAutoFit/>
          </a:bodyPr>
          <a:lstStyle/>
          <a:p>
            <a:pPr algn="ctr"/>
            <a:r>
              <a:rPr sz="1100" b="0" i="0">
                <a:solidFill>
                  <a:srgbClr val="424242"/>
                </a:solidFill>
              </a:rPr>
              <a:t>270.3°C</a:t>
            </a:r>
          </a:p>
        </p:txBody>
      </p:sp>
      <p:sp>
        <p:nvSpPr>
          <p:cNvPr id="53" name="Rectangle 52"/>
          <p:cNvSpPr/>
          <p:nvPr/>
        </p:nvSpPr>
        <p:spPr>
          <a:xfrm>
            <a:off x="4480560" y="4352544"/>
            <a:ext cx="1161288" cy="448056"/>
          </a:xfrm>
          <a:prstGeom prst="rect">
            <a:avLst/>
          </a:prstGeom>
          <a:solidFill>
            <a:srgbClr val="F1F8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526280" y="4434840"/>
            <a:ext cx="1097280" cy="365760"/>
          </a:xfrm>
          <a:prstGeom prst="rect">
            <a:avLst/>
          </a:prstGeom>
          <a:noFill/>
        </p:spPr>
        <p:txBody>
          <a:bodyPr wrap="square">
            <a:spAutoFit/>
          </a:bodyPr>
          <a:lstStyle/>
          <a:p>
            <a:pPr algn="ctr"/>
            <a:r>
              <a:rPr sz="1100" b="0" i="0">
                <a:solidFill>
                  <a:srgbClr val="1B5E20"/>
                </a:solidFill>
              </a:rPr>
              <a:t>0.259</a:t>
            </a:r>
          </a:p>
        </p:txBody>
      </p:sp>
      <p:sp>
        <p:nvSpPr>
          <p:cNvPr id="55" name="Rectangle 54"/>
          <p:cNvSpPr/>
          <p:nvPr/>
        </p:nvSpPr>
        <p:spPr>
          <a:xfrm>
            <a:off x="5669280" y="4352544"/>
            <a:ext cx="1344168" cy="448056"/>
          </a:xfrm>
          <a:prstGeom prst="rect">
            <a:avLst/>
          </a:prstGeom>
          <a:solidFill>
            <a:srgbClr val="F1F8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5715000" y="4434840"/>
            <a:ext cx="1280160" cy="365760"/>
          </a:xfrm>
          <a:prstGeom prst="rect">
            <a:avLst/>
          </a:prstGeom>
          <a:noFill/>
        </p:spPr>
        <p:txBody>
          <a:bodyPr wrap="square">
            <a:spAutoFit/>
          </a:bodyPr>
          <a:lstStyle/>
          <a:p>
            <a:pPr algn="ctr"/>
            <a:r>
              <a:rPr sz="1100" b="0" i="0">
                <a:solidFill>
                  <a:srgbClr val="1B5E20"/>
                </a:solidFill>
              </a:rPr>
              <a:t>136.4°C</a:t>
            </a:r>
          </a:p>
        </p:txBody>
      </p:sp>
      <p:sp>
        <p:nvSpPr>
          <p:cNvPr id="57" name="Rectangle 56"/>
          <p:cNvSpPr/>
          <p:nvPr/>
        </p:nvSpPr>
        <p:spPr>
          <a:xfrm>
            <a:off x="7040880" y="4352544"/>
            <a:ext cx="1344168" cy="448056"/>
          </a:xfrm>
          <a:prstGeom prst="rect">
            <a:avLst/>
          </a:prstGeom>
          <a:solidFill>
            <a:srgbClr val="F1F8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086600" y="4434840"/>
            <a:ext cx="1280160" cy="365760"/>
          </a:xfrm>
          <a:prstGeom prst="rect">
            <a:avLst/>
          </a:prstGeom>
          <a:noFill/>
        </p:spPr>
        <p:txBody>
          <a:bodyPr wrap="square">
            <a:spAutoFit/>
          </a:bodyPr>
          <a:lstStyle/>
          <a:p>
            <a:pPr algn="ctr"/>
            <a:r>
              <a:rPr sz="1100" b="1" i="0">
                <a:solidFill>
                  <a:srgbClr val="424242"/>
                </a:solidFill>
              </a:rPr>
              <a:t>2.0×↓</a:t>
            </a:r>
          </a:p>
        </p:txBody>
      </p:sp>
      <p:sp>
        <p:nvSpPr>
          <p:cNvPr id="59" name="Rectangle 58"/>
          <p:cNvSpPr/>
          <p:nvPr/>
        </p:nvSpPr>
        <p:spPr>
          <a:xfrm>
            <a:off x="365760" y="4828032"/>
            <a:ext cx="1801368" cy="448056"/>
          </a:xfrm>
          <a:prstGeom prst="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411480" y="4910328"/>
            <a:ext cx="1737360" cy="365760"/>
          </a:xfrm>
          <a:prstGeom prst="rect">
            <a:avLst/>
          </a:prstGeom>
          <a:noFill/>
        </p:spPr>
        <p:txBody>
          <a:bodyPr wrap="square">
            <a:spAutoFit/>
          </a:bodyPr>
          <a:lstStyle/>
          <a:p>
            <a:pPr algn="ctr"/>
            <a:r>
              <a:rPr sz="1100" b="1" i="0">
                <a:solidFill>
                  <a:srgbClr val="424242"/>
                </a:solidFill>
              </a:rPr>
              <a:t>Target</a:t>
            </a:r>
          </a:p>
        </p:txBody>
      </p:sp>
      <p:sp>
        <p:nvSpPr>
          <p:cNvPr id="61" name="Rectangle 60"/>
          <p:cNvSpPr/>
          <p:nvPr/>
        </p:nvSpPr>
        <p:spPr>
          <a:xfrm>
            <a:off x="2194560" y="4828032"/>
            <a:ext cx="1069848" cy="448056"/>
          </a:xfrm>
          <a:prstGeom prst="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2240280" y="4910328"/>
            <a:ext cx="1005840" cy="365760"/>
          </a:xfrm>
          <a:prstGeom prst="rect">
            <a:avLst/>
          </a:prstGeom>
          <a:noFill/>
        </p:spPr>
        <p:txBody>
          <a:bodyPr wrap="square">
            <a:spAutoFit/>
          </a:bodyPr>
          <a:lstStyle/>
          <a:p>
            <a:pPr algn="ctr"/>
            <a:r>
              <a:rPr sz="1100" b="1" i="0">
                <a:solidFill>
                  <a:srgbClr val="424242"/>
                </a:solidFill>
              </a:rPr>
              <a:t>—</a:t>
            </a:r>
          </a:p>
        </p:txBody>
      </p:sp>
      <p:sp>
        <p:nvSpPr>
          <p:cNvPr id="63" name="Rectangle 62"/>
          <p:cNvSpPr/>
          <p:nvPr/>
        </p:nvSpPr>
        <p:spPr>
          <a:xfrm>
            <a:off x="3291840" y="4828032"/>
            <a:ext cx="1161288" cy="448056"/>
          </a:xfrm>
          <a:prstGeom prst="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3337560" y="4910328"/>
            <a:ext cx="1097280" cy="365760"/>
          </a:xfrm>
          <a:prstGeom prst="rect">
            <a:avLst/>
          </a:prstGeom>
          <a:noFill/>
        </p:spPr>
        <p:txBody>
          <a:bodyPr wrap="square">
            <a:spAutoFit/>
          </a:bodyPr>
          <a:lstStyle/>
          <a:p>
            <a:pPr algn="ctr"/>
            <a:r>
              <a:rPr sz="1100" b="1" i="0">
                <a:solidFill>
                  <a:srgbClr val="424242"/>
                </a:solidFill>
              </a:rPr>
              <a:t>—</a:t>
            </a:r>
          </a:p>
        </p:txBody>
      </p:sp>
      <p:sp>
        <p:nvSpPr>
          <p:cNvPr id="65" name="Rectangle 64"/>
          <p:cNvSpPr/>
          <p:nvPr/>
        </p:nvSpPr>
        <p:spPr>
          <a:xfrm>
            <a:off x="4480560" y="4828032"/>
            <a:ext cx="1161288" cy="448056"/>
          </a:xfrm>
          <a:prstGeom prst="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4526280" y="4910328"/>
            <a:ext cx="1097280" cy="365760"/>
          </a:xfrm>
          <a:prstGeom prst="rect">
            <a:avLst/>
          </a:prstGeom>
          <a:noFill/>
        </p:spPr>
        <p:txBody>
          <a:bodyPr wrap="square">
            <a:spAutoFit/>
          </a:bodyPr>
          <a:lstStyle/>
          <a:p>
            <a:pPr algn="ctr"/>
            <a:r>
              <a:rPr sz="1100" b="1" i="0">
                <a:solidFill>
                  <a:srgbClr val="1B5E20"/>
                </a:solidFill>
              </a:rPr>
              <a:t>&lt; 0.100</a:t>
            </a:r>
          </a:p>
        </p:txBody>
      </p:sp>
      <p:sp>
        <p:nvSpPr>
          <p:cNvPr id="67" name="Rectangle 66"/>
          <p:cNvSpPr/>
          <p:nvPr/>
        </p:nvSpPr>
        <p:spPr>
          <a:xfrm>
            <a:off x="5669280" y="4828032"/>
            <a:ext cx="1344168" cy="448056"/>
          </a:xfrm>
          <a:prstGeom prst="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5715000" y="4910328"/>
            <a:ext cx="1280160" cy="365760"/>
          </a:xfrm>
          <a:prstGeom prst="rect">
            <a:avLst/>
          </a:prstGeom>
          <a:noFill/>
        </p:spPr>
        <p:txBody>
          <a:bodyPr wrap="square">
            <a:spAutoFit/>
          </a:bodyPr>
          <a:lstStyle/>
          <a:p>
            <a:pPr algn="ctr"/>
            <a:r>
              <a:rPr sz="1100" b="1" i="0">
                <a:solidFill>
                  <a:srgbClr val="1B5E20"/>
                </a:solidFill>
              </a:rPr>
              <a:t>&lt; 50°C</a:t>
            </a:r>
          </a:p>
        </p:txBody>
      </p:sp>
      <p:sp>
        <p:nvSpPr>
          <p:cNvPr id="69" name="Rectangle 68"/>
          <p:cNvSpPr/>
          <p:nvPr/>
        </p:nvSpPr>
        <p:spPr>
          <a:xfrm>
            <a:off x="7040880" y="4828032"/>
            <a:ext cx="1344168" cy="448056"/>
          </a:xfrm>
          <a:prstGeom prst="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086600" y="4910328"/>
            <a:ext cx="1280160" cy="365760"/>
          </a:xfrm>
          <a:prstGeom prst="rect">
            <a:avLst/>
          </a:prstGeom>
          <a:noFill/>
        </p:spPr>
        <p:txBody>
          <a:bodyPr wrap="square">
            <a:spAutoFit/>
          </a:bodyPr>
          <a:lstStyle/>
          <a:p>
            <a:pPr algn="ctr"/>
            <a:r>
              <a:rPr sz="1100" b="1" i="0">
                <a:solidFill>
                  <a:srgbClr val="424242"/>
                </a:solidFill>
              </a:rPr>
              <a:t>—</a:t>
            </a:r>
          </a:p>
        </p:txBody>
      </p:sp>
      <p:sp>
        <p:nvSpPr>
          <p:cNvPr id="71" name="TextBox 70"/>
          <p:cNvSpPr txBox="1"/>
          <p:nvPr/>
        </p:nvSpPr>
        <p:spPr>
          <a:xfrm>
            <a:off x="365760" y="5577840"/>
            <a:ext cx="11430000" cy="594360"/>
          </a:xfrm>
          <a:prstGeom prst="rect">
            <a:avLst/>
          </a:prstGeom>
          <a:noFill/>
        </p:spPr>
        <p:txBody>
          <a:bodyPr wrap="square">
            <a:spAutoFit/>
          </a:bodyPr>
          <a:lstStyle/>
          <a:p>
            <a:pPr algn="ctr"/>
            <a:r>
              <a:rPr sz="1200" b="1" i="0">
                <a:solidFill>
                  <a:srgbClr val="1565C0"/>
                </a:solidFill>
              </a:rPr>
              <a:t>L-BFGS brings all three optimizers closer to target:
Bayesian L2: 0.076 → 0.030 ✓  |  NSGA-II L2: 0.252 → 0.055 ✓  |  NSGA-III: 0.513 → 0.259</a:t>
            </a:r>
          </a:p>
        </p:txBody>
      </p:sp>
      <p:sp>
        <p:nvSpPr>
          <p:cNvPr id="72" name="TextBox 71"/>
          <p:cNvSpPr txBox="1"/>
          <p:nvPr/>
        </p:nvSpPr>
        <p:spPr>
          <a:xfrm>
            <a:off x="365760" y="6172200"/>
            <a:ext cx="11430000" cy="384048"/>
          </a:xfrm>
          <a:prstGeom prst="rect">
            <a:avLst/>
          </a:prstGeom>
          <a:noFill/>
        </p:spPr>
        <p:txBody>
          <a:bodyPr wrap="square">
            <a:spAutoFit/>
          </a:bodyPr>
          <a:lstStyle/>
          <a:p>
            <a:pPr algn="ctr"/>
            <a:r>
              <a:rPr sz="1100" b="0" i="1">
                <a:solidFill>
                  <a:srgbClr val="E65100"/>
                </a:solidFill>
              </a:rPr>
              <a:t>Note: L-BFGS per-window for Level 2 time-stepper is LESS effective — window training needs sufficient Adam pre-convergence first.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AFF"/>
        </a:solidFill>
        <a:effectLst/>
      </p:bgPr>
    </p:bg>
    <p:spTree>
      <p:nvGrpSpPr>
        <p:cNvPr id="1" name=""/>
        <p:cNvGrpSpPr/>
        <p:nvPr/>
      </p:nvGrpSpPr>
      <p:grpSpPr/>
      <p:sp>
        <p:nvSpPr>
          <p:cNvPr id="2" name="Rectangle 1"/>
          <p:cNvSpPr/>
          <p:nvPr/>
        </p:nvSpPr>
        <p:spPr>
          <a:xfrm>
            <a:off x="0" y="0"/>
            <a:ext cx="12188952" cy="105156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88952" cy="54864"/>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73152"/>
            <a:ext cx="9601200" cy="594360"/>
          </a:xfrm>
          <a:prstGeom prst="rect">
            <a:avLst/>
          </a:prstGeom>
          <a:noFill/>
        </p:spPr>
        <p:txBody>
          <a:bodyPr wrap="square">
            <a:spAutoFit/>
          </a:bodyPr>
          <a:lstStyle/>
          <a:p>
            <a:pPr algn="l"/>
            <a:r>
              <a:rPr sz="2800" b="1" i="0">
                <a:solidFill>
                  <a:srgbClr val="FFFFFF"/>
                </a:solidFill>
              </a:rPr>
              <a:t>Level 6 — Poisson PDE Benchmark</a:t>
            </a:r>
          </a:p>
        </p:txBody>
      </p:sp>
      <p:sp>
        <p:nvSpPr>
          <p:cNvPr id="5" name="TextBox 4"/>
          <p:cNvSpPr txBox="1"/>
          <p:nvPr/>
        </p:nvSpPr>
        <p:spPr>
          <a:xfrm>
            <a:off x="320040" y="658368"/>
            <a:ext cx="9144000" cy="347472"/>
          </a:xfrm>
          <a:prstGeom prst="rect">
            <a:avLst/>
          </a:prstGeom>
          <a:noFill/>
        </p:spPr>
        <p:txBody>
          <a:bodyPr wrap="square">
            <a:spAutoFit/>
          </a:bodyPr>
          <a:lstStyle/>
          <a:p>
            <a:pPr algn="l"/>
            <a:r>
              <a:rPr sz="1400" b="0" i="1">
                <a:solidFill>
                  <a:srgbClr val="BBDEFB"/>
                </a:solidFill>
              </a:rPr>
              <a:t>Generalization test: does NAS-PINN work beyond heat equation?</a:t>
            </a:r>
          </a:p>
        </p:txBody>
      </p:sp>
      <p:sp>
        <p:nvSpPr>
          <p:cNvPr id="6" name="Rectangle 5"/>
          <p:cNvSpPr/>
          <p:nvPr/>
        </p:nvSpPr>
        <p:spPr>
          <a:xfrm>
            <a:off x="10607040" y="164592"/>
            <a:ext cx="1371600" cy="530352"/>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25328" y="182880"/>
            <a:ext cx="1335024" cy="512064"/>
          </a:xfrm>
          <a:prstGeom prst="rect">
            <a:avLst/>
          </a:prstGeom>
          <a:noFill/>
        </p:spPr>
        <p:txBody>
          <a:bodyPr wrap="square">
            <a:spAutoFit/>
          </a:bodyPr>
          <a:lstStyle/>
          <a:p>
            <a:pPr algn="ctr"/>
            <a:r>
              <a:rPr sz="1800" b="1" i="0">
                <a:solidFill>
                  <a:srgbClr val="FFFFFF"/>
                </a:solidFill>
              </a:rPr>
              <a:t>L6</a:t>
            </a:r>
          </a:p>
        </p:txBody>
      </p:sp>
      <p:sp>
        <p:nvSpPr>
          <p:cNvPr id="8" name="Rectangle 7"/>
          <p:cNvSpPr/>
          <p:nvPr/>
        </p:nvSpPr>
        <p:spPr>
          <a:xfrm>
            <a:off x="0" y="6629400"/>
            <a:ext cx="12188952" cy="22860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6638544"/>
            <a:ext cx="11430000" cy="201168"/>
          </a:xfrm>
          <a:prstGeom prst="rect">
            <a:avLst/>
          </a:prstGeom>
          <a:noFill/>
        </p:spPr>
        <p:txBody>
          <a:bodyPr wrap="square">
            <a:spAutoFit/>
          </a:bodyPr>
          <a:lstStyle/>
          <a:p>
            <a:pPr algn="l"/>
            <a:r>
              <a:rPr sz="800" b="0" i="0">
                <a:solidFill>
                  <a:srgbClr val="90CAF9"/>
                </a:solidFill>
              </a:rPr>
              <a:t>NAS-PINNs Thesis  |  2026</a:t>
            </a:r>
          </a:p>
        </p:txBody>
      </p:sp>
      <p:sp>
        <p:nvSpPr>
          <p:cNvPr id="10" name="TextBox 9"/>
          <p:cNvSpPr txBox="1"/>
          <p:nvPr/>
        </p:nvSpPr>
        <p:spPr>
          <a:xfrm>
            <a:off x="365760" y="1234440"/>
            <a:ext cx="5669280" cy="5029200"/>
          </a:xfrm>
          <a:prstGeom prst="rect">
            <a:avLst/>
          </a:prstGeom>
          <a:noFill/>
        </p:spPr>
        <p:txBody>
          <a:bodyPr wrap="square">
            <a:spAutoFit/>
          </a:bodyPr>
          <a:lstStyle/>
          <a:p>
            <a:pPr>
              <a:spcBef>
                <a:spcPts val="400"/>
              </a:spcBef>
              <a:defRPr sz="1300">
                <a:solidFill>
                  <a:srgbClr val="424242"/>
                </a:solidFill>
              </a:defRPr>
            </a:pPr>
            <a:r>
              <a:t>▸  PDE: −∇²u = f(x,y)  on unit square [0,1]²</a:t>
            </a:r>
          </a:p>
          <a:p>
            <a:pPr>
              <a:spcBef>
                <a:spcPts val="400"/>
              </a:spcBef>
              <a:defRPr sz="1300">
                <a:solidFill>
                  <a:srgbClr val="424242"/>
                </a:solidFill>
              </a:defRPr>
            </a:pPr>
            <a:r>
              <a:t>▸  Exact solution: u = sin(πx)·sin(πy)</a:t>
            </a:r>
          </a:p>
          <a:p>
            <a:pPr>
              <a:spcBef>
                <a:spcPts val="400"/>
              </a:spcBef>
              <a:defRPr sz="1300">
                <a:solidFill>
                  <a:srgbClr val="424242"/>
                </a:solidFill>
              </a:defRPr>
            </a:pPr>
            <a:r>
              <a:t>▸  Same NAS architectures from Level 1</a:t>
            </a:r>
          </a:p>
          <a:p>
            <a:pPr>
              <a:spcBef>
                <a:spcPts val="400"/>
              </a:spcBef>
              <a:defRPr sz="1300">
                <a:solidFill>
                  <a:srgbClr val="424242"/>
                </a:solidFill>
              </a:defRPr>
            </a:pPr>
            <a:r>
              <a:t>▸  Auxiliary loss: boundary residual + PDE residual</a:t>
            </a:r>
          </a:p>
          <a:p>
            <a:pPr>
              <a:spcBef>
                <a:spcPts val="400"/>
              </a:spcBef>
              <a:defRPr sz="1300">
                <a:solidFill>
                  <a:srgbClr val="424242"/>
                </a:solidFill>
              </a:defRPr>
            </a:pPr>
          </a:p>
          <a:p>
            <a:pPr>
              <a:spcBef>
                <a:spcPts val="400"/>
              </a:spcBef>
              <a:defRPr sz="1300">
                <a:solidFill>
                  <a:srgbClr val="424242"/>
                </a:solidFill>
              </a:defRPr>
            </a:pPr>
            <a:r>
              <a:t>Results:</a:t>
            </a:r>
          </a:p>
          <a:p>
            <a:pPr>
              <a:spcBef>
                <a:spcPts val="400"/>
              </a:spcBef>
              <a:defRPr sz="1300">
                <a:solidFill>
                  <a:srgbClr val="424242"/>
                </a:solidFill>
              </a:defRPr>
            </a:pPr>
            <a:r>
              <a:t>▸  Bayesian:  L2 = 0.0083  ✓ (best)</a:t>
            </a:r>
          </a:p>
          <a:p>
            <a:pPr>
              <a:spcBef>
                <a:spcPts val="400"/>
              </a:spcBef>
              <a:defRPr sz="1300">
                <a:solidFill>
                  <a:srgbClr val="424242"/>
                </a:solidFill>
              </a:defRPr>
            </a:pPr>
            <a:r>
              <a:t>▸  NSGA-II:   L2 = 0.0412  ✓</a:t>
            </a:r>
          </a:p>
          <a:p>
            <a:pPr>
              <a:spcBef>
                <a:spcPts val="400"/>
              </a:spcBef>
              <a:defRPr sz="1300">
                <a:solidFill>
                  <a:srgbClr val="424242"/>
                </a:solidFill>
              </a:defRPr>
            </a:pPr>
            <a:r>
              <a:t>▸  NSGA-III:  L2 = 0.1890  ✗ (marginal)</a:t>
            </a:r>
          </a:p>
          <a:p>
            <a:pPr>
              <a:spcBef>
                <a:spcPts val="400"/>
              </a:spcBef>
              <a:defRPr sz="1300">
                <a:solidFill>
                  <a:srgbClr val="424242"/>
                </a:solidFill>
              </a:defRPr>
            </a:pPr>
          </a:p>
          <a:p>
            <a:pPr>
              <a:spcBef>
                <a:spcPts val="400"/>
              </a:spcBef>
              <a:defRPr sz="1300">
                <a:solidFill>
                  <a:srgbClr val="424242"/>
                </a:solidFill>
              </a:defRPr>
            </a:pPr>
            <a:r>
              <a:t>Key finding: NAS-optimized architectures generalize</a:t>
            </a:r>
            <a:br/>
            <a:r>
              <a:t>to different PDE families without re-search.</a:t>
            </a:r>
          </a:p>
        </p:txBody>
      </p:sp>
      <p:pic>
        <p:nvPicPr>
          <p:cNvPr id="11" name="Picture 10" descr="l6_heatmap_t5s.png"/>
          <p:cNvPicPr>
            <a:picLocks noChangeAspect="1"/>
          </p:cNvPicPr>
          <p:nvPr/>
        </p:nvPicPr>
        <p:blipFill>
          <a:blip r:embed="rId2"/>
          <a:stretch>
            <a:fillRect/>
          </a:stretch>
        </p:blipFill>
        <p:spPr>
          <a:xfrm>
            <a:off x="6217920" y="1234440"/>
            <a:ext cx="5760720" cy="3200400"/>
          </a:xfrm>
          <a:prstGeom prst="rect">
            <a:avLst/>
          </a:prstGeom>
        </p:spPr>
      </p:pic>
      <p:sp>
        <p:nvSpPr>
          <p:cNvPr id="12" name="Rectangle 11"/>
          <p:cNvSpPr/>
          <p:nvPr/>
        </p:nvSpPr>
        <p:spPr>
          <a:xfrm>
            <a:off x="6217920" y="4572000"/>
            <a:ext cx="5760720" cy="1554480"/>
          </a:xfrm>
          <a:prstGeom prst="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4663440"/>
            <a:ext cx="5394960" cy="1371600"/>
          </a:xfrm>
          <a:prstGeom prst="rect">
            <a:avLst/>
          </a:prstGeom>
          <a:noFill/>
        </p:spPr>
        <p:txBody>
          <a:bodyPr wrap="square">
            <a:spAutoFit/>
          </a:bodyPr>
          <a:lstStyle/>
          <a:p>
            <a:pPr algn="l"/>
            <a:r>
              <a:rPr sz="1200" b="0" i="0">
                <a:solidFill>
                  <a:srgbClr val="1B5E20"/>
                </a:solidFill>
              </a:rPr>
              <a:t>Bayesian NAS architecture (5×151 relu) achieves L2 = 0.0083
on Poisson PDE — demonstrates cross-PDE transferability
without any architecture modification.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AFF"/>
        </a:solidFill>
        <a:effectLst/>
      </p:bgPr>
    </p:bg>
    <p:spTree>
      <p:nvGrpSpPr>
        <p:cNvPr id="1" name=""/>
        <p:cNvGrpSpPr/>
        <p:nvPr/>
      </p:nvGrpSpPr>
      <p:grpSpPr/>
      <p:sp>
        <p:nvSpPr>
          <p:cNvPr id="2" name="Rectangle 1"/>
          <p:cNvSpPr/>
          <p:nvPr/>
        </p:nvSpPr>
        <p:spPr>
          <a:xfrm>
            <a:off x="0" y="0"/>
            <a:ext cx="12188952" cy="105156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88952" cy="54864"/>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73152"/>
            <a:ext cx="9601200" cy="594360"/>
          </a:xfrm>
          <a:prstGeom prst="rect">
            <a:avLst/>
          </a:prstGeom>
          <a:noFill/>
        </p:spPr>
        <p:txBody>
          <a:bodyPr wrap="square">
            <a:spAutoFit/>
          </a:bodyPr>
          <a:lstStyle/>
          <a:p>
            <a:pPr algn="l"/>
            <a:r>
              <a:rPr sz="2800" b="1" i="0">
                <a:solidFill>
                  <a:srgbClr val="FFFFFF"/>
                </a:solidFill>
              </a:rPr>
              <a:t>Level 7 — Multi-Domain &amp; Temporal Skip Analysis</a:t>
            </a:r>
          </a:p>
        </p:txBody>
      </p:sp>
      <p:sp>
        <p:nvSpPr>
          <p:cNvPr id="5" name="TextBox 4"/>
          <p:cNvSpPr txBox="1"/>
          <p:nvPr/>
        </p:nvSpPr>
        <p:spPr>
          <a:xfrm>
            <a:off x="320040" y="658368"/>
            <a:ext cx="9144000" cy="347472"/>
          </a:xfrm>
          <a:prstGeom prst="rect">
            <a:avLst/>
          </a:prstGeom>
          <a:noFill/>
        </p:spPr>
        <p:txBody>
          <a:bodyPr wrap="square">
            <a:spAutoFit/>
          </a:bodyPr>
          <a:lstStyle/>
          <a:p>
            <a:pPr algn="l"/>
            <a:r>
              <a:rPr sz="1400" b="0" i="1">
                <a:solidFill>
                  <a:srgbClr val="BBDEFB"/>
                </a:solidFill>
              </a:rPr>
              <a:t>7A: time-skip on quenching  |  7B: 5-geometry Poisson NAS</a:t>
            </a:r>
          </a:p>
        </p:txBody>
      </p:sp>
      <p:sp>
        <p:nvSpPr>
          <p:cNvPr id="6" name="Rectangle 5"/>
          <p:cNvSpPr/>
          <p:nvPr/>
        </p:nvSpPr>
        <p:spPr>
          <a:xfrm>
            <a:off x="10607040" y="164592"/>
            <a:ext cx="1371600" cy="530352"/>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25328" y="182880"/>
            <a:ext cx="1335024" cy="512064"/>
          </a:xfrm>
          <a:prstGeom prst="rect">
            <a:avLst/>
          </a:prstGeom>
          <a:noFill/>
        </p:spPr>
        <p:txBody>
          <a:bodyPr wrap="square">
            <a:spAutoFit/>
          </a:bodyPr>
          <a:lstStyle/>
          <a:p>
            <a:pPr algn="ctr"/>
            <a:r>
              <a:rPr sz="1800" b="1" i="0">
                <a:solidFill>
                  <a:srgbClr val="FFFFFF"/>
                </a:solidFill>
              </a:rPr>
              <a:t>L7</a:t>
            </a:r>
          </a:p>
        </p:txBody>
      </p:sp>
      <p:sp>
        <p:nvSpPr>
          <p:cNvPr id="8" name="Rectangle 7"/>
          <p:cNvSpPr/>
          <p:nvPr/>
        </p:nvSpPr>
        <p:spPr>
          <a:xfrm>
            <a:off x="0" y="6629400"/>
            <a:ext cx="12188952" cy="22860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6638544"/>
            <a:ext cx="11430000" cy="201168"/>
          </a:xfrm>
          <a:prstGeom prst="rect">
            <a:avLst/>
          </a:prstGeom>
          <a:noFill/>
        </p:spPr>
        <p:txBody>
          <a:bodyPr wrap="square">
            <a:spAutoFit/>
          </a:bodyPr>
          <a:lstStyle/>
          <a:p>
            <a:pPr algn="l"/>
            <a:r>
              <a:rPr sz="800" b="0" i="0">
                <a:solidFill>
                  <a:srgbClr val="90CAF9"/>
                </a:solidFill>
              </a:rPr>
              <a:t>NAS-PINNs Thesis  |  2026</a:t>
            </a:r>
          </a:p>
        </p:txBody>
      </p:sp>
      <p:sp>
        <p:nvSpPr>
          <p:cNvPr id="10" name="TextBox 9"/>
          <p:cNvSpPr txBox="1"/>
          <p:nvPr/>
        </p:nvSpPr>
        <p:spPr>
          <a:xfrm>
            <a:off x="365760" y="1234440"/>
            <a:ext cx="5577840" cy="347472"/>
          </a:xfrm>
          <a:prstGeom prst="rect">
            <a:avLst/>
          </a:prstGeom>
          <a:noFill/>
        </p:spPr>
        <p:txBody>
          <a:bodyPr wrap="square">
            <a:spAutoFit/>
          </a:bodyPr>
          <a:lstStyle/>
          <a:p>
            <a:pPr algn="l"/>
            <a:r>
              <a:rPr sz="1400" b="1" i="0">
                <a:solidFill>
                  <a:srgbClr val="1565C0"/>
                </a:solidFill>
              </a:rPr>
              <a:t>Level 7A — Temporal Skip (Quenching)</a:t>
            </a:r>
          </a:p>
        </p:txBody>
      </p:sp>
      <p:sp>
        <p:nvSpPr>
          <p:cNvPr id="11" name="TextBox 10"/>
          <p:cNvSpPr txBox="1"/>
          <p:nvPr/>
        </p:nvSpPr>
        <p:spPr>
          <a:xfrm>
            <a:off x="365760" y="1627632"/>
            <a:ext cx="5577840" cy="1828800"/>
          </a:xfrm>
          <a:prstGeom prst="rect">
            <a:avLst/>
          </a:prstGeom>
          <a:noFill/>
        </p:spPr>
        <p:txBody>
          <a:bodyPr wrap="square">
            <a:spAutoFit/>
          </a:bodyPr>
          <a:lstStyle/>
          <a:p>
            <a:pPr>
              <a:spcBef>
                <a:spcPts val="400"/>
              </a:spcBef>
              <a:defRPr sz="1200">
                <a:solidFill>
                  <a:srgbClr val="424242"/>
                </a:solidFill>
              </a:defRPr>
            </a:pPr>
            <a:r>
              <a:t>▸  Bayesian: skip=4 still converges (L2 = 0.090)</a:t>
            </a:r>
          </a:p>
          <a:p>
            <a:pPr>
              <a:spcBef>
                <a:spcPts val="400"/>
              </a:spcBef>
              <a:defRPr sz="1200">
                <a:solidFill>
                  <a:srgbClr val="424242"/>
                </a:solidFill>
              </a:defRPr>
            </a:pPr>
            <a:r>
              <a:t>▸  NSGA-II:  skip=2 marginal (ratio 1.47×)</a:t>
            </a:r>
          </a:p>
          <a:p>
            <a:pPr>
              <a:spcBef>
                <a:spcPts val="400"/>
              </a:spcBef>
              <a:defRPr sz="1200">
                <a:solidFill>
                  <a:srgbClr val="424242"/>
                </a:solidFill>
              </a:defRPr>
            </a:pPr>
            <a:r>
              <a:t>▸  NSGA-III: skip=2 diverges (ratio 1.76×)</a:t>
            </a:r>
          </a:p>
          <a:p>
            <a:pPr>
              <a:spcBef>
                <a:spcPts val="400"/>
              </a:spcBef>
              <a:defRPr sz="1200">
                <a:solidFill>
                  <a:srgbClr val="424242"/>
                </a:solidFill>
              </a:defRPr>
            </a:pPr>
            <a:r>
              <a:t>▸  Skip efficiency: 80% FEM step reduction for Bayesian</a:t>
            </a:r>
          </a:p>
        </p:txBody>
      </p:sp>
      <p:pic>
        <p:nvPicPr>
          <p:cNvPr id="12" name="Picture 11" descr="l7a_cooling_curves.png"/>
          <p:cNvPicPr>
            <a:picLocks noChangeAspect="1"/>
          </p:cNvPicPr>
          <p:nvPr/>
        </p:nvPicPr>
        <p:blipFill>
          <a:blip r:embed="rId2"/>
          <a:stretch>
            <a:fillRect/>
          </a:stretch>
        </p:blipFill>
        <p:spPr>
          <a:xfrm>
            <a:off x="365760" y="3520440"/>
            <a:ext cx="5577840" cy="2560320"/>
          </a:xfrm>
          <a:prstGeom prst="rect">
            <a:avLst/>
          </a:prstGeom>
        </p:spPr>
      </p:pic>
      <p:sp>
        <p:nvSpPr>
          <p:cNvPr id="13" name="TextBox 12"/>
          <p:cNvSpPr txBox="1"/>
          <p:nvPr/>
        </p:nvSpPr>
        <p:spPr>
          <a:xfrm>
            <a:off x="6217920" y="1234440"/>
            <a:ext cx="5760720" cy="347472"/>
          </a:xfrm>
          <a:prstGeom prst="rect">
            <a:avLst/>
          </a:prstGeom>
          <a:noFill/>
        </p:spPr>
        <p:txBody>
          <a:bodyPr wrap="square">
            <a:spAutoFit/>
          </a:bodyPr>
          <a:lstStyle/>
          <a:p>
            <a:pPr algn="l"/>
            <a:r>
              <a:rPr sz="1400" b="1" i="0">
                <a:solidFill>
                  <a:srgbClr val="E65100"/>
                </a:solidFill>
              </a:rPr>
              <a:t>Level 7B — Multi-Domain Poisson (5 Geometries)</a:t>
            </a:r>
          </a:p>
        </p:txBody>
      </p:sp>
      <p:sp>
        <p:nvSpPr>
          <p:cNvPr id="14" name="TextBox 13"/>
          <p:cNvSpPr txBox="1"/>
          <p:nvPr/>
        </p:nvSpPr>
        <p:spPr>
          <a:xfrm>
            <a:off x="6217920" y="1627632"/>
            <a:ext cx="5760720" cy="1828800"/>
          </a:xfrm>
          <a:prstGeom prst="rect">
            <a:avLst/>
          </a:prstGeom>
          <a:noFill/>
        </p:spPr>
        <p:txBody>
          <a:bodyPr wrap="square">
            <a:spAutoFit/>
          </a:bodyPr>
          <a:lstStyle/>
          <a:p>
            <a:pPr>
              <a:spcBef>
                <a:spcPts val="400"/>
              </a:spcBef>
              <a:defRPr sz="1200">
                <a:solidFill>
                  <a:srgbClr val="424242"/>
                </a:solidFill>
              </a:defRPr>
            </a:pPr>
            <a:r>
              <a:t>▸  Domains: Square · Circle · Annulus · L-shape · Flower</a:t>
            </a:r>
          </a:p>
          <a:p>
            <a:pPr>
              <a:spcBef>
                <a:spcPts val="400"/>
              </a:spcBef>
              <a:defRPr sz="1200">
                <a:solidFill>
                  <a:srgbClr val="424242"/>
                </a:solidFill>
              </a:defRPr>
            </a:pPr>
            <a:r>
              <a:t>▸  NAS optimized per geometry</a:t>
            </a:r>
          </a:p>
          <a:p>
            <a:pPr>
              <a:spcBef>
                <a:spcPts val="400"/>
              </a:spcBef>
              <a:defRPr sz="1200">
                <a:solidFill>
                  <a:srgbClr val="424242"/>
                </a:solidFill>
              </a:defRPr>
            </a:pPr>
            <a:r>
              <a:t>▸  All converge: L2 &lt; 0.05 for Bayesian</a:t>
            </a:r>
          </a:p>
          <a:p>
            <a:pPr>
              <a:spcBef>
                <a:spcPts val="400"/>
              </a:spcBef>
              <a:defRPr sz="1200">
                <a:solidFill>
                  <a:srgbClr val="424242"/>
                </a:solidFill>
              </a:defRPr>
            </a:pPr>
            <a:r>
              <a:t>▸  NSGA-III struggles on complex geometries (flower)</a:t>
            </a:r>
          </a:p>
        </p:txBody>
      </p:sp>
      <p:pic>
        <p:nvPicPr>
          <p:cNvPr id="15" name="Picture 14" descr="l7b_summary_table.png"/>
          <p:cNvPicPr>
            <a:picLocks noChangeAspect="1"/>
          </p:cNvPicPr>
          <p:nvPr/>
        </p:nvPicPr>
        <p:blipFill>
          <a:blip r:embed="rId3"/>
          <a:stretch>
            <a:fillRect/>
          </a:stretch>
        </p:blipFill>
        <p:spPr>
          <a:xfrm>
            <a:off x="6217920" y="3520440"/>
            <a:ext cx="5760720" cy="256032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AFF"/>
        </a:solidFill>
        <a:effectLst/>
      </p:bgPr>
    </p:bg>
    <p:spTree>
      <p:nvGrpSpPr>
        <p:cNvPr id="1" name=""/>
        <p:cNvGrpSpPr/>
        <p:nvPr/>
      </p:nvGrpSpPr>
      <p:grpSpPr/>
      <p:sp>
        <p:nvSpPr>
          <p:cNvPr id="2" name="Rectangle 1"/>
          <p:cNvSpPr/>
          <p:nvPr/>
        </p:nvSpPr>
        <p:spPr>
          <a:xfrm>
            <a:off x="0" y="0"/>
            <a:ext cx="12188952" cy="105156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88952" cy="54864"/>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73152"/>
            <a:ext cx="9601200" cy="594360"/>
          </a:xfrm>
          <a:prstGeom prst="rect">
            <a:avLst/>
          </a:prstGeom>
          <a:noFill/>
        </p:spPr>
        <p:txBody>
          <a:bodyPr wrap="square">
            <a:spAutoFit/>
          </a:bodyPr>
          <a:lstStyle/>
          <a:p>
            <a:pPr algn="l"/>
            <a:r>
              <a:rPr sz="2800" b="1" i="0">
                <a:solidFill>
                  <a:srgbClr val="FFFFFF"/>
                </a:solidFill>
              </a:rPr>
              <a:t>Cross-Level Comparison</a:t>
            </a:r>
          </a:p>
        </p:txBody>
      </p:sp>
      <p:sp>
        <p:nvSpPr>
          <p:cNvPr id="5" name="TextBox 4"/>
          <p:cNvSpPr txBox="1"/>
          <p:nvPr/>
        </p:nvSpPr>
        <p:spPr>
          <a:xfrm>
            <a:off x="320040" y="658368"/>
            <a:ext cx="9144000" cy="347472"/>
          </a:xfrm>
          <a:prstGeom prst="rect">
            <a:avLst/>
          </a:prstGeom>
          <a:noFill/>
        </p:spPr>
        <p:txBody>
          <a:bodyPr wrap="square">
            <a:spAutoFit/>
          </a:bodyPr>
          <a:lstStyle/>
          <a:p>
            <a:pPr algn="l"/>
            <a:r>
              <a:rPr sz="1400" b="0" i="1">
                <a:solidFill>
                  <a:srgbClr val="BBDEFB"/>
                </a:solidFill>
              </a:rPr>
              <a:t>All optimizers · All levels · Unified view</a:t>
            </a:r>
          </a:p>
        </p:txBody>
      </p:sp>
      <p:sp>
        <p:nvSpPr>
          <p:cNvPr id="6" name="Rectangle 5"/>
          <p:cNvSpPr/>
          <p:nvPr/>
        </p:nvSpPr>
        <p:spPr>
          <a:xfrm>
            <a:off x="0" y="6629400"/>
            <a:ext cx="12188952" cy="22860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638544"/>
            <a:ext cx="11430000" cy="201168"/>
          </a:xfrm>
          <a:prstGeom prst="rect">
            <a:avLst/>
          </a:prstGeom>
          <a:noFill/>
        </p:spPr>
        <p:txBody>
          <a:bodyPr wrap="square">
            <a:spAutoFit/>
          </a:bodyPr>
          <a:lstStyle/>
          <a:p>
            <a:pPr algn="l"/>
            <a:r>
              <a:rPr sz="800" b="0" i="0">
                <a:solidFill>
                  <a:srgbClr val="90CAF9"/>
                </a:solidFill>
              </a:rPr>
              <a:t>NAS-PINNs Thesis  |  2026</a:t>
            </a:r>
          </a:p>
        </p:txBody>
      </p:sp>
      <p:pic>
        <p:nvPicPr>
          <p:cNvPr id="8" name="Picture 7" descr="cross_level_summary_table.png"/>
          <p:cNvPicPr>
            <a:picLocks noChangeAspect="1"/>
          </p:cNvPicPr>
          <p:nvPr/>
        </p:nvPicPr>
        <p:blipFill>
          <a:blip r:embed="rId2"/>
          <a:stretch>
            <a:fillRect/>
          </a:stretch>
        </p:blipFill>
        <p:spPr>
          <a:xfrm>
            <a:off x="274320" y="1188720"/>
            <a:ext cx="11612880" cy="3474720"/>
          </a:xfrm>
          <a:prstGeom prst="rect">
            <a:avLst/>
          </a:prstGeom>
        </p:spPr>
      </p:pic>
      <p:sp>
        <p:nvSpPr>
          <p:cNvPr id="9" name="Rectangle 8"/>
          <p:cNvSpPr/>
          <p:nvPr/>
        </p:nvSpPr>
        <p:spPr>
          <a:xfrm>
            <a:off x="274320" y="4800600"/>
            <a:ext cx="1645920" cy="475488"/>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2608" y="4855464"/>
            <a:ext cx="1609344" cy="402336"/>
          </a:xfrm>
          <a:prstGeom prst="rect">
            <a:avLst/>
          </a:prstGeom>
          <a:noFill/>
        </p:spPr>
        <p:txBody>
          <a:bodyPr wrap="square">
            <a:spAutoFit/>
          </a:bodyPr>
          <a:lstStyle/>
          <a:p>
            <a:pPr algn="ctr"/>
            <a:r>
              <a:rPr sz="1100" b="1" i="0">
                <a:solidFill>
                  <a:srgbClr val="FFFFFF"/>
                </a:solidFill>
              </a:rPr>
              <a:t>Bayesian NAS</a:t>
            </a:r>
          </a:p>
        </p:txBody>
      </p:sp>
      <p:sp>
        <p:nvSpPr>
          <p:cNvPr id="11" name="TextBox 10"/>
          <p:cNvSpPr txBox="1"/>
          <p:nvPr/>
        </p:nvSpPr>
        <p:spPr>
          <a:xfrm>
            <a:off x="2011680" y="4892040"/>
            <a:ext cx="9875520" cy="384048"/>
          </a:xfrm>
          <a:prstGeom prst="rect">
            <a:avLst/>
          </a:prstGeom>
          <a:noFill/>
        </p:spPr>
        <p:txBody>
          <a:bodyPr wrap="square">
            <a:spAutoFit/>
          </a:bodyPr>
          <a:lstStyle/>
          <a:p>
            <a:pPr algn="l"/>
            <a:r>
              <a:rPr sz="1200" b="0" i="0">
                <a:solidFill>
                  <a:srgbClr val="424242"/>
                </a:solidFill>
              </a:rPr>
              <a:t>Best across all levels — only optimizer meeting ALL targets</a:t>
            </a:r>
          </a:p>
        </p:txBody>
      </p:sp>
      <p:sp>
        <p:nvSpPr>
          <p:cNvPr id="12" name="Rectangle 11"/>
          <p:cNvSpPr/>
          <p:nvPr/>
        </p:nvSpPr>
        <p:spPr>
          <a:xfrm>
            <a:off x="274320" y="5413248"/>
            <a:ext cx="1645920" cy="475488"/>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2608" y="5468112"/>
            <a:ext cx="1609344" cy="402336"/>
          </a:xfrm>
          <a:prstGeom prst="rect">
            <a:avLst/>
          </a:prstGeom>
          <a:noFill/>
        </p:spPr>
        <p:txBody>
          <a:bodyPr wrap="square">
            <a:spAutoFit/>
          </a:bodyPr>
          <a:lstStyle/>
          <a:p>
            <a:pPr algn="ctr"/>
            <a:r>
              <a:rPr sz="1100" b="1" i="0">
                <a:solidFill>
                  <a:srgbClr val="FFFFFF"/>
                </a:solidFill>
              </a:rPr>
              <a:t>NSGA-II</a:t>
            </a:r>
          </a:p>
        </p:txBody>
      </p:sp>
      <p:sp>
        <p:nvSpPr>
          <p:cNvPr id="14" name="TextBox 13"/>
          <p:cNvSpPr txBox="1"/>
          <p:nvPr/>
        </p:nvSpPr>
        <p:spPr>
          <a:xfrm>
            <a:off x="2011680" y="5504688"/>
            <a:ext cx="9875520" cy="384048"/>
          </a:xfrm>
          <a:prstGeom prst="rect">
            <a:avLst/>
          </a:prstGeom>
          <a:noFill/>
        </p:spPr>
        <p:txBody>
          <a:bodyPr wrap="square">
            <a:spAutoFit/>
          </a:bodyPr>
          <a:lstStyle/>
          <a:p>
            <a:pPr algn="l"/>
            <a:r>
              <a:rPr sz="1200" b="0" i="0">
                <a:solidFill>
                  <a:srgbClr val="424242"/>
                </a:solidFill>
              </a:rPr>
              <a:t>L-BFGS closes gap (L2: 0.252→0.055) but skip=2 needs 5000+ epochs</a:t>
            </a:r>
          </a:p>
        </p:txBody>
      </p:sp>
      <p:sp>
        <p:nvSpPr>
          <p:cNvPr id="15" name="Rectangle 14"/>
          <p:cNvSpPr/>
          <p:nvPr/>
        </p:nvSpPr>
        <p:spPr>
          <a:xfrm>
            <a:off x="274320" y="6025896"/>
            <a:ext cx="1645920" cy="475488"/>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2608" y="6080760"/>
            <a:ext cx="1609344" cy="402336"/>
          </a:xfrm>
          <a:prstGeom prst="rect">
            <a:avLst/>
          </a:prstGeom>
          <a:noFill/>
        </p:spPr>
        <p:txBody>
          <a:bodyPr wrap="square">
            <a:spAutoFit/>
          </a:bodyPr>
          <a:lstStyle/>
          <a:p>
            <a:pPr algn="ctr"/>
            <a:r>
              <a:rPr sz="1100" b="1" i="0">
                <a:solidFill>
                  <a:srgbClr val="FFFFFF"/>
                </a:solidFill>
              </a:rPr>
              <a:t>NSGA-III</a:t>
            </a:r>
          </a:p>
        </p:txBody>
      </p:sp>
      <p:sp>
        <p:nvSpPr>
          <p:cNvPr id="17" name="TextBox 16"/>
          <p:cNvSpPr txBox="1"/>
          <p:nvPr/>
        </p:nvSpPr>
        <p:spPr>
          <a:xfrm>
            <a:off x="2011680" y="6117336"/>
            <a:ext cx="9875520" cy="384048"/>
          </a:xfrm>
          <a:prstGeom prst="rect">
            <a:avLst/>
          </a:prstGeom>
          <a:noFill/>
        </p:spPr>
        <p:txBody>
          <a:bodyPr wrap="square">
            <a:spAutoFit/>
          </a:bodyPr>
          <a:lstStyle/>
          <a:p>
            <a:pPr algn="l"/>
            <a:r>
              <a:rPr sz="1200" b="0" i="0">
                <a:solidFill>
                  <a:srgbClr val="424242"/>
                </a:solidFill>
              </a:rPr>
              <a:t>Smallest model (11k params) — limited skip capability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A237E"/>
        </a:solidFill>
        <a:effectLst/>
      </p:bgPr>
    </p:bg>
    <p:spTree>
      <p:nvGrpSpPr>
        <p:cNvPr id="1" name=""/>
        <p:cNvGrpSpPr/>
        <p:nvPr/>
      </p:nvGrpSpPr>
      <p:grpSpPr/>
      <p:sp>
        <p:nvSpPr>
          <p:cNvPr id="2" name="Rectangle 1"/>
          <p:cNvSpPr/>
          <p:nvPr/>
        </p:nvSpPr>
        <p:spPr>
          <a:xfrm>
            <a:off x="0" y="914400"/>
            <a:ext cx="12188952" cy="54864"/>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0972800" cy="777240"/>
          </a:xfrm>
          <a:prstGeom prst="rect">
            <a:avLst/>
          </a:prstGeom>
          <a:noFill/>
        </p:spPr>
        <p:txBody>
          <a:bodyPr wrap="square">
            <a:spAutoFit/>
          </a:bodyPr>
          <a:lstStyle/>
          <a:p>
            <a:pPr algn="l"/>
            <a:r>
              <a:rPr sz="3200" b="1" i="0">
                <a:solidFill>
                  <a:srgbClr val="FFFFFF"/>
                </a:solidFill>
              </a:rPr>
              <a:t>Conclusions &amp; Key Findings</a:t>
            </a:r>
          </a:p>
        </p:txBody>
      </p:sp>
      <p:sp>
        <p:nvSpPr>
          <p:cNvPr id="4" name="Rectangle 3"/>
          <p:cNvSpPr/>
          <p:nvPr/>
        </p:nvSpPr>
        <p:spPr>
          <a:xfrm>
            <a:off x="320040" y="1143000"/>
            <a:ext cx="457200" cy="457200"/>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20040" y="1188720"/>
            <a:ext cx="457200" cy="411480"/>
          </a:xfrm>
          <a:prstGeom prst="rect">
            <a:avLst/>
          </a:prstGeom>
          <a:noFill/>
        </p:spPr>
        <p:txBody>
          <a:bodyPr wrap="square">
            <a:spAutoFit/>
          </a:bodyPr>
          <a:lstStyle/>
          <a:p>
            <a:pPr algn="ctr"/>
            <a:r>
              <a:rPr sz="1600" b="1" i="0">
                <a:solidFill>
                  <a:srgbClr val="FFFFFF"/>
                </a:solidFill>
              </a:rPr>
              <a:t>✓</a:t>
            </a:r>
          </a:p>
        </p:txBody>
      </p:sp>
      <p:sp>
        <p:nvSpPr>
          <p:cNvPr id="6" name="TextBox 5"/>
          <p:cNvSpPr txBox="1"/>
          <p:nvPr/>
        </p:nvSpPr>
        <p:spPr>
          <a:xfrm>
            <a:off x="868680" y="1143000"/>
            <a:ext cx="10789920" cy="347472"/>
          </a:xfrm>
          <a:prstGeom prst="rect">
            <a:avLst/>
          </a:prstGeom>
          <a:noFill/>
        </p:spPr>
        <p:txBody>
          <a:bodyPr wrap="square">
            <a:spAutoFit/>
          </a:bodyPr>
          <a:lstStyle/>
          <a:p>
            <a:pPr algn="l"/>
            <a:r>
              <a:rPr sz="1300" b="1" i="0">
                <a:solidFill>
                  <a:srgbClr val="FFFFFF"/>
                </a:solidFill>
              </a:rPr>
              <a:t>PINN can replace FEM steps without accuracy loss</a:t>
            </a:r>
          </a:p>
        </p:txBody>
      </p:sp>
      <p:sp>
        <p:nvSpPr>
          <p:cNvPr id="7" name="TextBox 6"/>
          <p:cNvSpPr txBox="1"/>
          <p:nvPr/>
        </p:nvSpPr>
        <p:spPr>
          <a:xfrm>
            <a:off x="868680" y="1508760"/>
            <a:ext cx="10789920" cy="411480"/>
          </a:xfrm>
          <a:prstGeom prst="rect">
            <a:avLst/>
          </a:prstGeom>
          <a:noFill/>
        </p:spPr>
        <p:txBody>
          <a:bodyPr wrap="square">
            <a:spAutoFit/>
          </a:bodyPr>
          <a:lstStyle/>
          <a:p>
            <a:pPr algn="l"/>
            <a:r>
              <a:rPr sz="1100" b="0" i="1">
                <a:solidFill>
                  <a:srgbClr val="BBDEFB"/>
                </a:solidFill>
              </a:rPr>
              <a:t>Bayesian skip=2 (11/21 FEM steps): MAE = 33.2°C vs 43.6°C baseline</a:t>
            </a:r>
          </a:p>
        </p:txBody>
      </p:sp>
      <p:sp>
        <p:nvSpPr>
          <p:cNvPr id="8" name="Rectangle 7"/>
          <p:cNvSpPr/>
          <p:nvPr/>
        </p:nvSpPr>
        <p:spPr>
          <a:xfrm>
            <a:off x="320040" y="2011680"/>
            <a:ext cx="457200" cy="457200"/>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2057400"/>
            <a:ext cx="457200" cy="411480"/>
          </a:xfrm>
          <a:prstGeom prst="rect">
            <a:avLst/>
          </a:prstGeom>
          <a:noFill/>
        </p:spPr>
        <p:txBody>
          <a:bodyPr wrap="square">
            <a:spAutoFit/>
          </a:bodyPr>
          <a:lstStyle/>
          <a:p>
            <a:pPr algn="ctr"/>
            <a:r>
              <a:rPr sz="1600" b="1" i="0">
                <a:solidFill>
                  <a:srgbClr val="FFFFFF"/>
                </a:solidFill>
              </a:rPr>
              <a:t>✓</a:t>
            </a:r>
          </a:p>
        </p:txBody>
      </p:sp>
      <p:sp>
        <p:nvSpPr>
          <p:cNvPr id="10" name="TextBox 9"/>
          <p:cNvSpPr txBox="1"/>
          <p:nvPr/>
        </p:nvSpPr>
        <p:spPr>
          <a:xfrm>
            <a:off x="868680" y="2011680"/>
            <a:ext cx="10789920" cy="347472"/>
          </a:xfrm>
          <a:prstGeom prst="rect">
            <a:avLst/>
          </a:prstGeom>
          <a:noFill/>
        </p:spPr>
        <p:txBody>
          <a:bodyPr wrap="square">
            <a:spAutoFit/>
          </a:bodyPr>
          <a:lstStyle/>
          <a:p>
            <a:pPr algn="l"/>
            <a:r>
              <a:rPr sz="1300" b="1" i="0">
                <a:solidFill>
                  <a:srgbClr val="FFFFFF"/>
                </a:solidFill>
              </a:rPr>
              <a:t>NAS architecture matters for skip capability</a:t>
            </a:r>
          </a:p>
        </p:txBody>
      </p:sp>
      <p:sp>
        <p:nvSpPr>
          <p:cNvPr id="11" name="TextBox 10"/>
          <p:cNvSpPr txBox="1"/>
          <p:nvPr/>
        </p:nvSpPr>
        <p:spPr>
          <a:xfrm>
            <a:off x="868680" y="2377440"/>
            <a:ext cx="10789920" cy="411480"/>
          </a:xfrm>
          <a:prstGeom prst="rect">
            <a:avLst/>
          </a:prstGeom>
          <a:noFill/>
        </p:spPr>
        <p:txBody>
          <a:bodyPr wrap="square">
            <a:spAutoFit/>
          </a:bodyPr>
          <a:lstStyle/>
          <a:p>
            <a:pPr algn="l"/>
            <a:r>
              <a:rPr sz="1100" b="0" i="1">
                <a:solidFill>
                  <a:srgbClr val="BBDEFB"/>
                </a:solidFill>
              </a:rPr>
              <a:t>Bayesian 5×151 relu converges; NSGA-II/III (smaller) diverge at skip=2</a:t>
            </a:r>
          </a:p>
        </p:txBody>
      </p:sp>
      <p:sp>
        <p:nvSpPr>
          <p:cNvPr id="12" name="Rectangle 11"/>
          <p:cNvSpPr/>
          <p:nvPr/>
        </p:nvSpPr>
        <p:spPr>
          <a:xfrm>
            <a:off x="320040" y="2880360"/>
            <a:ext cx="457200" cy="457200"/>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2926080"/>
            <a:ext cx="457200" cy="411480"/>
          </a:xfrm>
          <a:prstGeom prst="rect">
            <a:avLst/>
          </a:prstGeom>
          <a:noFill/>
        </p:spPr>
        <p:txBody>
          <a:bodyPr wrap="square">
            <a:spAutoFit/>
          </a:bodyPr>
          <a:lstStyle/>
          <a:p>
            <a:pPr algn="ctr"/>
            <a:r>
              <a:rPr sz="1600" b="1" i="0">
                <a:solidFill>
                  <a:srgbClr val="FFFFFF"/>
                </a:solidFill>
              </a:rPr>
              <a:t>✓</a:t>
            </a:r>
          </a:p>
        </p:txBody>
      </p:sp>
      <p:sp>
        <p:nvSpPr>
          <p:cNvPr id="14" name="TextBox 13"/>
          <p:cNvSpPr txBox="1"/>
          <p:nvPr/>
        </p:nvSpPr>
        <p:spPr>
          <a:xfrm>
            <a:off x="868680" y="2880360"/>
            <a:ext cx="10789920" cy="347472"/>
          </a:xfrm>
          <a:prstGeom prst="rect">
            <a:avLst/>
          </a:prstGeom>
          <a:noFill/>
        </p:spPr>
        <p:txBody>
          <a:bodyPr wrap="square">
            <a:spAutoFit/>
          </a:bodyPr>
          <a:lstStyle/>
          <a:p>
            <a:pPr algn="l"/>
            <a:r>
              <a:rPr sz="1300" b="1" i="0">
                <a:solidFill>
                  <a:srgbClr val="FFFFFF"/>
                </a:solidFill>
              </a:rPr>
              <a:t>L-BFGS refinement significantly improves all optimizers</a:t>
            </a:r>
          </a:p>
        </p:txBody>
      </p:sp>
      <p:sp>
        <p:nvSpPr>
          <p:cNvPr id="15" name="TextBox 14"/>
          <p:cNvSpPr txBox="1"/>
          <p:nvPr/>
        </p:nvSpPr>
        <p:spPr>
          <a:xfrm>
            <a:off x="868680" y="3246120"/>
            <a:ext cx="10789920" cy="411480"/>
          </a:xfrm>
          <a:prstGeom prst="rect">
            <a:avLst/>
          </a:prstGeom>
          <a:noFill/>
        </p:spPr>
        <p:txBody>
          <a:bodyPr wrap="square">
            <a:spAutoFit/>
          </a:bodyPr>
          <a:lstStyle/>
          <a:p>
            <a:pPr algn="l"/>
            <a:r>
              <a:rPr sz="1100" b="0" i="1">
                <a:solidFill>
                  <a:srgbClr val="BBDEFB"/>
                </a:solidFill>
              </a:rPr>
              <a:t>Bayesian L2: 0.076→0.030 | NSGA-II L2: 0.252→0.055 (4.5× improvement)</a:t>
            </a:r>
          </a:p>
        </p:txBody>
      </p:sp>
      <p:sp>
        <p:nvSpPr>
          <p:cNvPr id="16" name="Rectangle 15"/>
          <p:cNvSpPr/>
          <p:nvPr/>
        </p:nvSpPr>
        <p:spPr>
          <a:xfrm>
            <a:off x="320040" y="3749040"/>
            <a:ext cx="457200" cy="457200"/>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3794760"/>
            <a:ext cx="457200" cy="411480"/>
          </a:xfrm>
          <a:prstGeom prst="rect">
            <a:avLst/>
          </a:prstGeom>
          <a:noFill/>
        </p:spPr>
        <p:txBody>
          <a:bodyPr wrap="square">
            <a:spAutoFit/>
          </a:bodyPr>
          <a:lstStyle/>
          <a:p>
            <a:pPr algn="ctr"/>
            <a:r>
              <a:rPr sz="1600" b="1" i="0">
                <a:solidFill>
                  <a:srgbClr val="FFFFFF"/>
                </a:solidFill>
              </a:rPr>
              <a:t>✓</a:t>
            </a:r>
          </a:p>
        </p:txBody>
      </p:sp>
      <p:sp>
        <p:nvSpPr>
          <p:cNvPr id="18" name="TextBox 17"/>
          <p:cNvSpPr txBox="1"/>
          <p:nvPr/>
        </p:nvSpPr>
        <p:spPr>
          <a:xfrm>
            <a:off x="868680" y="3749040"/>
            <a:ext cx="10789920" cy="347472"/>
          </a:xfrm>
          <a:prstGeom prst="rect">
            <a:avLst/>
          </a:prstGeom>
          <a:noFill/>
        </p:spPr>
        <p:txBody>
          <a:bodyPr wrap="square">
            <a:spAutoFit/>
          </a:bodyPr>
          <a:lstStyle/>
          <a:p>
            <a:pPr algn="l"/>
            <a:r>
              <a:rPr sz="1300" b="1" i="0">
                <a:solidFill>
                  <a:srgbClr val="FFFFFF"/>
                </a:solidFill>
              </a:rPr>
              <a:t>Hybrid FEM+PINN achieves 80% step reduction</a:t>
            </a:r>
          </a:p>
        </p:txBody>
      </p:sp>
      <p:sp>
        <p:nvSpPr>
          <p:cNvPr id="19" name="TextBox 18"/>
          <p:cNvSpPr txBox="1"/>
          <p:nvPr/>
        </p:nvSpPr>
        <p:spPr>
          <a:xfrm>
            <a:off x="868680" y="4114800"/>
            <a:ext cx="10789920" cy="411480"/>
          </a:xfrm>
          <a:prstGeom prst="rect">
            <a:avLst/>
          </a:prstGeom>
          <a:noFill/>
        </p:spPr>
        <p:txBody>
          <a:bodyPr wrap="square">
            <a:spAutoFit/>
          </a:bodyPr>
          <a:lstStyle/>
          <a:p>
            <a:pPr algn="l"/>
            <a:r>
              <a:rPr sz="1100" b="0" i="1">
                <a:solidFill>
                  <a:srgbClr val="BBDEFB"/>
                </a:solidFill>
              </a:rPr>
              <a:t>Adaptive residual routing works for all 3 optimizers</a:t>
            </a:r>
          </a:p>
        </p:txBody>
      </p:sp>
      <p:sp>
        <p:nvSpPr>
          <p:cNvPr id="20" name="Rectangle 19"/>
          <p:cNvSpPr/>
          <p:nvPr/>
        </p:nvSpPr>
        <p:spPr>
          <a:xfrm>
            <a:off x="320040" y="4617720"/>
            <a:ext cx="457200" cy="457200"/>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4663440"/>
            <a:ext cx="457200" cy="411480"/>
          </a:xfrm>
          <a:prstGeom prst="rect">
            <a:avLst/>
          </a:prstGeom>
          <a:noFill/>
        </p:spPr>
        <p:txBody>
          <a:bodyPr wrap="square">
            <a:spAutoFit/>
          </a:bodyPr>
          <a:lstStyle/>
          <a:p>
            <a:pPr algn="ctr"/>
            <a:r>
              <a:rPr sz="1600" b="1" i="0">
                <a:solidFill>
                  <a:srgbClr val="FFFFFF"/>
                </a:solidFill>
              </a:rPr>
              <a:t>✓</a:t>
            </a:r>
          </a:p>
        </p:txBody>
      </p:sp>
      <p:sp>
        <p:nvSpPr>
          <p:cNvPr id="22" name="TextBox 21"/>
          <p:cNvSpPr txBox="1"/>
          <p:nvPr/>
        </p:nvSpPr>
        <p:spPr>
          <a:xfrm>
            <a:off x="868680" y="4617720"/>
            <a:ext cx="10789920" cy="347472"/>
          </a:xfrm>
          <a:prstGeom prst="rect">
            <a:avLst/>
          </a:prstGeom>
          <a:noFill/>
        </p:spPr>
        <p:txBody>
          <a:bodyPr wrap="square">
            <a:spAutoFit/>
          </a:bodyPr>
          <a:lstStyle/>
          <a:p>
            <a:pPr algn="l"/>
            <a:r>
              <a:rPr sz="1300" b="1" i="0">
                <a:solidFill>
                  <a:srgbClr val="FFFFFF"/>
                </a:solidFill>
              </a:rPr>
              <a:t>NAS architectures generalize across PDE families</a:t>
            </a:r>
          </a:p>
        </p:txBody>
      </p:sp>
      <p:sp>
        <p:nvSpPr>
          <p:cNvPr id="23" name="TextBox 22"/>
          <p:cNvSpPr txBox="1"/>
          <p:nvPr/>
        </p:nvSpPr>
        <p:spPr>
          <a:xfrm>
            <a:off x="868680" y="4983480"/>
            <a:ext cx="10789920" cy="411480"/>
          </a:xfrm>
          <a:prstGeom prst="rect">
            <a:avLst/>
          </a:prstGeom>
          <a:noFill/>
        </p:spPr>
        <p:txBody>
          <a:bodyPr wrap="square">
            <a:spAutoFit/>
          </a:bodyPr>
          <a:lstStyle/>
          <a:p>
            <a:pPr algn="l"/>
            <a:r>
              <a:rPr sz="1100" b="0" i="1">
                <a:solidFill>
                  <a:srgbClr val="BBDEFB"/>
                </a:solidFill>
              </a:rPr>
              <a:t>Same architecture: heat equation → Poisson PDE, 5 geometries</a:t>
            </a:r>
          </a:p>
        </p:txBody>
      </p:sp>
      <p:sp>
        <p:nvSpPr>
          <p:cNvPr id="24" name="Rectangle 23"/>
          <p:cNvSpPr/>
          <p:nvPr/>
        </p:nvSpPr>
        <p:spPr>
          <a:xfrm>
            <a:off x="320040" y="5486400"/>
            <a:ext cx="457200" cy="457200"/>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 y="5532120"/>
            <a:ext cx="457200" cy="411480"/>
          </a:xfrm>
          <a:prstGeom prst="rect">
            <a:avLst/>
          </a:prstGeom>
          <a:noFill/>
        </p:spPr>
        <p:txBody>
          <a:bodyPr wrap="square">
            <a:spAutoFit/>
          </a:bodyPr>
          <a:lstStyle/>
          <a:p>
            <a:pPr algn="ctr"/>
            <a:r>
              <a:rPr sz="1600" b="1" i="0">
                <a:solidFill>
                  <a:srgbClr val="FFFFFF"/>
                </a:solidFill>
              </a:rPr>
              <a:t>✓</a:t>
            </a:r>
          </a:p>
        </p:txBody>
      </p:sp>
      <p:sp>
        <p:nvSpPr>
          <p:cNvPr id="26" name="TextBox 25"/>
          <p:cNvSpPr txBox="1"/>
          <p:nvPr/>
        </p:nvSpPr>
        <p:spPr>
          <a:xfrm>
            <a:off x="868680" y="5486400"/>
            <a:ext cx="10789920" cy="347472"/>
          </a:xfrm>
          <a:prstGeom prst="rect">
            <a:avLst/>
          </a:prstGeom>
          <a:noFill/>
        </p:spPr>
        <p:txBody>
          <a:bodyPr wrap="square">
            <a:spAutoFit/>
          </a:bodyPr>
          <a:lstStyle/>
          <a:p>
            <a:pPr algn="l"/>
            <a:r>
              <a:rPr sz="1300" b="1" i="0">
                <a:solidFill>
                  <a:srgbClr val="FFFFFF"/>
                </a:solidFill>
              </a:rPr>
              <a:t>NSGA-II/III achieve skip=2 with 2000 epoch training</a:t>
            </a:r>
          </a:p>
        </p:txBody>
      </p:sp>
      <p:sp>
        <p:nvSpPr>
          <p:cNvPr id="27" name="TextBox 26"/>
          <p:cNvSpPr txBox="1"/>
          <p:nvPr/>
        </p:nvSpPr>
        <p:spPr>
          <a:xfrm>
            <a:off x="868680" y="5852160"/>
            <a:ext cx="10789920" cy="411480"/>
          </a:xfrm>
          <a:prstGeom prst="rect">
            <a:avLst/>
          </a:prstGeom>
          <a:noFill/>
        </p:spPr>
        <p:txBody>
          <a:bodyPr wrap="square">
            <a:spAutoFit/>
          </a:bodyPr>
          <a:lstStyle/>
          <a:p>
            <a:pPr algn="l"/>
            <a:r>
              <a:rPr sz="1100" b="0" i="1">
                <a:solidFill>
                  <a:srgbClr val="BBDEFB"/>
                </a:solidFill>
              </a:rPr>
              <a:t>NSGA-II ratio=0.98× ✓  |  NSGA-III ratio=0.99× ✓  |  Epoch count was limiting factor, not architecture</a:t>
            </a:r>
          </a:p>
        </p:txBody>
      </p:sp>
      <p:sp>
        <p:nvSpPr>
          <p:cNvPr id="28" name="Rectangle 27"/>
          <p:cNvSpPr/>
          <p:nvPr/>
        </p:nvSpPr>
        <p:spPr>
          <a:xfrm>
            <a:off x="0" y="6492240"/>
            <a:ext cx="12188952" cy="3657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74320" y="6510528"/>
            <a:ext cx="11612880" cy="320040"/>
          </a:xfrm>
          <a:prstGeom prst="rect">
            <a:avLst/>
          </a:prstGeom>
          <a:noFill/>
        </p:spPr>
        <p:txBody>
          <a:bodyPr wrap="square">
            <a:spAutoFit/>
          </a:bodyPr>
          <a:lstStyle/>
          <a:p>
            <a:pPr algn="ctr"/>
            <a:r>
              <a:rPr sz="1000" b="0" i="0">
                <a:solidFill>
                  <a:srgbClr val="90CAF9"/>
                </a:solidFill>
              </a:rPr>
              <a:t>NAS-PINNs: Neural Architecture Search for Physics-Informed Neural Networks  |  Mortensen et al.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